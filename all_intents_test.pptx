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4.xml" ContentType="application/vnd.openxmlformats-officedocument.drawingml.chart+xml"/>
  <Override PartName="/ppt/charts/chartEx1.xml" ContentType="application/vnd.ms-office.chartex+xml"/>
  <Override PartName="/ppt/charts/colors1.xml" ContentType="application/vnd.ms-office.chartcolorstyle+xml"/>
  <Override PartName="/ppt/charts/style1.xml" ContentType="application/vnd.ms-office.chartstyle+xml"/>
  <Override PartName="/ppt/embeddings/oleObject1.bin" ContentType="application/vnd.openxmlformats-officedocument.oleObject"/>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9" r:id="rId1"/>
  </p:sldMasterIdLst>
  <p:notesMasterIdLst>
    <p:notesMasterId r:id="rId9"/>
  </p:notesMasterIdLst>
  <p:handoutMasterIdLst>
    <p:handoutMasterId r:id="rId10"/>
  </p:handoutMasterIdLst>
  <p:sldIdLst>
    <p:sldId id="256" r:id="rId8"/>
    <p:sldId id="257" r:id="rId7"/>
    <p:sldId id="258" r:id="rId6"/>
    <p:sldId id="259" r:id="rId5"/>
    <p:sldId id="260" r:id="rId4"/>
    <p:sldId id="261" r:id="rId3"/>
    <p:sldId id="262" r:id="rId2"/>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Lst>
  <p:sldSz cx="12192000" cy="6858000"/>
  <p:notesSz cx="6858000" cy="9144000"/>
  <p:embeddedFontLst>
    <p:embeddedFont>
      <p:font typeface="Marsh Serif" pitchFamily="2" charset="77"/>
      <p:regular r:id="rId11"/>
      <p:italic r:id="rId12"/>
    </p:embeddedFont>
    <p:embeddedFont>
      <p:font typeface="Noto Sans" panose="020B0502040504020204" pitchFamily="34" charset="0"/>
      <p:regular r:id="rId13"/>
      <p:bold r:id="rId14"/>
      <p:italic r:id="rId15"/>
      <p:boldItalic r:id="rId16"/>
    </p:embeddedFont>
  </p:embeddedFontLst>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39DD9DD-9E6C-4910-8AC0-68ADFF6A6AFC}">
  <a:tblStyle styleId="{839DD9DD-9E6C-4910-8AC0-68ADFF6A6AFC}" styleName="OW Table 1">
    <a:wholeTbl>
      <a:tcStyle>
        <a:tcBdr>
          <a:left>
            <a:ln>
              <a:noFill/>
            </a:ln>
          </a:left>
          <a:right>
            <a:ln>
              <a:noFill/>
            </a:ln>
          </a:right>
          <a:top>
            <a:ln>
              <a:noFill/>
            </a:ln>
          </a:top>
          <a:bottom>
            <a:ln>
              <a:noFill/>
            </a:ln>
          </a:bottom>
          <a:insideH>
            <a:ln w="9525" cmpd="sng">
              <a:solidFill>
                <a:schemeClr val="tx1"/>
              </a:solidFill>
            </a:ln>
          </a:insideH>
          <a:insideV>
            <a:ln>
              <a:noFill/>
            </a:ln>
          </a:insideV>
        </a:tcBdr>
      </a:tcStyle>
    </a:wholeTbl>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tcTxStyle>
      <a:tcStyle>
        <a:tcBdr>
          <a:bottom>
            <a:ln w="9525" cmpd="sng">
              <a:solidFill>
                <a:schemeClr val="tx1"/>
              </a:solidFill>
            </a:ln>
          </a:bottom>
        </a:tcBdr>
        <a:fill>
          <a:noFill/>
        </a:fill>
      </a:tcStyle>
    </a:firstRow>
  </a:tblStyle>
  <a:tblStyle styleId="{DEE88F5C-1499-4FF7-93D6-36A3AE1B8DDA}" styleName="OW Table 2">
    <a:wholeTbl>
      <a:tcStyle>
        <a:tcBdr>
          <a:left>
            <a:ln>
              <a:noFill/>
            </a:ln>
          </a:left>
          <a:right>
            <a:ln>
              <a:noFill/>
            </a:ln>
          </a:right>
          <a:top>
            <a:ln>
              <a:noFill/>
            </a:ln>
          </a:top>
          <a:bottom>
            <a:ln cmpd="sng">
              <a:noFill/>
            </a:ln>
          </a:bottom>
          <a:insideH>
            <a:ln w="9525" cmpd="sng">
              <a:solidFill>
                <a:srgbClr val="D1CEC9"/>
              </a:solidFill>
            </a:ln>
          </a:insideH>
          <a:insideV>
            <a:ln>
              <a:noFill/>
            </a:ln>
          </a:insideV>
        </a:tcBdr>
      </a:tcStyle>
    </a:wholeTbl>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tcTxStyle>
      <a:tcStyle>
        <a:tcBdr>
          <a:bottom>
            <a:ln w="9525" cmpd="sng">
              <a:solidFill>
                <a:schemeClr val="tx1"/>
              </a:solidFill>
            </a:ln>
          </a:bottom>
        </a:tcBdr>
        <a:fill>
          <a:noFill/>
        </a:fill>
      </a:tcStyle>
    </a:firstRow>
  </a:tblStyle>
  <a:tblStyle styleId="{C1A551C0-2026-AC11-E31C-4D4D43000001}" styleName="OW Table 3">
    <a:wholeTbl>
      <a:tcStyle>
        <a:tcBdr>
          <a:left>
            <a:ln>
              <a:noFill/>
            </a:ln>
          </a:left>
          <a:right>
            <a:ln>
              <a:noFill/>
            </a:ln>
          </a:right>
          <a:top>
            <a:ln>
              <a:noFill/>
            </a:ln>
          </a:top>
          <a:bottom>
            <a:ln>
              <a:noFill/>
            </a:ln>
          </a:bottom>
          <a:insideH>
            <a:ln w="9525" cmpd="sng">
              <a:solidFill>
                <a:srgbClr val="D1CEC9"/>
              </a:solidFill>
            </a:ln>
          </a:insideH>
          <a:insideV>
            <a:ln>
              <a:noFill/>
            </a:ln>
          </a:insideV>
        </a:tcBdr>
      </a:tcStyle>
    </a:wholeTbl>
    <a:band1H>
      <a:tcStyle>
        <a:tcBdr/>
      </a:tcStyle>
    </a:band1H>
    <a:band2H>
      <a:tcTxStyle>
        <a:fontRef idx="minor">
          <a:prstClr val="black"/>
        </a:fontRef>
        <a:schemeClr val="accent1"/>
      </a:tcTxStyle>
      <a:tcStyle>
        <a:tcBdr>
          <a:left>
            <a:ln>
              <a:noFill/>
            </a:ln>
          </a:left>
          <a:right>
            <a:ln>
              <a:noFill/>
            </a:ln>
          </a:right>
          <a:top>
            <a:ln>
              <a:noFill/>
            </a:ln>
          </a:top>
          <a:bottom>
            <a:ln>
              <a:noFill/>
            </a:ln>
          </a:bottom>
          <a:insideH>
            <a:ln>
              <a:noFill/>
            </a:ln>
          </a:insideH>
          <a:insideV>
            <a:ln>
              <a:noFill/>
            </a:ln>
          </a:insideV>
        </a:tcBdr>
        <a:fill>
          <a:solidFill>
            <a:srgbClr val="F7F3EE"/>
          </a:solidFill>
        </a:fill>
      </a:tcStyle>
    </a:band2H>
    <a:band1V>
      <a:tcTxStyle>
        <a:fontRef idx="minor">
          <a:prstClr val="black"/>
        </a:fontRef>
        <a:schemeClr val="accent1"/>
      </a:tcTxStyle>
      <a:tcStyle>
        <a:tcBdr/>
        <a:fill>
          <a:solidFill>
            <a:srgbClr val="F7F3EE"/>
          </a:solidFill>
        </a:fill>
      </a:tcStyle>
    </a:band1V>
    <a:band2V>
      <a:tcStyle>
        <a:tcBdr/>
      </a:tcStyle>
    </a:band2V>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schemeClr val="bg1"/>
      </a:tcTxStyle>
      <a:tcStyle>
        <a:tcBdr/>
        <a:fill>
          <a:solidFill>
            <a:schemeClr val="tx1"/>
          </a:solidFill>
        </a:fill>
      </a:tcStyle>
    </a:firstRow>
  </a:tblStyle>
  <a:tblStyle styleId="{BFED5174-02BB-453E-812A-08A1B9408351}" styleName="OW Table 4 (for dark bg)">
    <a:wholeTbl>
      <a:tcStyle>
        <a:tcBdr>
          <a:left>
            <a:ln>
              <a:noFill/>
            </a:ln>
          </a:left>
          <a:right>
            <a:ln>
              <a:noFill/>
            </a:ln>
          </a:right>
          <a:top>
            <a:ln>
              <a:noFill/>
            </a:ln>
          </a:top>
          <a:bottom>
            <a:ln>
              <a:noFill/>
            </a:ln>
          </a:bottom>
          <a:insideH>
            <a:ln w="9525" cmpd="sng">
              <a:solidFill>
                <a:schemeClr val="tx1"/>
              </a:solidFill>
            </a:ln>
          </a:insideH>
          <a:insideV>
            <a:ln>
              <a:noFill/>
            </a:ln>
          </a:insideV>
        </a:tcBdr>
      </a:tcStyle>
    </a:wholeTbl>
    <a:band1H>
      <a:tcStyle>
        <a:tcBdr/>
      </a:tcStyle>
    </a:band1H>
    <a:band2H>
      <a:tcStyle>
        <a:tcBdr>
          <a:left>
            <a:ln>
              <a:noFill/>
            </a:ln>
          </a:left>
          <a:right>
            <a:ln>
              <a:noFill/>
            </a:ln>
          </a:right>
          <a:top>
            <a:ln>
              <a:noFill/>
            </a:ln>
          </a:top>
          <a:bottom>
            <a:ln>
              <a:noFill/>
            </a:ln>
          </a:bottom>
          <a:insideH>
            <a:ln>
              <a:noFill/>
            </a:ln>
          </a:insideH>
          <a:insideV>
            <a:ln>
              <a:noFill/>
            </a:ln>
          </a:insideV>
        </a:tcBdr>
        <a:fill>
          <a:solidFill>
            <a:srgbClr val="FFFFFF">
              <a:alpha val="14902"/>
            </a:srgbClr>
          </a:solidFill>
        </a:fill>
      </a:tcStyle>
    </a:band2H>
    <a:band1V>
      <a:tcStyle>
        <a:tcBdr/>
        <a:fill>
          <a:solidFill>
            <a:srgbClr val="FFFFFF">
              <a:alpha val="14902"/>
            </a:srgbClr>
          </a:solidFill>
        </a:fill>
      </a:tcStyle>
    </a:band1V>
    <a:band2V>
      <a:tcStyle>
        <a:tcBdr/>
      </a:tcStyle>
    </a:band2V>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schemeClr val="bg1"/>
      </a:tcTxStyle>
      <a:tcStyle>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63" autoAdjust="0"/>
    <p:restoredTop sz="94660"/>
  </p:normalViewPr>
  <p:slideViewPr>
    <p:cSldViewPr snapToGrid="0" showGuides="1">
      <p:cViewPr varScale="1">
        <p:scale>
          <a:sx n="123" d="100"/>
          <a:sy n="123" d="100"/>
        </p:scale>
        <p:origin x="8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font" Target="fonts/font3.fntdata"/><Relationship Id="rId14" Type="http://schemas.openxmlformats.org/officeDocument/2006/relationships/font" Target="fonts/font4.fntdata"/><Relationship Id="rId15" Type="http://schemas.openxmlformats.org/officeDocument/2006/relationships/font" Target="fonts/font5.fntdata"/><Relationship Id="rId16" Type="http://schemas.openxmlformats.org/officeDocument/2006/relationships/font" Target="fonts/font6.fntdata"/><Relationship Id="rId17" Type="http://schemas.openxmlformats.org/officeDocument/2006/relationships/tags" Target="tags/tag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Ex1.xml.rels><?xml version='1.0' encoding='UTF-8' standalone='yes'?>
<Relationships xmlns="http://schemas.openxmlformats.org/package/2006/relationships"><Relationship Id="rId1" Type="http://schemas.openxmlformats.org/officeDocument/2006/relationships/package" Target="../embeddings/Microsoft_Excel_Worksheet1.xlsx"/><Relationship Id="rId2" Type="http://schemas.microsoft.com/office/2011/relationships/chartColorStyle" Target="colors1.xml"/><Relationship Id="rId3"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Savings $m</c:v>
                </c:pt>
              </c:strCache>
            </c:strRef>
          </c:tx>
          <c:spPr>
            <a:solidFill>
              <a:srgbClr val="000F47"/>
            </a:solidFill>
            <a:ln>
              <a:noFill/>
            </a:ln>
          </c:spPr>
          <c:invertIfNegative val="0"/>
          <c:dLbls>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p>
            </c:txPr>
            <c:dLblPos val="outEnd"/>
            <c:numFmt formatCode="[$-409]#,##0" sourceLinked="0"/>
            <c:showLegendKey val="0"/>
            <c:showVal val="1"/>
            <c:showCatName val="0"/>
            <c:showSerName val="0"/>
            <c:showPercent val="0"/>
            <c:showBubbleSize val="0"/>
          </c:dLbls>
          <c:cat>
            <c:strRef>
              <c:f>Sheet1!$A$2:$A$4</c:f>
              <c:strCache>
                <c:ptCount val="3"/>
                <c:pt idx="0">
                  <c:v>2026</c:v>
                </c:pt>
                <c:pt idx="1">
                  <c:v>2027</c:v>
                </c:pt>
                <c:pt idx="2">
                  <c:v>2028</c:v>
                </c:pt>
              </c:strCache>
            </c:strRef>
          </c:cat>
          <c:val>
            <c:numRef>
              <c:f>Sheet1!$B$2:$B$4</c:f>
              <c:numCache>
                <c:formatCode>General</c:formatCode>
                <c:ptCount val="3"/>
                <c:pt idx="0">
                  <c:v>0.8</c:v>
                </c:pt>
                <c:pt idx="1">
                  <c:v>2.4</c:v>
                </c:pt>
                <c:pt idx="2">
                  <c:v>2.6</c:v>
                </c:pt>
              </c:numCache>
            </c:numRef>
          </c:val>
        </c:ser>
        <c:dLbls>
          <c:showLegendKey val="0"/>
          <c:showVal val="1"/>
          <c:showCatName val="0"/>
          <c:showSerName val="0"/>
          <c:showPercent val="0"/>
          <c:showBubbleSize val="0"/>
          <c:showLeaderLines val="1"/>
        </c:dLbls>
        <c:gapWidth val="220"/>
        <c:overlap val="-50"/>
        <c:axId val="-2068027336"/>
        <c:axId val="-2113994440"/>
      </c:barChart>
      <c:catAx>
        <c:axId val="-2068027336"/>
        <c:scaling>
          <c:orientation val="minMax"/>
        </c:scaling>
        <c:delete val="0"/>
        <c:axPos val="b"/>
        <c:majorTickMark val="none"/>
        <c:minorTickMark val="none"/>
        <c:tickLblPos val="low"/>
        <c:crossAx val="-2113994440"/>
        <c:crosses val="autoZero"/>
        <c:auto val="1"/>
        <c:lblAlgn val="ctr"/>
        <c:lblOffset val="100"/>
        <c:noMultiLvlLbl val="0"/>
        <c:spPr>
          <a:noFill/>
          <a:ln w="9525" cap="flat" cmpd="sng" algn="ctr">
            <a:solidFill>
              <a:schemeClr val="tx1"/>
            </a:solidFill>
            <a:round/>
          </a:ln>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p>
        </c:txPr>
      </c:catAx>
      <c:valAx>
        <c:axId val="-2113994440"/>
        <c:scaling/>
        <c:delete val="1"/>
        <c:axPos val="l"/>
        <c:numFmt formatCode="[$-409]#,##0" sourceLinked="0"/>
        <c:majorGridlines>
          <c:spPr>
            <a:ln w="9525" cap="flat" cmpd="sng" algn="ctr">
              <a:solidFill>
                <a:srgbClr val="D1CEC9"/>
              </a:solidFill>
              <a:round/>
            </a:ln>
          </c:spPr>
        </c:majorGridlines>
        <c:majorTickMark val="none"/>
        <c:minorTickMark val="none"/>
        <c:tickLblPos val="nextTo"/>
        <c:crossAx val="-2068027336"/>
        <c:crosses val="autoZero"/>
        <c:spPr>
          <a:noFill/>
          <a:ln>
            <a:noFill/>
          </a:ln>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p>
        </c:txPr>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cat>
            <c:strRef>
              <c:f>Sheet1!$A$2:$A$7</c:f>
              <c:strCache>
                <c:ptCount val="6"/>
                <c:pt idx="0">
                  <c:v>EBIT 2025</c:v>
                </c:pt>
                <c:pt idx="1">
                  <c:v>Price</c:v>
                </c:pt>
                <c:pt idx="2">
                  <c:v>Volume</c:v>
                </c:pt>
                <c:pt idx="3">
                  <c:v>Input costs</c:v>
                </c:pt>
                <c:pt idx="4">
                  <c:v>FX</c:v>
                </c:pt>
                <c:pt idx="5">
                  <c:v>EBIT 2026</c:v>
                </c:pt>
              </c:strCache>
            </c:strRef>
          </c:cat>
          <c:val>
            <c:numRef>
              <c:f>Sheet1!$B$2:$B$7</c:f>
              <c:numCache>
                <c:formatCode>General</c:formatCode>
                <c:ptCount val="6"/>
                <c:pt idx="0">
                  <c:v>0.0</c:v>
                </c:pt>
                <c:pt idx="1">
                  <c:v>12.0</c:v>
                </c:pt>
                <c:pt idx="2">
                  <c:v>13.8</c:v>
                </c:pt>
                <c:pt idx="3">
                  <c:v>14.200000000000001</c:v>
                </c:pt>
                <c:pt idx="4">
                  <c:v>13.8</c:v>
                </c:pt>
                <c:pt idx="5">
                  <c:v>0.0</c:v>
                </c:pt>
              </c:numCache>
            </c:numRef>
          </c:val>
        </c:ser>
        <c:ser>
          <c:idx val="1"/>
          <c:order val="1"/>
          <c:tx>
            <c:strRef>
              <c:f>Sheet1!$C$1</c:f>
              <c:strCache>
                <c:ptCount val="1"/>
                <c:pt idx="0">
                  <c:v>value</c:v>
                </c:pt>
              </c:strCache>
            </c:strRef>
          </c:tx>
          <c:spPr>
            <a:ln>
              <a:noFill/>
            </a:ln>
          </c:spPr>
          <c:dPt>
            <c:idx val="0"/>
            <c:spPr>
              <a:solidFill>
                <a:srgbClr val="000F47"/>
              </a:solidFill>
            </c:spPr>
          </c:dPt>
          <c:dPt>
            <c:idx val="1"/>
            <c:spPr>
              <a:solidFill>
                <a:srgbClr val="5BA150"/>
              </a:solidFill>
            </c:spPr>
          </c:dPt>
          <c:dPt>
            <c:idx val="2"/>
            <c:spPr>
              <a:solidFill>
                <a:srgbClr val="5BA150"/>
              </a:solidFill>
            </c:spPr>
          </c:dPt>
          <c:dPt>
            <c:idx val="3"/>
            <c:spPr>
              <a:solidFill>
                <a:srgbClr val="C0504D"/>
              </a:solidFill>
            </c:spPr>
          </c:dPt>
          <c:dPt>
            <c:idx val="4"/>
            <c:spPr>
              <a:solidFill>
                <a:srgbClr val="C0504D"/>
              </a:solidFill>
            </c:spPr>
          </c:dPt>
          <c:dPt>
            <c:idx val="5"/>
            <c:spPr>
              <a:solidFill>
                <a:srgbClr val="000F47"/>
              </a:solidFill>
            </c:spPr>
          </c:dPt>
          <c:dLbls>
            <c:dLbl>
              <c:idx val="0"/>
              <c:spPr/>
              <c:txPr>
                <a:bodyPr/>
                <a:lstStyle/>
                <a:p>
                  <a:pPr>
                    <a:defRPr sz="1200">
                      <a:solidFill>
                        <a:srgbClr val="FFFFFF"/>
                      </a:solidFill>
                    </a:defRPr>
                  </a:pPr>
                </a:p>
              </c:txPr>
              <c:showLegendKey val="0"/>
              <c:showVal val="1"/>
              <c:showCatName val="0"/>
              <c:showSerName val="0"/>
              <c:showPercent val="0"/>
              <c:showBubbleSize val="0"/>
            </c:dLbl>
            <c:dLbl>
              <c:idx val="1"/>
              <c:spPr/>
              <c:txPr>
                <a:bodyPr/>
                <a:lstStyle/>
                <a:p>
                  <a:pPr>
                    <a:defRPr sz="1200">
                      <a:solidFill>
                        <a:srgbClr val="FFFFFF"/>
                      </a:solidFill>
                    </a:defRPr>
                  </a:pPr>
                </a:p>
              </c:txPr>
              <c:showLegendKey val="0"/>
              <c:showVal val="1"/>
              <c:showCatName val="0"/>
              <c:showSerName val="0"/>
              <c:showPercent val="0"/>
              <c:showBubbleSize val="0"/>
            </c:dLbl>
            <c:dLbl>
              <c:idx val="2"/>
              <c:spPr/>
              <c:txPr>
                <a:bodyPr/>
                <a:lstStyle/>
                <a:p>
                  <a:pPr>
                    <a:defRPr sz="1200">
                      <a:solidFill>
                        <a:srgbClr val="FFFFFF"/>
                      </a:solidFill>
                    </a:defRPr>
                  </a:pPr>
                </a:p>
              </c:txPr>
              <c:showLegendKey val="0"/>
              <c:showVal val="1"/>
              <c:showCatName val="0"/>
              <c:showSerName val="0"/>
              <c:showPercent val="0"/>
              <c:showBubbleSize val="0"/>
            </c:dLbl>
            <c:dLbl>
              <c:idx val="3"/>
              <c:spPr/>
              <c:txPr>
                <a:bodyPr/>
                <a:lstStyle/>
                <a:p>
                  <a:pPr>
                    <a:defRPr sz="1200">
                      <a:solidFill>
                        <a:srgbClr val="FFFFFF"/>
                      </a:solidFill>
                    </a:defRPr>
                  </a:pPr>
                </a:p>
              </c:txPr>
              <c:showLegendKey val="0"/>
              <c:showVal val="1"/>
              <c:showCatName val="0"/>
              <c:showSerName val="0"/>
              <c:showPercent val="0"/>
              <c:showBubbleSize val="0"/>
            </c:dLbl>
            <c:dLbl>
              <c:idx val="4"/>
              <c:spPr/>
              <c:txPr>
                <a:bodyPr/>
                <a:lstStyle/>
                <a:p>
                  <a:pPr>
                    <a:defRPr sz="1200">
                      <a:solidFill>
                        <a:srgbClr val="FFFFFF"/>
                      </a:solidFill>
                    </a:defRPr>
                  </a:pPr>
                </a:p>
              </c:txPr>
              <c:showLegendKey val="0"/>
              <c:showVal val="1"/>
              <c:showCatName val="0"/>
              <c:showSerName val="0"/>
              <c:showPercent val="0"/>
              <c:showBubbleSize val="0"/>
            </c:dLbl>
            <c:dLbl>
              <c:idx val="5"/>
              <c:spPr/>
              <c:txPr>
                <a:bodyPr/>
                <a:lstStyle/>
                <a:p>
                  <a:pPr>
                    <a:defRPr sz="1200">
                      <a:solidFill>
                        <a:srgbClr val="FFFFFF"/>
                      </a:solidFill>
                    </a:defRPr>
                  </a:pPr>
                </a:p>
              </c:txPr>
              <c:showLegendKey val="0"/>
              <c:showVal val="1"/>
              <c:showCatName val="0"/>
              <c:showSerName val="0"/>
              <c:showPercent val="0"/>
              <c:showBubbleSize val="0"/>
            </c:dLbl>
            <c:numFmt formatCode="[$-409]#,##0" sourceLinked="0"/>
            <c:dLblPos val="ctr"/>
            <c:showLegendKey val="0"/>
            <c:showVal val="1"/>
            <c:showCatName val="0"/>
            <c:showSerName val="0"/>
            <c:showPercent val="0"/>
            <c:showBubbleSize val="0"/>
            <c:showLeaderLines val="1"/>
          </c:dLbls>
          <c:cat>
            <c:strRef>
              <c:f>Sheet1!$A$2:$A$7</c:f>
              <c:strCache>
                <c:ptCount val="6"/>
                <c:pt idx="0">
                  <c:v>EBIT 2025</c:v>
                </c:pt>
                <c:pt idx="1">
                  <c:v>Price</c:v>
                </c:pt>
                <c:pt idx="2">
                  <c:v>Volume</c:v>
                </c:pt>
                <c:pt idx="3">
                  <c:v>Input costs</c:v>
                </c:pt>
                <c:pt idx="4">
                  <c:v>FX</c:v>
                </c:pt>
                <c:pt idx="5">
                  <c:v>EBIT 2026</c:v>
                </c:pt>
              </c:strCache>
            </c:strRef>
          </c:cat>
          <c:val>
            <c:numRef>
              <c:f>Sheet1!$C$2:$C$7</c:f>
              <c:numCache>
                <c:formatCode>General</c:formatCode>
                <c:ptCount val="6"/>
                <c:pt idx="0">
                  <c:v>12.0</c:v>
                </c:pt>
                <c:pt idx="1">
                  <c:v>1.8</c:v>
                </c:pt>
                <c:pt idx="2">
                  <c:v>1.3</c:v>
                </c:pt>
                <c:pt idx="3">
                  <c:v>0.9</c:v>
                </c:pt>
                <c:pt idx="4">
                  <c:v>0.4</c:v>
                </c:pt>
                <c:pt idx="5">
                  <c:v>13.8</c:v>
                </c:pt>
              </c:numCache>
            </c:numRef>
          </c:val>
        </c:ser>
        <c:overlap val="100"/>
        <c:axId val="-2068027336"/>
        <c:axId val="-2113994440"/>
      </c:barChart>
      <c:catAx>
        <c:axId val="-2068027336"/>
        <c:scaling>
          <c:orientation val="minMax"/>
        </c:scaling>
        <c:delete val="0"/>
        <c:axPos val="b"/>
        <c:majorTickMark val="none"/>
        <c:minorTickMark val="none"/>
        <c:tickLblPos val="nextTo"/>
        <c:txPr>
          <a:bodyPr/>
          <a:lstStyle/>
          <a:p>
            <a:pPr>
              <a:defRPr sz="1200">
                <a:solidFill>
                  <a:schemeClr val="tx1"/>
                </a:solidFill>
              </a:defRPr>
            </a:pPr>
          </a:p>
        </c:txPr>
        <c:crossAx val="-2113994440"/>
        <c:crosses val="autoZero"/>
        <c:auto val="1"/>
        <c:lblAlgn val="ctr"/>
        <c:lblOffset val="100"/>
        <c:noMultiLvlLbl val="0"/>
      </c:catAx>
      <c:valAx>
        <c:axId val="-2113994440"/>
        <c:scaling/>
        <c:delete val="1"/>
        <c:axPos val="l"/>
        <c:majorTickMark val="none"/>
        <c:minorTickMark val="none"/>
        <c:tickLblPos val="nextTo"/>
        <c:txPr>
          <a:bodyPr/>
          <a:lstStyle/>
          <a:p>
            <a:pPr>
              <a:defRPr sz="1200">
                <a:solidFill>
                  <a:schemeClr val="tx1"/>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Index</c:v>
                </c:pt>
              </c:strCache>
            </c:strRef>
          </c:tx>
          <c:spPr>
            <a:ln w="28575" cap="rnd">
              <a:solidFill>
                <a:srgbClr val="000F47"/>
              </a:solidFill>
            </a:ln>
          </c:spPr>
          <c:marker>
            <c:symbol val="none"/>
          </c:marker>
          <c:cat>
            <c:strRef>
              <c:f>Sheet1!$A$2:$A$5</c:f>
              <c:strCache>
                <c:ptCount val="4"/>
                <c:pt idx="0">
                  <c:v>Q1</c:v>
                </c:pt>
                <c:pt idx="1">
                  <c:v>Q2</c:v>
                </c:pt>
                <c:pt idx="2">
                  <c:v>Q3</c:v>
                </c:pt>
                <c:pt idx="3">
                  <c:v>Q4</c:v>
                </c:pt>
              </c:strCache>
            </c:strRef>
          </c:cat>
          <c:val>
            <c:numRef>
              <c:f>Sheet1!$B$2:$B$5</c:f>
              <c:numCache>
                <c:formatCode>General</c:formatCode>
                <c:ptCount val="4"/>
                <c:pt idx="0">
                  <c:v>100</c:v>
                </c:pt>
                <c:pt idx="1">
                  <c:v>104</c:v>
                </c:pt>
                <c:pt idx="2">
                  <c:v>109</c:v>
                </c:pt>
                <c:pt idx="3">
                  <c:v>117</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crossAx val="2140495176"/>
        <c:crosses val="autoZero"/>
        <c:auto val="1"/>
        <c:lblAlgn val="ctr"/>
        <c:lblOffset val="100"/>
        <c:noMultiLvlLbl val="0"/>
        <c:spPr>
          <a:noFill/>
          <a:ln w="9525" cap="flat" cmpd="sng" algn="ctr">
            <a:solidFill>
              <a:schemeClr val="tx1"/>
            </a:solidFill>
            <a:round/>
          </a:ln>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p>
        </c:txPr>
      </c:catAx>
      <c:valAx>
        <c:axId val="2140495176"/>
        <c:scaling/>
        <c:delete val="0"/>
        <c:axPos val="l"/>
        <c:numFmt formatCode="[$-409]#,##0" sourceLinked="0"/>
        <c:majorGridlines>
          <c:spPr>
            <a:ln w="9525" cap="flat" cmpd="sng" algn="ctr">
              <a:solidFill>
                <a:srgbClr val="D1CEC9"/>
              </a:solidFill>
              <a:round/>
            </a:ln>
          </c:spPr>
        </c:majorGridlines>
        <c:majorTickMark val="none"/>
        <c:minorTickMark val="none"/>
        <c:tickLblPos val="none"/>
        <c:crossAx val="2118791784"/>
        <c:crosses val="autoZero"/>
        <c:spPr>
          <a:noFill/>
          <a:ln>
            <a:noFill/>
          </a:ln>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p>
        </c:txPr>
      </c:valAx>
    </c:plotArea>
    <c:plotVisOnly val="1"/>
    <c:dispBlanksAs val="gap"/>
    <c:showDLblsOverMax val="0"/>
  </c:chart>
  <c:txPr>
    <a:bodyPr/>
    <a:lstStyle/>
    <a:p>
      <a:pPr>
        <a:defRPr sz="1800"/>
      </a:pPr>
      <a:endParaRPr lang="en-US"/>
    </a:p>
  </c:txPr>
  <c:externalData r:id="rId1">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Sheet1!$A$2:$A$7</cx:f>
        <cx:lvl ptCount="6">
          <cx:pt idx="0">Raw materials</cx:pt>
          <cx:pt idx="1">Logistics</cx:pt>
          <cx:pt idx="2">Packaging</cx:pt>
          <cx:pt idx="3">MRO</cx:pt>
          <cx:pt idx="4">Services</cx:pt>
          <cx:pt idx="5">Other</cx:pt>
        </cx:lvl>
      </cx:strDim>
      <cx:numDim type="size">
        <cx:f>Sheet1!$B$2:$B$7</cx:f>
        <cx:lvl ptCount="6" formatCode="General">
          <cx:pt idx="0">34</cx:pt>
          <cx:pt idx="1">21</cx:pt>
          <cx:pt idx="2">12</cx:pt>
          <cx:pt idx="3">9</cx:pt>
          <cx:pt idx="4">8</cx:pt>
          <cx:pt idx="5">4</cx:pt>
        </cx:lvl>
      </cx:numDim>
    </cx:data>
  </cx:chartData>
  <cx:chart>
    <cx:plotArea>
      <cx:plotAreaRegion>
        <cx:series layoutId="treemap" uniqueId="{784E96C7-4F94-9D48-B6C2-7FF603C992B9}">
          <cx:tx>
            <cx:txData>
              <cx:f>Sheet1!$B$1</cx:f>
              <cx:v>Series1</cx:v>
            </cx:txData>
          </cx:tx>
          <cx:dataLabels pos="inEnd">
            <cx:visibility seriesName="0" categoryName="1" value="0"/>
          </cx:dataLabels>
          <cx:dataId val="0"/>
          <cx:layoutPr>
            <cx:parentLabelLayout val="overlapping"/>
          </cx:layoutPr>
        </cx:series>
      </cx:plotAreaRegion>
    </cx:plotArea>
    <cx:legend pos="b" align="ctr" overlay="0">
      <cx:txPr>
        <a:bodyPr spcFirstLastPara="1" vertOverflow="ellipsis" horzOverflow="overflow" wrap="square" lIns="0" tIns="0" rIns="0" bIns="0" anchor="ctr" anchorCtr="1"/>
        <a:lstStyle/>
        <a:p>
          <a:pPr algn="ctr" rtl="0">
            <a:defRPr>
              <a:solidFill>
                <a:schemeClr val="tx1"/>
              </a:solidFill>
            </a:defRPr>
          </a:pPr>
          <a:endParaRPr lang="en-US" sz="1197" b="0" i="0" u="none" strike="noStrike" baseline="0">
            <a:solidFill>
              <a:schemeClr val="tx1"/>
            </a:solidFill>
            <a:latin typeface="Noto Sans"/>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12572B-F973-4732-A453-119EA490170A}" type="datetimeFigureOut">
              <a:t>06.05.26</a:t>
            </a:fld>
            <a:endParaRPr lang="en-US"/>
          </a:p>
        </p:txBody>
      </p:sp>
      <p:sp>
        <p:nvSpPr>
          <p:cNvPr id="4" name="Footer Placeholde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B83C12-F094-4EDD-ABDC-7BADBDED5742}" type="slidenum">
              <a:r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8927E5-BED3-44D0-9ADF-FA873E1D6DAF}" type="datetimeFigureOut">
              <a:t>06.05.26</a:t>
            </a:fld>
            <a:endParaRPr lang="en-US"/>
          </a:p>
        </p:txBody>
      </p:sp>
      <p:sp>
        <p:nvSpPr>
          <p:cNvPr id="4" name="Slide Image Placeholde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Edit Master text styles</a:t>
            </a:r>
          </a:p>
          <a:p>
            <a:pPr lvl="1"/>
            <a:r>
              <a:t>Second level</a:t>
            </a:r>
          </a:p>
          <a:p>
            <a:pPr lvl="2"/>
            <a:r>
              <a:t>Third level</a:t>
            </a:r>
          </a:p>
          <a:p>
            <a:pPr lvl="3"/>
            <a:r>
              <a:t>Fourth level</a:t>
            </a:r>
          </a:p>
          <a:p>
            <a:pPr lvl="4"/>
            <a:r>
              <a:t>Fifth level</a:t>
            </a:r>
          </a:p>
        </p:txBody>
      </p:sp>
      <p:sp>
        <p:nvSpPr>
          <p:cNvPr id="6" name="Footer Placeholde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24DA73-AE27-4433-BD53-3E1DB61918F0}" type="slidenum">
              <a:r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p:cNvSpPr>
            <a:spLocks noGrp="1"/>
          </p:cNvSpPr>
          <p:nvPr>
            <p:ph type="ctrTitle" hasCustomPrompt="1"/>
          </p:nvPr>
        </p:nvSpPr>
        <p:spPr>
          <a:xfrm>
            <a:off x="457200" y="3653371"/>
            <a:ext cx="7442199" cy="830997"/>
          </a:xfrm>
        </p:spPr>
        <p:txBody>
          <a:bodyPr anchor="b">
            <a:spAutoFit/>
          </a:bodyPr>
          <a:lstStyle>
            <a:lvl1pPr>
              <a:defRPr sz="4800">
                <a:solidFill>
                  <a:schemeClr val="tx1"/>
                </a:solidFill>
                <a:latin typeface="+mj-lt"/>
                <a:ea typeface="+mj-ea"/>
                <a:cs typeface="+mj-cs"/>
              </a:defRPr>
            </a:lvl1pPr>
          </a:lstStyle>
          <a:p>
            <a:pPr lvl="0"/>
            <a:r>
              <a:t>Title</a:t>
            </a:r>
          </a:p>
        </p:txBody>
      </p:sp>
      <p:sp>
        <p:nvSpPr>
          <p:cNvPr id="3" name="Subtitle"/>
          <p:cNvSpPr>
            <a:spLocks noGrp="1"/>
          </p:cNvSpPr>
          <p:nvPr>
            <p:ph type="body" sz="quarter" idx="11" hasCustomPrompt="1"/>
          </p:nvPr>
        </p:nvSpPr>
        <p:spPr>
          <a:xfrm>
            <a:off x="457201" y="4572000"/>
            <a:ext cx="7442198" cy="307777"/>
          </a:xfrm>
        </p:spPr>
        <p:txBody>
          <a:bodyPr lIns="0" tIns="0" rIns="0" bIns="0">
            <a:spAutoFit/>
          </a:bodyPr>
          <a:lstStyle>
            <a:lvl1pPr marL="0" indent="0">
              <a:spcBef>
                <a:spcPts val="0"/>
              </a:spcBef>
              <a:spcAft>
                <a:spcPts val="0"/>
              </a:spcAft>
              <a:buFont typeface="Arial" panose="020B0604020202020204" pitchFamily="34" charset="0"/>
              <a:buChar char="​"/>
              <a:defRPr sz="2000">
                <a:solidFill>
                  <a:schemeClr val="tx1"/>
                </a:solidFill>
              </a:defRPr>
            </a:lvl1pPr>
            <a:lvl2pPr marL="0" indent="0">
              <a:spcBef>
                <a:spcPts val="0"/>
              </a:spcBef>
              <a:spcAft>
                <a:spcPts val="0"/>
              </a:spcAft>
              <a:buFont typeface="Arial" panose="020B0604020202020204" pitchFamily="34" charset="0"/>
              <a:buChar char="​"/>
              <a:defRPr sz="2000">
                <a:solidFill>
                  <a:schemeClr val="tx1"/>
                </a:solidFill>
                <a:latin typeface="+mn-lt"/>
              </a:defRPr>
            </a:lvl2pPr>
            <a:lvl3pPr marL="0" indent="0">
              <a:spcBef>
                <a:spcPts val="0"/>
              </a:spcBef>
              <a:spcAft>
                <a:spcPts val="0"/>
              </a:spcAft>
              <a:buFont typeface="Arial" panose="020B0604020202020204" pitchFamily="34" charset="0"/>
              <a:buChar char="​"/>
              <a:defRPr sz="2000">
                <a:solidFill>
                  <a:schemeClr val="tx1"/>
                </a:solidFill>
                <a:latin typeface="+mn-lt"/>
              </a:defRPr>
            </a:lvl3pPr>
            <a:lvl4pPr marL="0" indent="0">
              <a:spcBef>
                <a:spcPts val="0"/>
              </a:spcBef>
              <a:spcAft>
                <a:spcPts val="0"/>
              </a:spcAft>
              <a:buFont typeface="Arial" panose="020B0604020202020204" pitchFamily="34" charset="0"/>
              <a:buChar char="​"/>
              <a:defRPr sz="2000">
                <a:solidFill>
                  <a:schemeClr val="tx1"/>
                </a:solidFill>
                <a:latin typeface="+mn-lt"/>
              </a:defRPr>
            </a:lvl4pPr>
            <a:lvl5pPr marL="0" indent="0">
              <a:spcBef>
                <a:spcPts val="0"/>
              </a:spcBef>
              <a:spcAft>
                <a:spcPts val="0"/>
              </a:spcAft>
              <a:buFont typeface="Arial" panose="020B0604020202020204" pitchFamily="34" charset="0"/>
              <a:buChar char="​"/>
              <a:defRPr sz="2000" b="0">
                <a:solidFill>
                  <a:schemeClr val="tx1"/>
                </a:solidFill>
                <a:latin typeface="+mn-lt"/>
              </a:defRPr>
            </a:lvl5pPr>
            <a:lvl6pPr marL="0" indent="0">
              <a:spcBef>
                <a:spcPts val="0"/>
              </a:spcBef>
              <a:spcAft>
                <a:spcPts val="0"/>
              </a:spcAft>
              <a:buFont typeface="Arial" panose="020B0604020202020204" pitchFamily="34" charset="0"/>
              <a:buChar char="​"/>
              <a:defRPr sz="2000">
                <a:solidFill>
                  <a:schemeClr val="tx1"/>
                </a:solidFill>
                <a:latin typeface="+mn-lt"/>
              </a:defRPr>
            </a:lvl6pPr>
            <a:lvl7pPr marL="0" indent="0">
              <a:spcBef>
                <a:spcPts val="0"/>
              </a:spcBef>
              <a:spcAft>
                <a:spcPts val="0"/>
              </a:spcAft>
              <a:buFont typeface="Arial" panose="020B0604020202020204" pitchFamily="34" charset="0"/>
              <a:buChar char="​"/>
              <a:defRPr sz="2000">
                <a:solidFill>
                  <a:schemeClr val="tx1"/>
                </a:solidFill>
                <a:latin typeface="+mn-lt"/>
              </a:defRPr>
            </a:lvl7pPr>
            <a:lvl8pPr marL="0" indent="0">
              <a:spcBef>
                <a:spcPts val="0"/>
              </a:spcBef>
              <a:spcAft>
                <a:spcPts val="0"/>
              </a:spcAft>
              <a:buFont typeface="Arial" panose="020B0604020202020204" pitchFamily="34" charset="0"/>
              <a:buChar char="​"/>
              <a:defRPr sz="2000">
                <a:solidFill>
                  <a:schemeClr val="tx1"/>
                </a:solidFill>
                <a:latin typeface="+mn-lt"/>
              </a:defRPr>
            </a:lvl8pPr>
            <a:lvl9pPr marL="0" indent="0">
              <a:spcBef>
                <a:spcPts val="0"/>
              </a:spcBef>
              <a:spcAft>
                <a:spcPts val="0"/>
              </a:spcAft>
              <a:buFont typeface="Arial" panose="020B0604020202020204" pitchFamily="34" charset="0"/>
              <a:buChar char="​"/>
              <a:defRPr sz="2000">
                <a:solidFill>
                  <a:schemeClr val="tx1"/>
                </a:solidFill>
                <a:latin typeface="+mn-lt"/>
              </a:defRPr>
            </a:lvl9pPr>
          </a:lstStyle>
          <a:p>
            <a:pPr lvl="0"/>
            <a:r>
              <a:rPr dirty="0"/>
              <a:t>Subtitle</a:t>
            </a:r>
          </a:p>
        </p:txBody>
      </p:sp>
      <p:sp>
        <p:nvSpPr>
          <p:cNvPr id="4" name="Presenter"/>
          <p:cNvSpPr>
            <a:spLocks noGrp="1"/>
          </p:cNvSpPr>
          <p:nvPr>
            <p:ph type="body" sz="quarter" idx="13" hasCustomPrompt="1"/>
          </p:nvPr>
        </p:nvSpPr>
        <p:spPr>
          <a:xfrm>
            <a:off x="457200" y="6185356"/>
            <a:ext cx="6483350" cy="215444"/>
          </a:xfrm>
        </p:spPr>
        <p:txBody>
          <a:bodyPr wrap="square" lIns="0" tIns="0" rIns="0" bIns="0" anchor="b">
            <a:spAutoFit/>
          </a:bodyPr>
          <a:lstStyle>
            <a:lvl1pPr marL="0" indent="0" fontAlgn="base">
              <a:spcBef>
                <a:spcPts val="0"/>
              </a:spcBef>
              <a:spcAft>
                <a:spcPts val="0"/>
              </a:spcAft>
              <a:buFont typeface="Arial" panose="020B0604020202020204" pitchFamily="34" charset="0"/>
              <a:buChar char="​"/>
              <a:defRPr sz="1400">
                <a:solidFill>
                  <a:schemeClr val="tx1"/>
                </a:solidFill>
              </a:defRPr>
            </a:lvl1pPr>
            <a:lvl2pPr marL="0" indent="0" fontAlgn="base">
              <a:spcBef>
                <a:spcPts val="0"/>
              </a:spcBef>
              <a:spcAft>
                <a:spcPts val="0"/>
              </a:spcAft>
              <a:buFont typeface="Arial" panose="020B0604020202020204" pitchFamily="34" charset="0"/>
              <a:buChar char="​"/>
              <a:defRPr sz="1600">
                <a:solidFill>
                  <a:schemeClr val="tx1"/>
                </a:solidFill>
              </a:defRPr>
            </a:lvl2pPr>
            <a:lvl3pPr marL="0" indent="0">
              <a:spcBef>
                <a:spcPts val="0"/>
              </a:spcBef>
              <a:spcAft>
                <a:spcPts val="0"/>
              </a:spcAft>
              <a:buFont typeface="Arial" panose="020B0604020202020204" pitchFamily="34" charset="0"/>
              <a:buChar char="​"/>
              <a:defRPr sz="1600">
                <a:solidFill>
                  <a:schemeClr val="tx1"/>
                </a:solidFill>
              </a:defRPr>
            </a:lvl3pPr>
            <a:lvl4pPr marL="0" indent="0">
              <a:spcBef>
                <a:spcPts val="0"/>
              </a:spcBef>
              <a:spcAft>
                <a:spcPts val="0"/>
              </a:spcAft>
              <a:buFont typeface="Arial" panose="020B0604020202020204" pitchFamily="34" charset="0"/>
              <a:buChar char="​"/>
              <a:defRPr sz="1600">
                <a:solidFill>
                  <a:schemeClr val="tx1"/>
                </a:solidFill>
              </a:defRPr>
            </a:lvl4pPr>
            <a:lvl5pPr marL="0" indent="0">
              <a:spcBef>
                <a:spcPts val="0"/>
              </a:spcBef>
              <a:spcAft>
                <a:spcPts val="0"/>
              </a:spcAft>
              <a:buFont typeface="Arial" panose="020B0604020202020204" pitchFamily="34" charset="0"/>
              <a:buChar char="​"/>
              <a:defRPr sz="1600">
                <a:solidFill>
                  <a:schemeClr val="tx1"/>
                </a:solidFill>
              </a:defRPr>
            </a:lvl5pPr>
            <a:lvl6pPr marL="0" indent="0">
              <a:spcBef>
                <a:spcPts val="0"/>
              </a:spcBef>
              <a:spcAft>
                <a:spcPts val="0"/>
              </a:spcAft>
              <a:buFont typeface="Arial" panose="020B0604020202020204" pitchFamily="34" charset="0"/>
              <a:buChar char="​"/>
              <a:defRPr sz="1600">
                <a:solidFill>
                  <a:schemeClr val="tx1"/>
                </a:solidFill>
              </a:defRPr>
            </a:lvl6pPr>
            <a:lvl7pPr marL="0" indent="0">
              <a:spcBef>
                <a:spcPts val="0"/>
              </a:spcBef>
              <a:spcAft>
                <a:spcPts val="0"/>
              </a:spcAft>
              <a:buFont typeface="Arial" panose="020B0604020202020204" pitchFamily="34" charset="0"/>
              <a:buChar char="​"/>
              <a:defRPr sz="1600">
                <a:solidFill>
                  <a:schemeClr val="tx1"/>
                </a:solidFill>
              </a:defRPr>
            </a:lvl7pPr>
            <a:lvl8pPr marL="0" indent="0">
              <a:spcBef>
                <a:spcPts val="0"/>
              </a:spcBef>
              <a:spcAft>
                <a:spcPts val="0"/>
              </a:spcAft>
              <a:buFont typeface="Arial" panose="020B0604020202020204" pitchFamily="34" charset="0"/>
              <a:buChar char="​"/>
              <a:defRPr sz="1600">
                <a:solidFill>
                  <a:schemeClr val="tx1"/>
                </a:solidFill>
              </a:defRPr>
            </a:lvl8pPr>
            <a:lvl9pPr marL="0" indent="0">
              <a:spcBef>
                <a:spcPts val="0"/>
              </a:spcBef>
              <a:spcAft>
                <a:spcPts val="0"/>
              </a:spcAft>
              <a:buFont typeface="Arial" panose="020B0604020202020204" pitchFamily="34" charset="0"/>
              <a:buChar char="​"/>
              <a:defRPr sz="1600">
                <a:solidFill>
                  <a:schemeClr val="tx1"/>
                </a:solidFill>
              </a:defRPr>
            </a:lvl9pPr>
          </a:lstStyle>
          <a:p>
            <a:pPr lvl="0"/>
            <a:r>
              <a:t>Date, Presenter, Location (optional), etc.</a:t>
            </a:r>
          </a:p>
        </p:txBody>
      </p:sp>
      <p:pic>
        <p:nvPicPr>
          <p:cNvPr id="5" name="DTP_CompanyLogo">
            <a:extLst>
              <a:ext uri="{FF2B5EF4-FFF2-40B4-BE49-F238E27FC236}">
                <a16:creationId xmlns:a16="http://schemas.microsoft.com/office/drawing/2014/main" id="{DBCC654F-89B9-D0CE-0010-FB44585C8E7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7200" y="457200"/>
            <a:ext cx="2488387" cy="475488"/>
          </a:xfrm>
          <a:prstGeom prst="rect">
            <a:avLst/>
          </a:prstGeom>
        </p:spPr>
      </p:pic>
    </p:spTree>
  </p:cSld>
  <p:clrMapOvr>
    <a:masterClrMapping/>
  </p:clrMapOvr>
  <p:extLst>
    <p:ext uri="{DCECCB84-F9BA-43D5-87BE-67443E8EF086}">
      <p15:sldGuideLst xmlns:p15="http://schemas.microsoft.com/office/powerpoint/2012/main">
        <p15:guide id="1" orient="horz" pos="2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
        <p:nvSpPr>
          <p:cNvPr id="3" name="Content"/>
          <p:cNvSpPr>
            <a:spLocks noGrp="1"/>
          </p:cNvSpPr>
          <p:nvPr>
            <p:ph idx="11"/>
          </p:nvPr>
        </p:nvSpPr>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
        <p:nvSpPr>
          <p:cNvPr id="3" name="Content Left"/>
          <p:cNvSpPr>
            <a:spLocks noGrp="1"/>
          </p:cNvSpPr>
          <p:nvPr>
            <p:ph sz="half" idx="11"/>
          </p:nvPr>
        </p:nvSpPr>
        <p:spPr>
          <a:xfrm>
            <a:off x="457200" y="1409700"/>
            <a:ext cx="54102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Right"/>
          <p:cNvSpPr>
            <a:spLocks noGrp="1"/>
          </p:cNvSpPr>
          <p:nvPr>
            <p:ph sz="half" idx="12"/>
          </p:nvPr>
        </p:nvSpPr>
        <p:spPr>
          <a:xfrm>
            <a:off x="6324600" y="1409700"/>
            <a:ext cx="54102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3984">
          <p15:clr>
            <a:srgbClr val="FBAE40"/>
          </p15:clr>
        </p15:guide>
        <p15:guide id="4" pos="36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
        <p:nvSpPr>
          <p:cNvPr id="3" name="Content Left"/>
          <p:cNvSpPr>
            <a:spLocks noGrp="1"/>
          </p:cNvSpPr>
          <p:nvPr>
            <p:ph idx="11"/>
          </p:nvPr>
        </p:nvSpPr>
        <p:spPr>
          <a:xfrm>
            <a:off x="4572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Middle"/>
          <p:cNvSpPr>
            <a:spLocks noGrp="1"/>
          </p:cNvSpPr>
          <p:nvPr>
            <p:ph idx="12"/>
          </p:nvPr>
        </p:nvSpPr>
        <p:spPr>
          <a:xfrm>
            <a:off x="4368799"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Content Right"/>
          <p:cNvSpPr>
            <a:spLocks noGrp="1"/>
          </p:cNvSpPr>
          <p:nvPr>
            <p:ph idx="13"/>
          </p:nvPr>
        </p:nvSpPr>
        <p:spPr>
          <a:xfrm>
            <a:off x="82804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2464">
          <p15:clr>
            <a:srgbClr val="FBAE40"/>
          </p15:clr>
        </p15:guide>
        <p15:guide id="4" pos="2751">
          <p15:clr>
            <a:srgbClr val="FBAE40"/>
          </p15:clr>
        </p15:guide>
        <p15:guide id="5" pos="4927">
          <p15:clr>
            <a:srgbClr val="FBAE40"/>
          </p15:clr>
        </p15:guide>
        <p15:guide id="6" pos="521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
        <p:nvSpPr>
          <p:cNvPr id="3" name="Content Left"/>
          <p:cNvSpPr>
            <a:spLocks noGrp="1"/>
          </p:cNvSpPr>
          <p:nvPr>
            <p:ph idx="11"/>
          </p:nvPr>
        </p:nvSpPr>
        <p:spPr>
          <a:xfrm>
            <a:off x="4572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Middle Left"/>
          <p:cNvSpPr>
            <a:spLocks noGrp="1"/>
          </p:cNvSpPr>
          <p:nvPr>
            <p:ph idx="12"/>
          </p:nvPr>
        </p:nvSpPr>
        <p:spPr>
          <a:xfrm>
            <a:off x="33909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Content Middle Right"/>
          <p:cNvSpPr>
            <a:spLocks noGrp="1"/>
          </p:cNvSpPr>
          <p:nvPr>
            <p:ph sz="quarter" idx="13"/>
          </p:nvPr>
        </p:nvSpPr>
        <p:spPr>
          <a:xfrm>
            <a:off x="63246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Content Right"/>
          <p:cNvSpPr>
            <a:spLocks noGrp="1"/>
          </p:cNvSpPr>
          <p:nvPr>
            <p:ph idx="14"/>
          </p:nvPr>
        </p:nvSpPr>
        <p:spPr>
          <a:xfrm>
            <a:off x="92583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1848">
          <p15:clr>
            <a:srgbClr val="FBAE40"/>
          </p15:clr>
        </p15:guide>
        <p15:guide id="4" pos="2136">
          <p15:clr>
            <a:srgbClr val="FBAE40"/>
          </p15:clr>
        </p15:guide>
        <p15:guide id="5" pos="3696">
          <p15:clr>
            <a:srgbClr val="FBAE40"/>
          </p15:clr>
        </p15:guide>
        <p15:guide id="6" pos="3984">
          <p15:clr>
            <a:srgbClr val="FBAE40"/>
          </p15:clr>
        </p15:guide>
        <p15:guide id="7" pos="5544">
          <p15:clr>
            <a:srgbClr val="FBAE40"/>
          </p15:clr>
        </p15:guide>
        <p15:guide id="8" pos="583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 columns 1/3 spli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
        <p:nvSpPr>
          <p:cNvPr id="3" name="Content Left"/>
          <p:cNvSpPr>
            <a:spLocks noGrp="1"/>
          </p:cNvSpPr>
          <p:nvPr>
            <p:ph idx="11"/>
          </p:nvPr>
        </p:nvSpPr>
        <p:spPr>
          <a:xfrm>
            <a:off x="4572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Right"/>
          <p:cNvSpPr>
            <a:spLocks noGrp="1"/>
          </p:cNvSpPr>
          <p:nvPr>
            <p:ph idx="12"/>
          </p:nvPr>
        </p:nvSpPr>
        <p:spPr>
          <a:xfrm>
            <a:off x="4368800" y="1409700"/>
            <a:ext cx="73660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2464">
          <p15:clr>
            <a:srgbClr val="FBAE40"/>
          </p15:clr>
        </p15:guide>
        <p15:guide id="4" pos="27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lumns 2/3 spli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
        <p:nvSpPr>
          <p:cNvPr id="3" name="Content Left"/>
          <p:cNvSpPr>
            <a:spLocks noGrp="1"/>
          </p:cNvSpPr>
          <p:nvPr>
            <p:ph idx="11"/>
          </p:nvPr>
        </p:nvSpPr>
        <p:spPr>
          <a:xfrm>
            <a:off x="457200" y="1409700"/>
            <a:ext cx="73660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Right"/>
          <p:cNvSpPr>
            <a:spLocks noGrp="1"/>
          </p:cNvSpPr>
          <p:nvPr>
            <p:ph idx="12"/>
          </p:nvPr>
        </p:nvSpPr>
        <p:spPr>
          <a:xfrm>
            <a:off x="82804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4928">
          <p15:clr>
            <a:srgbClr val="FBAE40"/>
          </p15:clr>
        </p15:guide>
        <p15:guide id="4" pos="52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ig portrait photo on right">
    <p:spTree>
      <p:nvGrpSpPr>
        <p:cNvPr id="1" name=""/>
        <p:cNvGrpSpPr/>
        <p:nvPr/>
      </p:nvGrpSpPr>
      <p:grpSpPr>
        <a:xfrm>
          <a:off x="0" y="0"/>
          <a:ext cx="0" cy="0"/>
          <a:chOff x="0" y="0"/>
          <a:chExt cx="0" cy="0"/>
        </a:xfrm>
      </p:grpSpPr>
      <p:sp>
        <p:nvSpPr>
          <p:cNvPr id="2" name="Title"/>
          <p:cNvSpPr>
            <a:spLocks noGrp="1"/>
          </p:cNvSpPr>
          <p:nvPr>
            <p:ph type="title"/>
          </p:nvPr>
        </p:nvSpPr>
        <p:spPr>
          <a:xfrm>
            <a:off x="457200" y="384048"/>
            <a:ext cx="7365998" cy="797052"/>
          </a:xfrm>
        </p:spPr>
        <p:txBody>
          <a:bodyPr/>
          <a:lstStyle/>
          <a:p>
            <a:r>
              <a:rPr lang="en-GB"/>
              <a:t>Click to edit Master title style</a:t>
            </a:r>
            <a:endParaRPr lang="en-US"/>
          </a:p>
        </p:txBody>
      </p:sp>
      <p:sp>
        <p:nvSpPr>
          <p:cNvPr id="3" name="Content"/>
          <p:cNvSpPr>
            <a:spLocks noGrp="1"/>
          </p:cNvSpPr>
          <p:nvPr>
            <p:ph idx="11"/>
          </p:nvPr>
        </p:nvSpPr>
        <p:spPr>
          <a:xfrm>
            <a:off x="457200" y="1409700"/>
            <a:ext cx="73660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Picture"/>
          <p:cNvSpPr>
            <a:spLocks noGrp="1"/>
          </p:cNvSpPr>
          <p:nvPr>
            <p:ph type="pic" idx="20"/>
          </p:nvPr>
        </p:nvSpPr>
        <p:spPr>
          <a:xfrm>
            <a:off x="8280400" y="0"/>
            <a:ext cx="3911600" cy="6858000"/>
          </a:xfrm>
        </p:spPr>
        <p:txBody>
          <a:bodyPr tIns="640080" anchor="ctr"/>
          <a:lstStyle>
            <a:lvl1pPr marL="0" indent="0" algn="ctr">
              <a:buNone/>
              <a:defRPr sz="1400">
                <a:solidFill>
                  <a:srgbClr val="C3C3C3"/>
                </a:solidFill>
              </a:defRPr>
            </a:lvl1pPr>
          </a:lstStyle>
          <a:p>
            <a:r>
              <a:rPr lang="en-GB"/>
              <a:t>Click icon to add picture</a:t>
            </a:r>
            <a:endParaRPr lang="en-US"/>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4928">
          <p15:clr>
            <a:srgbClr val="FBAE40"/>
          </p15:clr>
        </p15:guide>
        <p15:guide id="4" pos="52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V - bio with photo">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57200" y="3241999"/>
            <a:ext cx="2647950" cy="734155"/>
          </a:xfrm>
        </p:spPr>
        <p:txBody>
          <a:bodyPr anchor="b">
            <a:spAutoFit/>
          </a:bodyPr>
          <a:lstStyle>
            <a:lvl1pPr algn="l" rtl="0">
              <a:defRPr sz="2400"/>
            </a:lvl1pPr>
          </a:lstStyle>
          <a:p>
            <a:r>
              <a:t>Name</a:t>
            </a:r>
            <a:br>
              <a:rPr/>
            </a:br>
            <a:r>
              <a:t>Last name</a:t>
            </a:r>
          </a:p>
        </p:txBody>
      </p:sp>
      <p:sp>
        <p:nvSpPr>
          <p:cNvPr id="5" name="Role"/>
          <p:cNvSpPr>
            <a:spLocks noGrp="1"/>
          </p:cNvSpPr>
          <p:nvPr>
            <p:ph type="body" sz="quarter" idx="10" hasCustomPrompt="1"/>
          </p:nvPr>
        </p:nvSpPr>
        <p:spPr>
          <a:xfrm>
            <a:off x="457200" y="4101621"/>
            <a:ext cx="2647950" cy="429768"/>
          </a:xfrm>
        </p:spPr>
        <p:txBody>
          <a:bodyPr/>
          <a:lstStyle>
            <a:lvl1pPr marL="0" indent="0" algn="l" rtl="0">
              <a:spcBef>
                <a:spcPts val="0"/>
              </a:spcBef>
              <a:spcAft>
                <a:spcPts val="0"/>
              </a:spcAft>
              <a:buFont typeface="Arial" panose="020B0604020202020204" pitchFamily="34" charset="0"/>
              <a:buChar char="​"/>
              <a:defRPr sz="1400" b="0">
                <a:solidFill>
                  <a:schemeClr val="tx1"/>
                </a:solidFill>
              </a:defRPr>
            </a:lvl1pPr>
            <a:lvl2pPr marL="0" indent="0" algn="l" rtl="0">
              <a:spcBef>
                <a:spcPts val="0"/>
              </a:spcBef>
              <a:spcAft>
                <a:spcPts val="0"/>
              </a:spcAft>
              <a:buFont typeface="Arial" panose="020B0604020202020204" pitchFamily="34" charset="0"/>
              <a:buChar char="​"/>
              <a:defRPr sz="1400">
                <a:solidFill>
                  <a:schemeClr val="tx1"/>
                </a:solidFill>
              </a:defRPr>
            </a:lvl2pPr>
            <a:lvl3pPr marL="0" indent="0" algn="l" rtl="0">
              <a:spcBef>
                <a:spcPts val="0"/>
              </a:spcBef>
              <a:spcAft>
                <a:spcPts val="0"/>
              </a:spcAft>
              <a:buFont typeface="Arial" panose="020B0604020202020204" pitchFamily="34" charset="0"/>
              <a:buChar char="​"/>
              <a:defRPr sz="1400">
                <a:solidFill>
                  <a:schemeClr val="tx1"/>
                </a:solidFill>
              </a:defRPr>
            </a:lvl3pPr>
            <a:lvl4pPr marL="0" indent="0" algn="l" rtl="0">
              <a:spcBef>
                <a:spcPts val="0"/>
              </a:spcBef>
              <a:spcAft>
                <a:spcPts val="0"/>
              </a:spcAft>
              <a:buFont typeface="Arial" panose="020B0604020202020204" pitchFamily="34" charset="0"/>
              <a:buChar char="​"/>
              <a:defRPr sz="1400">
                <a:solidFill>
                  <a:schemeClr val="tx1"/>
                </a:solidFill>
              </a:defRPr>
            </a:lvl4pPr>
            <a:lvl5pPr marL="0" indent="0" algn="l" rtl="0">
              <a:spcBef>
                <a:spcPts val="0"/>
              </a:spcBef>
              <a:spcAft>
                <a:spcPts val="0"/>
              </a:spcAft>
              <a:buFont typeface="Arial" panose="020B0604020202020204" pitchFamily="34" charset="0"/>
              <a:buChar char="​"/>
              <a:defRPr sz="1400">
                <a:solidFill>
                  <a:schemeClr val="tx1"/>
                </a:solidFill>
              </a:defRPr>
            </a:lvl5pPr>
            <a:lvl6pPr marL="0" indent="0" algn="l" rtl="0">
              <a:spcBef>
                <a:spcPts val="0"/>
              </a:spcBef>
              <a:spcAft>
                <a:spcPts val="0"/>
              </a:spcAft>
              <a:buFont typeface="Arial" panose="020B0604020202020204" pitchFamily="34" charset="0"/>
              <a:buChar char="​"/>
              <a:defRPr sz="1400">
                <a:solidFill>
                  <a:schemeClr val="tx1"/>
                </a:solidFill>
              </a:defRPr>
            </a:lvl6pPr>
            <a:lvl7pPr marL="0" indent="0" algn="l" rtl="0">
              <a:spcBef>
                <a:spcPts val="0"/>
              </a:spcBef>
              <a:spcAft>
                <a:spcPts val="0"/>
              </a:spcAft>
              <a:buFont typeface="Arial" panose="020B0604020202020204" pitchFamily="34" charset="0"/>
              <a:buChar char="​"/>
              <a:defRPr sz="1400">
                <a:solidFill>
                  <a:schemeClr val="tx1"/>
                </a:solidFill>
              </a:defRPr>
            </a:lvl7pPr>
            <a:lvl8pPr marL="0" indent="0" algn="l" rtl="0">
              <a:spcBef>
                <a:spcPts val="0"/>
              </a:spcBef>
              <a:spcAft>
                <a:spcPts val="0"/>
              </a:spcAft>
              <a:buFont typeface="Arial" panose="020B0604020202020204" pitchFamily="34" charset="0"/>
              <a:buChar char="​"/>
              <a:defRPr sz="1400">
                <a:solidFill>
                  <a:schemeClr val="tx1"/>
                </a:solidFill>
              </a:defRPr>
            </a:lvl8pPr>
            <a:lvl9pPr marL="0" indent="0" algn="l" rtl="0">
              <a:spcBef>
                <a:spcPts val="0"/>
              </a:spcBef>
              <a:spcAft>
                <a:spcPts val="0"/>
              </a:spcAft>
              <a:buFont typeface="Arial" panose="020B0604020202020204" pitchFamily="34" charset="0"/>
              <a:buChar char="​"/>
              <a:defRPr sz="1400">
                <a:solidFill>
                  <a:schemeClr val="tx1"/>
                </a:solidFill>
              </a:defRPr>
            </a:lvl9pPr>
          </a:lstStyle>
          <a:p>
            <a:pPr lvl="0"/>
            <a:r>
              <a:t>Role, Position</a:t>
            </a:r>
            <a:br>
              <a:rPr/>
            </a:br>
            <a:r>
              <a:t>Location</a:t>
            </a:r>
          </a:p>
        </p:txBody>
      </p:sp>
      <p:sp>
        <p:nvSpPr>
          <p:cNvPr id="7" name="Headshot"/>
          <p:cNvSpPr>
            <a:spLocks noGrp="1" noChangeAspect="1"/>
          </p:cNvSpPr>
          <p:nvPr>
            <p:ph type="pic" sz="quarter" idx="20"/>
          </p:nvPr>
        </p:nvSpPr>
        <p:spPr>
          <a:xfrm>
            <a:off x="457200" y="381000"/>
            <a:ext cx="2647950" cy="2647950"/>
          </a:xfrm>
          <a:prstGeom prst="rect">
            <a:avLst/>
          </a:prstGeom>
          <a:solidFill>
            <a:srgbClr val="F7F3EE"/>
          </a:solidFill>
        </p:spPr>
        <p:txBody>
          <a:bodyPr tIns="868680" anchor="ctr"/>
          <a:lstStyle>
            <a:lvl1pPr marL="0" indent="0" algn="ctr">
              <a:buNone/>
              <a:defRPr sz="1000">
                <a:solidFill>
                  <a:schemeClr val="tx1"/>
                </a:solidFill>
              </a:defRPr>
            </a:lvl1pPr>
          </a:lstStyle>
          <a:p>
            <a:r>
              <a:rPr lang="en-GB"/>
              <a:t>Click icon to add picture</a:t>
            </a:r>
            <a:endParaRPr lang="en-US"/>
          </a:p>
        </p:txBody>
      </p:sp>
      <p:sp>
        <p:nvSpPr>
          <p:cNvPr id="3" name="Content">
            <a:extLst>
              <a:ext uri="{FF2B5EF4-FFF2-40B4-BE49-F238E27FC236}">
                <a16:creationId xmlns:a16="http://schemas.microsoft.com/office/drawing/2014/main" id="{CF848BCA-2ADB-EC0C-8F27-F589DF6F5040}"/>
              </a:ext>
            </a:extLst>
          </p:cNvPr>
          <p:cNvSpPr>
            <a:spLocks noGrp="1"/>
          </p:cNvSpPr>
          <p:nvPr>
            <p:ph idx="11"/>
          </p:nvPr>
        </p:nvSpPr>
        <p:spPr>
          <a:xfrm>
            <a:off x="3562350" y="381000"/>
            <a:ext cx="8172450" cy="5928360"/>
          </a:xfrm>
        </p:spPr>
        <p:txBody>
          <a:bodyPr/>
          <a:lstStyle>
            <a:lvl5pPr>
              <a:spcBef>
                <a:spcPts val="1800"/>
              </a:spcBef>
              <a:spcAft>
                <a:spcPts val="0"/>
              </a:spcAf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826098615"/>
      </p:ext>
    </p:extLst>
  </p:cSld>
  <p:clrMapOvr>
    <a:masterClrMapping/>
  </p:clrMapOvr>
  <p:extLst>
    <p:ext uri="{DCECCB84-F9BA-43D5-87BE-67443E8EF086}">
      <p15:sldGuideLst xmlns:p15="http://schemas.microsoft.com/office/powerpoint/2012/main">
        <p15:guide id="1" orient="horz" pos="3974">
          <p15:clr>
            <a:srgbClr val="FBAE40"/>
          </p15:clr>
        </p15:guide>
        <p15:guide id="2" pos="1956">
          <p15:clr>
            <a:srgbClr val="FBAE40"/>
          </p15:clr>
        </p15:guide>
        <p15:guide id="3" pos="22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ne pager credential">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
        <p:nvSpPr>
          <p:cNvPr id="10" name="Impact"/>
          <p:cNvSpPr>
            <a:spLocks noGrp="1"/>
          </p:cNvSpPr>
          <p:nvPr>
            <p:ph type="body" sz="quarter" idx="16" hasCustomPrompt="1"/>
          </p:nvPr>
        </p:nvSpPr>
        <p:spPr>
          <a:xfrm>
            <a:off x="0" y="1407583"/>
            <a:ext cx="12192000" cy="797983"/>
          </a:xfrm>
          <a:solidFill>
            <a:srgbClr val="F7F3EE"/>
          </a:solidFill>
        </p:spPr>
        <p:txBody>
          <a:bodyPr lIns="457200" tIns="45720" rIns="457200" bIns="45720" anchor="ctr"/>
          <a:lstStyle>
            <a:lvl1pPr marL="0" indent="0">
              <a:spcBef>
                <a:spcPts val="0"/>
              </a:spcBef>
              <a:spcAft>
                <a:spcPts val="0"/>
              </a:spcAft>
              <a:buFont typeface="Arial" panose="020B0604020202020204" pitchFamily="34" charset="0"/>
              <a:buChar char="​"/>
              <a:defRPr sz="1600">
                <a:solidFill>
                  <a:schemeClr val="tx1"/>
                </a:solidFill>
              </a:defRPr>
            </a:lvl1pPr>
            <a:lvl2pPr marL="0" indent="0">
              <a:spcBef>
                <a:spcPts val="0"/>
              </a:spcBef>
              <a:spcAft>
                <a:spcPts val="0"/>
              </a:spcAft>
              <a:buFont typeface="Arial" panose="020B0604020202020204" pitchFamily="34" charset="0"/>
              <a:buChar char="​"/>
              <a:defRPr sz="1600">
                <a:solidFill>
                  <a:schemeClr val="tx1"/>
                </a:solidFill>
              </a:defRPr>
            </a:lvl2pPr>
            <a:lvl3pPr marL="0" indent="0">
              <a:spcBef>
                <a:spcPts val="0"/>
              </a:spcBef>
              <a:spcAft>
                <a:spcPts val="0"/>
              </a:spcAft>
              <a:buFont typeface="Arial" panose="020B0604020202020204" pitchFamily="34" charset="0"/>
              <a:buChar char="​"/>
              <a:defRPr sz="1600">
                <a:solidFill>
                  <a:schemeClr val="tx1"/>
                </a:solidFill>
              </a:defRPr>
            </a:lvl3pPr>
            <a:lvl4pPr marL="0" indent="0">
              <a:spcBef>
                <a:spcPts val="0"/>
              </a:spcBef>
              <a:spcAft>
                <a:spcPts val="0"/>
              </a:spcAft>
              <a:buFont typeface="Arial" panose="020B0604020202020204" pitchFamily="34" charset="0"/>
              <a:buChar char="​"/>
              <a:defRPr sz="1600">
                <a:solidFill>
                  <a:schemeClr val="tx1"/>
                </a:solidFill>
              </a:defRPr>
            </a:lvl4pPr>
            <a:lvl5pPr marL="0" indent="0">
              <a:spcBef>
                <a:spcPts val="0"/>
              </a:spcBef>
              <a:spcAft>
                <a:spcPts val="0"/>
              </a:spcAft>
              <a:buFont typeface="Arial" panose="020B0604020202020204" pitchFamily="34" charset="0"/>
              <a:buChar char="​"/>
              <a:defRPr sz="1600">
                <a:solidFill>
                  <a:schemeClr val="tx1"/>
                </a:solidFill>
              </a:defRPr>
            </a:lvl5pPr>
            <a:lvl6pPr marL="0" indent="0">
              <a:spcBef>
                <a:spcPts val="0"/>
              </a:spcBef>
              <a:spcAft>
                <a:spcPts val="0"/>
              </a:spcAft>
              <a:buFont typeface="Arial" panose="020B0604020202020204" pitchFamily="34" charset="0"/>
              <a:buChar char="​"/>
              <a:defRPr sz="1600">
                <a:solidFill>
                  <a:schemeClr val="tx1"/>
                </a:solidFill>
              </a:defRPr>
            </a:lvl6pPr>
            <a:lvl7pPr marL="0" indent="0">
              <a:spcBef>
                <a:spcPts val="0"/>
              </a:spcBef>
              <a:spcAft>
                <a:spcPts val="0"/>
              </a:spcAft>
              <a:buFont typeface="Arial" panose="020B0604020202020204" pitchFamily="34" charset="0"/>
              <a:buChar char="​"/>
              <a:defRPr sz="1600">
                <a:solidFill>
                  <a:schemeClr val="tx1"/>
                </a:solidFill>
              </a:defRPr>
            </a:lvl7pPr>
            <a:lvl8pPr marL="0" indent="0">
              <a:spcBef>
                <a:spcPts val="0"/>
              </a:spcBef>
              <a:spcAft>
                <a:spcPts val="0"/>
              </a:spcAft>
              <a:buFont typeface="Arial" panose="020B0604020202020204" pitchFamily="34" charset="0"/>
              <a:buChar char="​"/>
              <a:defRPr sz="1600">
                <a:solidFill>
                  <a:schemeClr val="tx1"/>
                </a:solidFill>
              </a:defRPr>
            </a:lvl8pPr>
            <a:lvl9pPr marL="0" indent="0">
              <a:spcBef>
                <a:spcPts val="0"/>
              </a:spcBef>
              <a:spcAft>
                <a:spcPts val="0"/>
              </a:spcAft>
              <a:buFont typeface="Arial" panose="020B0604020202020204" pitchFamily="34" charset="0"/>
              <a:buChar char="​"/>
              <a:defRPr sz="1600">
                <a:solidFill>
                  <a:schemeClr val="tx1"/>
                </a:solidFill>
              </a:defRPr>
            </a:lvl9pPr>
          </a:lstStyle>
          <a:p>
            <a:pPr lvl="0"/>
            <a:r>
              <a:t>Insert impact statements here (max 2 lines)</a:t>
            </a:r>
          </a:p>
        </p:txBody>
      </p:sp>
      <p:sp>
        <p:nvSpPr>
          <p:cNvPr id="3" name="Heading Left"/>
          <p:cNvSpPr>
            <a:spLocks noGrp="1"/>
          </p:cNvSpPr>
          <p:nvPr>
            <p:ph idx="10" hasCustomPrompt="1"/>
          </p:nvPr>
        </p:nvSpPr>
        <p:spPr>
          <a:xfrm>
            <a:off x="457200" y="2438400"/>
            <a:ext cx="3454400" cy="184666"/>
          </a:xfrm>
        </p:spPr>
        <p:txBody>
          <a:bodyPr>
            <a:spAutoFit/>
          </a:bodyPr>
          <a:lstStyle>
            <a:lvl1pPr>
              <a:defRPr b="1"/>
            </a:lvl1pPr>
          </a:lstStyle>
          <a:p>
            <a:pPr lvl="0"/>
            <a:r>
              <a:rPr dirty="0"/>
              <a:t>Heading – Client situation</a:t>
            </a:r>
          </a:p>
        </p:txBody>
      </p:sp>
      <p:sp>
        <p:nvSpPr>
          <p:cNvPr id="4" name="Content Left"/>
          <p:cNvSpPr>
            <a:spLocks noGrp="1"/>
          </p:cNvSpPr>
          <p:nvPr>
            <p:ph idx="11"/>
          </p:nvPr>
        </p:nvSpPr>
        <p:spPr>
          <a:xfrm>
            <a:off x="457200" y="2732794"/>
            <a:ext cx="3454400" cy="3579106"/>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Heading Middle"/>
          <p:cNvSpPr>
            <a:spLocks noGrp="1"/>
          </p:cNvSpPr>
          <p:nvPr>
            <p:ph idx="13" hasCustomPrompt="1"/>
          </p:nvPr>
        </p:nvSpPr>
        <p:spPr>
          <a:xfrm>
            <a:off x="4368800" y="2438400"/>
            <a:ext cx="3454400" cy="184666"/>
          </a:xfrm>
        </p:spPr>
        <p:txBody>
          <a:bodyPr>
            <a:spAutoFit/>
          </a:bodyPr>
          <a:lstStyle>
            <a:lvl1pPr>
              <a:defRPr b="1"/>
            </a:lvl1pPr>
          </a:lstStyle>
          <a:p>
            <a:pPr lvl="0"/>
            <a:r>
              <a:rPr dirty="0"/>
              <a:t>Heading – Our approach</a:t>
            </a:r>
          </a:p>
        </p:txBody>
      </p:sp>
      <p:sp>
        <p:nvSpPr>
          <p:cNvPr id="6" name="Content Middle"/>
          <p:cNvSpPr>
            <a:spLocks noGrp="1"/>
          </p:cNvSpPr>
          <p:nvPr>
            <p:ph idx="12"/>
          </p:nvPr>
        </p:nvSpPr>
        <p:spPr>
          <a:xfrm>
            <a:off x="4368800" y="2732794"/>
            <a:ext cx="3454400" cy="3579106"/>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Heading Right"/>
          <p:cNvSpPr>
            <a:spLocks noGrp="1"/>
          </p:cNvSpPr>
          <p:nvPr>
            <p:ph idx="15" hasCustomPrompt="1"/>
          </p:nvPr>
        </p:nvSpPr>
        <p:spPr>
          <a:xfrm>
            <a:off x="8280400" y="2438400"/>
            <a:ext cx="3454400" cy="184666"/>
          </a:xfrm>
        </p:spPr>
        <p:txBody>
          <a:bodyPr>
            <a:spAutoFit/>
          </a:bodyPr>
          <a:lstStyle>
            <a:lvl1pPr>
              <a:defRPr b="1"/>
            </a:lvl1pPr>
          </a:lstStyle>
          <a:p>
            <a:pPr lvl="0"/>
            <a:r>
              <a:rPr dirty="0"/>
              <a:t>Heading – Impact achieved</a:t>
            </a:r>
          </a:p>
        </p:txBody>
      </p:sp>
      <p:sp>
        <p:nvSpPr>
          <p:cNvPr id="8" name="Content Right"/>
          <p:cNvSpPr>
            <a:spLocks noGrp="1"/>
          </p:cNvSpPr>
          <p:nvPr>
            <p:ph idx="14"/>
          </p:nvPr>
        </p:nvSpPr>
        <p:spPr>
          <a:xfrm>
            <a:off x="8280400" y="2732794"/>
            <a:ext cx="3454400" cy="3579106"/>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2644492672"/>
      </p:ext>
    </p:extLst>
  </p:cSld>
  <p:clrMapOvr>
    <a:masterClrMapping/>
  </p:clrMapOvr>
  <p:extLst>
    <p:ext uri="{DCECCB84-F9BA-43D5-87BE-67443E8EF086}">
      <p15:sldGuideLst xmlns:p15="http://schemas.microsoft.com/office/powerpoint/2012/main">
        <p15:guide id="1" orient="horz" pos="886">
          <p15:clr>
            <a:srgbClr val="FBAE40"/>
          </p15:clr>
        </p15:guide>
        <p15:guide id="2" orient="horz" pos="1389">
          <p15:clr>
            <a:srgbClr val="FBAE40"/>
          </p15:clr>
        </p15:guide>
        <p15:guide id="3" orient="horz" pos="1532">
          <p15:clr>
            <a:srgbClr val="FBAE40"/>
          </p15:clr>
        </p15:guide>
        <p15:guide id="4" orient="horz" pos="3976">
          <p15:clr>
            <a:srgbClr val="FBAE40"/>
          </p15:clr>
        </p15:guide>
        <p15:guide id="5" pos="2464">
          <p15:clr>
            <a:srgbClr val="FBAE40"/>
          </p15:clr>
        </p15:guide>
        <p15:guide id="6" pos="2751">
          <p15:clr>
            <a:srgbClr val="FBAE40"/>
          </p15:clr>
        </p15:guide>
        <p15:guide id="7" pos="4927">
          <p15:clr>
            <a:srgbClr val="FBAE40"/>
          </p15:clr>
        </p15:guide>
        <p15:guide id="8" pos="52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Section">
    <p:bg>
      <p:bgPr>
        <a:solidFill>
          <a:schemeClr val="bg2"/>
        </a:solidFill>
        <a:effectLst/>
      </p:bgPr>
    </p:bg>
    <p:spTree>
      <p:nvGrpSpPr>
        <p:cNvPr id="1" name=""/>
        <p:cNvGrpSpPr/>
        <p:nvPr/>
      </p:nvGrpSpPr>
      <p:grpSpPr>
        <a:xfrm>
          <a:off x="0" y="0"/>
          <a:ext cx="0" cy="0"/>
          <a:chOff x="0" y="0"/>
          <a:chExt cx="0" cy="0"/>
        </a:xfrm>
      </p:grpSpPr>
      <p:sp>
        <p:nvSpPr>
          <p:cNvPr id="2" name="SectionTitle"/>
          <p:cNvSpPr>
            <a:spLocks noGrp="1"/>
          </p:cNvSpPr>
          <p:nvPr>
            <p:ph type="body" sz="quarter" idx="11" hasCustomPrompt="1"/>
          </p:nvPr>
        </p:nvSpPr>
        <p:spPr>
          <a:xfrm>
            <a:off x="457200" y="381000"/>
            <a:ext cx="7442200" cy="1261884"/>
          </a:xfrm>
        </p:spPr>
        <p:txBody>
          <a:bodyPr vert="horz" wrap="square" lIns="0" tIns="0" rIns="0" bIns="0" numCol="1" anchor="t" anchorCtr="0" compatLnSpc="1">
            <a:prstTxWarp prst="textNoShape">
              <a:avLst/>
            </a:prstTxWarp>
            <a:spAutoFit/>
          </a:bodyPr>
          <a:lstStyle>
            <a:lvl1pPr marL="0" indent="0" algn="l" fontAlgn="base">
              <a:buFont typeface="Arial" panose="020B0604020202020204" pitchFamily="34" charset="0"/>
              <a:buChar char="​"/>
              <a:defRPr sz="4800">
                <a:solidFill>
                  <a:schemeClr val="tx1"/>
                </a:solidFill>
                <a:latin typeface="+mj-lt"/>
                <a:ea typeface="+mj-ea"/>
                <a:cs typeface="+mj-cs"/>
              </a:defRPr>
            </a:lvl1pPr>
            <a:lvl2pPr marL="0" indent="0" algn="l">
              <a:spcBef>
                <a:spcPts val="1200"/>
              </a:spcBef>
              <a:buFont typeface="Arial" panose="020B0604020202020204" pitchFamily="34" charset="0"/>
              <a:buChar char="​"/>
              <a:defRPr sz="2400">
                <a:solidFill>
                  <a:schemeClr val="tx1"/>
                </a:solidFill>
                <a:latin typeface="+mn-lt"/>
                <a:ea typeface="+mn-ea"/>
                <a:cs typeface="+mn-cs"/>
              </a:defRPr>
            </a:lvl2pPr>
            <a:lvl3pPr marL="0" indent="0">
              <a:buFont typeface="Arial" panose="020B0604020202020204" pitchFamily="34" charset="0"/>
              <a:buChar char="​"/>
              <a:defRPr sz="2400" b="0">
                <a:latin typeface="+mn-lt"/>
                <a:ea typeface="+mn-ea"/>
                <a:cs typeface="+mn-cs"/>
              </a:defRPr>
            </a:lvl3pPr>
            <a:lvl4pPr marL="0" indent="0">
              <a:buFont typeface="Arial" panose="020B0604020202020204" pitchFamily="34" charset="0"/>
              <a:buChar char="​"/>
              <a:defRPr sz="2400" b="0">
                <a:latin typeface="+mn-lt"/>
                <a:ea typeface="+mn-ea"/>
                <a:cs typeface="+mn-cs"/>
              </a:defRPr>
            </a:lvl4pPr>
            <a:lvl5pPr marL="0" indent="0">
              <a:buFont typeface="Arial" panose="020B0604020202020204" pitchFamily="34" charset="0"/>
              <a:buChar char="​"/>
              <a:defRPr sz="2400" b="0">
                <a:latin typeface="+mn-lt"/>
                <a:ea typeface="+mn-ea"/>
                <a:cs typeface="+mn-cs"/>
              </a:defRPr>
            </a:lvl5pPr>
            <a:lvl6pPr marL="0" indent="0">
              <a:buFont typeface="Arial" panose="020B0604020202020204" pitchFamily="34" charset="0"/>
              <a:buChar char="​"/>
              <a:defRPr sz="2400" b="0">
                <a:latin typeface="+mn-lt"/>
                <a:ea typeface="+mn-ea"/>
                <a:cs typeface="+mn-cs"/>
              </a:defRPr>
            </a:lvl6pPr>
            <a:lvl7pPr marL="0" indent="0">
              <a:buFont typeface="Arial" panose="020B0604020202020204" pitchFamily="34" charset="0"/>
              <a:buChar char="​"/>
              <a:defRPr sz="2400" b="0">
                <a:latin typeface="+mn-lt"/>
                <a:ea typeface="+mn-ea"/>
                <a:cs typeface="+mn-cs"/>
              </a:defRPr>
            </a:lvl7pPr>
            <a:lvl8pPr marL="0" indent="0">
              <a:buFont typeface="Arial" panose="020B0604020202020204" pitchFamily="34" charset="0"/>
              <a:buChar char="​"/>
              <a:defRPr sz="2400" b="0">
                <a:latin typeface="+mn-lt"/>
                <a:ea typeface="+mn-ea"/>
                <a:cs typeface="+mn-cs"/>
              </a:defRPr>
            </a:lvl8pPr>
            <a:lvl9pPr marL="0" indent="0">
              <a:buFont typeface="Arial" panose="020B0604020202020204" pitchFamily="34" charset="0"/>
              <a:buChar char="​"/>
              <a:defRPr sz="2400" b="0">
                <a:latin typeface="+mn-lt"/>
                <a:ea typeface="+mn-ea"/>
                <a:cs typeface="+mn-cs"/>
              </a:defRPr>
            </a:lvl9pPr>
          </a:lstStyle>
          <a:p>
            <a:pPr lvl="0"/>
            <a:r>
              <a:t>Click to add section title</a:t>
            </a:r>
          </a:p>
          <a:p>
            <a:pPr lvl="1"/>
            <a:r>
              <a:t>Click to add section subtitle</a:t>
            </a:r>
          </a:p>
        </p:txBody>
      </p:sp>
      <p:sp>
        <p:nvSpPr>
          <p:cNvPr id="3" name="SectionNumber"/>
          <p:cNvSpPr>
            <a:spLocks noGrp="1"/>
          </p:cNvSpPr>
          <p:nvPr>
            <p:ph type="body" sz="quarter" idx="12" hasCustomPrompt="1"/>
          </p:nvPr>
        </p:nvSpPr>
        <p:spPr>
          <a:xfrm>
            <a:off x="6070341" y="3903345"/>
            <a:ext cx="5664459" cy="2954655"/>
          </a:xfrm>
        </p:spPr>
        <p:txBody>
          <a:bodyPr wrap="square" lIns="0" tIns="0" rIns="0" bIns="0" anchor="b">
            <a:spAutoFit/>
          </a:bodyPr>
          <a:lstStyle>
            <a:lvl1pPr marL="0" indent="0" algn="r" fontAlgn="base">
              <a:lnSpc>
                <a:spcPct val="100000"/>
              </a:lnSpc>
              <a:spcBef>
                <a:spcPts val="0"/>
              </a:spcBef>
              <a:spcAft>
                <a:spcPts val="0"/>
              </a:spcAft>
              <a:buFont typeface="Arial" panose="020B0604020202020204" pitchFamily="34" charset="0"/>
              <a:buChar char="​"/>
              <a:defRPr sz="19200">
                <a:solidFill>
                  <a:schemeClr val="tx1"/>
                </a:solidFill>
                <a:latin typeface="+mj-lt"/>
                <a:ea typeface="+mj-ea"/>
                <a:cs typeface="+mj-cs"/>
              </a:defRPr>
            </a:lvl1pPr>
            <a:lvl2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2pPr>
            <a:lvl3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3pPr>
            <a:lvl4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4pPr>
            <a:lvl5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5pPr>
            <a:lvl6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6pPr>
            <a:lvl7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7pPr>
            <a:lvl8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8pPr>
            <a:lvl9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9pPr>
          </a:lstStyle>
          <a:p>
            <a:pPr lvl="0"/>
            <a: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Ref idx="1001">
        <a:schemeClr val="bg2"/>
      </p:bgRef>
    </p:bg>
    <p:spTree>
      <p:nvGrpSpPr>
        <p:cNvPr id="1" name=""/>
        <p:cNvGrpSpPr/>
        <p:nvPr/>
      </p:nvGrpSpPr>
      <p:grpSpPr>
        <a:xfrm>
          <a:off x="0" y="0"/>
          <a:ext cx="0" cy="0"/>
          <a:chOff x="0" y="0"/>
          <a:chExt cx="0" cy="0"/>
        </a:xfrm>
      </p:grpSpPr>
      <p:sp>
        <p:nvSpPr>
          <p:cNvPr id="2" name="Title"/>
          <p:cNvSpPr>
            <a:spLocks noGrp="1"/>
          </p:cNvSpPr>
          <p:nvPr>
            <p:ph type="ctrTitle" hasCustomPrompt="1"/>
          </p:nvPr>
        </p:nvSpPr>
        <p:spPr>
          <a:xfrm>
            <a:off x="457200" y="2705300"/>
            <a:ext cx="7442200" cy="609400"/>
          </a:xfrm>
        </p:spPr>
        <p:txBody>
          <a:bodyPr anchor="b">
            <a:spAutoFit/>
          </a:bodyPr>
          <a:lstStyle>
            <a:lvl1pPr>
              <a:defRPr sz="4400">
                <a:solidFill>
                  <a:schemeClr val="tx1"/>
                </a:solidFill>
                <a:latin typeface="+mj-lt"/>
                <a:ea typeface="+mj-ea"/>
                <a:cs typeface="+mj-cs"/>
              </a:defRPr>
            </a:lvl1pPr>
          </a:lstStyle>
          <a:p>
            <a:pPr lvl="0"/>
            <a:r>
              <a:t>Title</a:t>
            </a:r>
          </a:p>
        </p:txBody>
      </p:sp>
      <p:sp>
        <p:nvSpPr>
          <p:cNvPr id="3" name="Subtitle"/>
          <p:cNvSpPr>
            <a:spLocks noGrp="1"/>
          </p:cNvSpPr>
          <p:nvPr>
            <p:ph type="body" sz="quarter" idx="11" hasCustomPrompt="1"/>
          </p:nvPr>
        </p:nvSpPr>
        <p:spPr>
          <a:xfrm>
            <a:off x="8128000" y="2790505"/>
            <a:ext cx="3606800" cy="430887"/>
          </a:xfrm>
        </p:spPr>
        <p:txBody>
          <a:bodyPr wrap="square" lIns="0" tIns="0" rIns="0" bIns="0" anchor="b">
            <a:spAutoFit/>
          </a:bodyPr>
          <a:lstStyle>
            <a:lvl1pPr marL="0" marR="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sz="1400">
                <a:solidFill>
                  <a:schemeClr val="tx1"/>
                </a:solidFill>
              </a:defRPr>
            </a:lvl1pPr>
            <a:lvl2pPr marL="0" indent="0">
              <a:spcBef>
                <a:spcPts val="0"/>
              </a:spcBef>
              <a:spcAft>
                <a:spcPts val="0"/>
              </a:spcAft>
              <a:buFont typeface="Arial" panose="020B0604020202020204" pitchFamily="34" charset="0"/>
              <a:buChar char="​"/>
              <a:defRPr sz="1800">
                <a:solidFill>
                  <a:schemeClr val="tx1"/>
                </a:solidFill>
              </a:defRPr>
            </a:lvl2pPr>
            <a:lvl3pPr marL="0" indent="0">
              <a:spcBef>
                <a:spcPts val="0"/>
              </a:spcBef>
              <a:spcAft>
                <a:spcPts val="0"/>
              </a:spcAft>
              <a:buFont typeface="Arial" panose="020B0604020202020204" pitchFamily="34" charset="0"/>
              <a:buChar char="​"/>
              <a:defRPr sz="1800">
                <a:solidFill>
                  <a:schemeClr val="tx1"/>
                </a:solidFill>
              </a:defRPr>
            </a:lvl3pPr>
            <a:lvl4pPr marL="0" indent="0">
              <a:spcBef>
                <a:spcPts val="0"/>
              </a:spcBef>
              <a:spcAft>
                <a:spcPts val="0"/>
              </a:spcAft>
              <a:buFont typeface="Arial" panose="020B0604020202020204" pitchFamily="34" charset="0"/>
              <a:buChar char="​"/>
              <a:defRPr sz="1800">
                <a:solidFill>
                  <a:schemeClr val="tx1"/>
                </a:solidFill>
              </a:defRPr>
            </a:lvl4pPr>
            <a:lvl5pPr marL="0" indent="0">
              <a:spcBef>
                <a:spcPts val="0"/>
              </a:spcBef>
              <a:spcAft>
                <a:spcPts val="0"/>
              </a:spcAft>
              <a:buFont typeface="Arial" panose="020B0604020202020204" pitchFamily="34" charset="0"/>
              <a:buChar char="​"/>
              <a:defRPr sz="1800" b="0">
                <a:solidFill>
                  <a:schemeClr val="tx1"/>
                </a:solidFill>
              </a:defRPr>
            </a:lvl5pPr>
            <a:lvl6pPr marL="0" indent="0">
              <a:spcBef>
                <a:spcPts val="0"/>
              </a:spcBef>
              <a:spcAft>
                <a:spcPts val="0"/>
              </a:spcAft>
              <a:buFont typeface="Arial" panose="020B0604020202020204" pitchFamily="34" charset="0"/>
              <a:buChar char="​"/>
              <a:defRPr sz="1800">
                <a:solidFill>
                  <a:schemeClr val="tx1"/>
                </a:solidFill>
              </a:defRPr>
            </a:lvl6pPr>
            <a:lvl7pPr marL="0" indent="0">
              <a:spcBef>
                <a:spcPts val="0"/>
              </a:spcBef>
              <a:spcAft>
                <a:spcPts val="0"/>
              </a:spcAft>
              <a:buFont typeface="Arial" panose="020B0604020202020204" pitchFamily="34" charset="0"/>
              <a:buChar char="​"/>
              <a:defRPr sz="1800">
                <a:solidFill>
                  <a:schemeClr val="tx1"/>
                </a:solidFill>
              </a:defRPr>
            </a:lvl7pPr>
            <a:lvl8pPr marL="0" indent="0">
              <a:spcBef>
                <a:spcPts val="0"/>
              </a:spcBef>
              <a:spcAft>
                <a:spcPts val="0"/>
              </a:spcAft>
              <a:buFont typeface="Arial" panose="020B0604020202020204" pitchFamily="34" charset="0"/>
              <a:buChar char="​"/>
              <a:defRPr sz="1800">
                <a:solidFill>
                  <a:schemeClr val="tx1"/>
                </a:solidFill>
              </a:defRPr>
            </a:lvl8pPr>
            <a:lvl9pPr marL="0" indent="0">
              <a:spcBef>
                <a:spcPts val="0"/>
              </a:spcBef>
              <a:spcAft>
                <a:spcPts val="0"/>
              </a:spcAft>
              <a:buFont typeface="Arial" panose="020B0604020202020204" pitchFamily="34" charset="0"/>
              <a:buChar char="​"/>
              <a:defRPr sz="1800">
                <a:solidFill>
                  <a:schemeClr val="tx1"/>
                </a:solidFill>
              </a:defRPr>
            </a:lvl9p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t>Subtitle</a:t>
            </a:r>
            <a:br>
              <a:rPr/>
            </a:br>
            <a:r>
              <a:t>Date, Presenter, Location (optional), etc.</a:t>
            </a:r>
          </a:p>
        </p:txBody>
      </p:sp>
      <p:pic>
        <p:nvPicPr>
          <p:cNvPr id="5" name="DTP_CompanyLogo">
            <a:extLst>
              <a:ext uri="{FF2B5EF4-FFF2-40B4-BE49-F238E27FC236}">
                <a16:creationId xmlns:a16="http://schemas.microsoft.com/office/drawing/2014/main" id="{DBCC654F-89B9-D0CE-0010-FB44585C8E7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7200" y="457200"/>
            <a:ext cx="2488387" cy="475488"/>
          </a:xfrm>
          <a:prstGeom prst="rect">
            <a:avLst/>
          </a:prstGeom>
        </p:spPr>
      </p:pic>
      <p:sp>
        <p:nvSpPr>
          <p:cNvPr id="7" name="Picture">
            <a:extLst>
              <a:ext uri="{FF2B5EF4-FFF2-40B4-BE49-F238E27FC236}">
                <a16:creationId xmlns:a16="http://schemas.microsoft.com/office/drawing/2014/main" id="{497E5236-F463-B055-9C7A-37B46D9AE818}"/>
              </a:ext>
            </a:extLst>
          </p:cNvPr>
          <p:cNvSpPr>
            <a:spLocks noGrp="1"/>
          </p:cNvSpPr>
          <p:nvPr>
            <p:ph type="pic" sz="quarter" idx="14"/>
          </p:nvPr>
        </p:nvSpPr>
        <p:spPr>
          <a:xfrm>
            <a:off x="457200" y="3543300"/>
            <a:ext cx="11277600" cy="3314700"/>
          </a:xfrm>
        </p:spPr>
        <p:txBody>
          <a:bodyPr/>
          <a:lstStyle/>
          <a:p>
            <a:r>
              <a:rPr lang="en-GB"/>
              <a:t>Click icon to add picture</a:t>
            </a:r>
            <a:endParaRPr lang="en-US"/>
          </a:p>
        </p:txBody>
      </p:sp>
    </p:spTree>
    <p:extLst>
      <p:ext uri="{BB962C8B-B14F-4D97-AF65-F5344CB8AC3E}">
        <p14:creationId xmlns:p14="http://schemas.microsoft.com/office/powerpoint/2010/main" val="28778274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8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s">
    <p:bg>
      <p:bgPr>
        <a:solidFill>
          <a:schemeClr val="bg2"/>
        </a:solidFill>
        <a:effectLst/>
      </p:bgPr>
    </p:bg>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57200" y="384048"/>
            <a:ext cx="5413248" cy="797052"/>
          </a:xfrm>
        </p:spPr>
        <p:txBody>
          <a:bodyPr/>
          <a:lstStyle>
            <a:lvl1pPr>
              <a:defRPr sz="4800"/>
            </a:lvl1pPr>
          </a:lstStyle>
          <a:p>
            <a:r>
              <a:t>Contents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9" name="DTP_Confidentiality"/>
          <p:cNvGraphicFramePr>
            <a:graphicFrameLocks noGrp="1"/>
          </p:cNvGraphicFramePr>
          <p:nvPr>
            <p:extLst>
              <p:ext uri="{D42A27DB-BD31-4B8C-83A1-F6EECF244321}">
                <p14:modId xmlns:p14="http://schemas.microsoft.com/office/powerpoint/2010/main" val="1289134354"/>
              </p:ext>
            </p:extLst>
          </p:nvPr>
        </p:nvGraphicFramePr>
        <p:xfrm>
          <a:off x="457200" y="2529840"/>
          <a:ext cx="9359900" cy="1798320"/>
        </p:xfrm>
        <a:graphic>
          <a:graphicData uri="http://schemas.openxmlformats.org/drawingml/2006/table">
            <a:tbl>
              <a:tblPr/>
              <a:tblGrid>
                <a:gridCol w="9359900">
                  <a:extLst>
                    <a:ext uri="{9D8B030D-6E8A-4147-A177-3AD203B41FA5}">
                      <a16:colId xmlns:a16="http://schemas.microsoft.com/office/drawing/2014/main" val="20000"/>
                    </a:ext>
                  </a:extLst>
                </a:gridCol>
              </a:tblGrid>
              <a:tr h="548640">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sz="2600" b="0" cap="none">
                          <a:ln>
                            <a:noFill/>
                          </a:ln>
                          <a:solidFill>
                            <a:schemeClr val="tx1"/>
                          </a:solidFill>
                          <a:effectLst/>
                          <a:latin typeface="+mj-lt"/>
                          <a:ea typeface="+mj-ea"/>
                          <a:cs typeface="+mj-cs"/>
                        </a:rPr>
                        <a:t>Confidentiality</a:t>
                      </a: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sz="1200">
                          <a:ln>
                            <a:noFill/>
                          </a:ln>
                          <a:solidFill>
                            <a:schemeClr val="tx1"/>
                          </a:solidFill>
                          <a:effectLst/>
                          <a:latin typeface="+mn-lt"/>
                          <a:ea typeface="+mn-ea"/>
                          <a:cs typeface="+mn-cs"/>
                        </a:rPr>
                        <a:t>Our clients’ industries are extremely competitive, and the maintenance of confidentiality with respect to our clients’ plans and data is critical. Oliver Wyman rigorously applies internal confidentiality practices to protect the confidentiality of all client information.
Similarly, our industry is very competitive. We view our approaches and insights as proprietary and therefore look to our clients to protect our interests in our proposals, presentations, methodologies, and analytical techniques. Under no circumstances should this material be shared with any third party without the prior written consent of Oliver Wyman.
© Oliver Wyman</a:t>
                      </a: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08732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graphicFrame>
        <p:nvGraphicFramePr>
          <p:cNvPr id="3" name="TextConfOW-S-"/>
          <p:cNvGraphicFramePr>
            <a:graphicFrameLocks noGrp="1"/>
          </p:cNvGraphicFramePr>
          <p:nvPr>
            <p:extLst>
              <p:ext uri="{D42A27DB-BD31-4B8C-83A1-F6EECF244321}">
                <p14:modId xmlns:p14="http://schemas.microsoft.com/office/powerpoint/2010/main" val="3696990213"/>
              </p:ext>
            </p:extLst>
          </p:nvPr>
        </p:nvGraphicFramePr>
        <p:xfrm>
          <a:off x="457198" y="1668780"/>
          <a:ext cx="9359901" cy="3520440"/>
        </p:xfrm>
        <a:graphic>
          <a:graphicData uri="http://schemas.openxmlformats.org/drawingml/2006/table">
            <a:tbl>
              <a:tblPr/>
              <a:tblGrid>
                <a:gridCol w="9359901">
                  <a:extLst>
                    <a:ext uri="{9D8B030D-6E8A-4147-A177-3AD203B41FA5}">
                      <a16:colId xmlns:a16="http://schemas.microsoft.com/office/drawing/2014/main" val="20000"/>
                    </a:ext>
                  </a:extLst>
                </a:gridCol>
              </a:tblGrid>
              <a:tr h="548640">
                <a:tc>
                  <a:txBody>
                    <a:bodyPr/>
                    <a:lstStyle/>
                    <a:p>
                      <a:pPr marL="0" marR="0" lvl="0" indent="0" algn="l" defTabSz="914400" rtl="0" eaLnBrk="1" fontAlgn="base" latinLnBrk="0" hangingPunct="1">
                        <a:lnSpc>
                          <a:spcPct val="100000"/>
                        </a:lnSpc>
                        <a:spcBef>
                          <a:spcPts val="0"/>
                        </a:spcBef>
                        <a:spcAft>
                          <a:spcPts val="600"/>
                        </a:spcAft>
                        <a:buClrTx/>
                        <a:buSzTx/>
                        <a:buFontTx/>
                        <a:buNone/>
                        <a:tabLst/>
                      </a:pPr>
                      <a:r>
                        <a:rPr sz="2600" b="0" cap="none">
                          <a:ln>
                            <a:noFill/>
                          </a:ln>
                          <a:solidFill>
                            <a:schemeClr val="tx1"/>
                          </a:solidFill>
                          <a:effectLst/>
                          <a:latin typeface="+mj-lt"/>
                          <a:ea typeface="+mj-ea"/>
                          <a:cs typeface="+mj-cs"/>
                        </a:rPr>
                        <a:t>Qualifications, assumptions, and limiting conditions</a:t>
                      </a: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sz="1200">
                          <a:ln>
                            <a:noFill/>
                          </a:ln>
                          <a:solidFill>
                            <a:schemeClr val="tx1"/>
                          </a:solidFill>
                          <a:effectLst/>
                          <a:latin typeface="+mn-lt"/>
                          <a:ea typeface="+mn-ea"/>
                          <a:cs typeface="+mn-cs"/>
                        </a:rPr>
                        <a:t>This report is for the exclusive use of the Oliver Wyman client named herein. This report is not intended for general circulation or publication, nor is it to be reproduced, quoted, or distributed for any purpose without the prior written permission of Oliver Wyman. There are no third‑party beneficiaries with respect to this report, and Oliver Wyman does not accept any liability to any third party.
Information furnished by others, upon which all or portions of this report are based, is believed to be reliable but has not been independently verified, unless otherwise expressly indicated. Public information and industry and statistical data are from sources we deem to be reliable; however, we make no representation as to the accuracy or completeness of such information. The findings contained in this report may contain predictions based on current data and historical trends. Any such predictions are subject to inherent risks and uncertainties. Oliver Wyman accepts no responsibility for actual results or future events.
The opinions expressed in this report are valid only for the purpose stated herein and as of the date of this report. No obligation is assumed to revise this report to reflect changes, events, or conditions, which occur subsequent to the date hereof.
All decisions in connection with the implementation or use of advice or recommendations contained in this report are the sole responsibility of the client. This report does not represent investment advice nor does it provide an opinion regarding the fairness of any transaction to any and all parties. In addition, this report does not represent legal, medical, accounting, safety, or other specialized advice. For any such advice, Oliver Wyman recommends seeking and obtaining advice from a qualified professional.</a:t>
                      </a: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916813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ackcover">
    <p:bg>
      <p:bgPr>
        <a:solidFill>
          <a:schemeClr val="bg2"/>
        </a:solidFill>
        <a:effectLst/>
      </p:bgPr>
    </p:bg>
    <p:spTree>
      <p:nvGrpSpPr>
        <p:cNvPr id="1" name=""/>
        <p:cNvGrpSpPr/>
        <p:nvPr/>
      </p:nvGrpSpPr>
      <p:grpSpPr>
        <a:xfrm>
          <a:off x="0" y="0"/>
          <a:ext cx="0" cy="0"/>
          <a:chOff x="0" y="0"/>
          <a:chExt cx="0" cy="0"/>
        </a:xfrm>
      </p:grpSpPr>
      <p:pic>
        <p:nvPicPr>
          <p:cNvPr id="3" name="DTP_CompanyLogo">
            <a:extLst>
              <a:ext uri="{FF2B5EF4-FFF2-40B4-BE49-F238E27FC236}">
                <a16:creationId xmlns:a16="http://schemas.microsoft.com/office/drawing/2014/main" id="{68BED5E4-76F9-EFCF-898B-D9C98C052C5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7200" y="3191256"/>
            <a:ext cx="2488387" cy="475488"/>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tags" Target="../tags/tag2.xml"/><Relationship Id="rId21" Type="http://schemas.openxmlformats.org/officeDocument/2006/relationships/oleObject" Target="../embeddings/oleObject1.bin"/><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44477464-1B8E-BD3E-594C-240EA66E0548}"/>
              </a:ext>
            </a:extLst>
          </p:cNvPr>
          <p:cNvGraphicFramePr>
            <a:graphicFrameLocks noChangeAspect="1"/>
          </p:cNvGraphicFramePr>
          <p:nvPr userDrawn="1">
            <p:custDataLst>
              <p:tags r:id="rId20"/>
            </p:custDataLst>
            <p:extLst>
              <p:ext uri="{D42A27DB-BD31-4B8C-83A1-F6EECF244321}">
                <p14:modId xmlns:p14="http://schemas.microsoft.com/office/powerpoint/2010/main" val="33404109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469" imgH="469" progId="TCLayout.ActiveDocument.1">
                  <p:embed/>
                </p:oleObj>
              </mc:Choice>
              <mc:Fallback>
                <p:oleObj name="think-cell Slide" r:id="rId21" imgW="469" imgH="469" progId="TCLayout.ActiveDocument.1">
                  <p:embed/>
                  <p:pic>
                    <p:nvPicPr>
                      <p:cNvPr id="11" name="think-cell data - do not delete" hidden="1">
                        <a:extLst>
                          <a:ext uri="{FF2B5EF4-FFF2-40B4-BE49-F238E27FC236}">
                            <a16:creationId xmlns:a16="http://schemas.microsoft.com/office/drawing/2014/main" id="{44477464-1B8E-BD3E-594C-240EA66E0548}"/>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a:xfrm>
            <a:off x="457200" y="384048"/>
            <a:ext cx="11277600" cy="797052"/>
          </a:xfrm>
          <a:prstGeom prst="rect">
            <a:avLst/>
          </a:prstGeom>
        </p:spPr>
        <p:txBody>
          <a:bodyPr vert="horz" lIns="0" tIns="0" rIns="0" bIns="0" rtlCol="0" anchorCtr="0">
            <a:noAutofit/>
          </a:bodyPr>
          <a:lstStyle/>
          <a:p>
            <a:r>
              <a:rPr lang="en-GB"/>
              <a:t>Click to edit Master title style</a:t>
            </a:r>
            <a:endParaRPr lang="en-US"/>
          </a:p>
        </p:txBody>
      </p:sp>
      <p:sp>
        <p:nvSpPr>
          <p:cNvPr id="3" name="BodyText"/>
          <p:cNvSpPr>
            <a:spLocks noGrp="1"/>
          </p:cNvSpPr>
          <p:nvPr>
            <p:ph type="body" idx="1"/>
          </p:nvPr>
        </p:nvSpPr>
        <p:spPr>
          <a:xfrm>
            <a:off x="457200" y="1409700"/>
            <a:ext cx="11277600" cy="4899660"/>
          </a:xfrm>
          <a:prstGeom prst="rect">
            <a:avLst/>
          </a:prstGeom>
        </p:spPr>
        <p:txBody>
          <a:bodyPr vert="horz" lIns="0" tIns="0" rIns="0" bIns="0" rtlCol="0">
            <a:noAutofit/>
          </a:bodyPr>
          <a:lstStyle/>
          <a:p>
            <a:pPr lvl="0"/>
            <a:r>
              <a:t>First level - Body text</a:t>
            </a:r>
          </a:p>
          <a:p>
            <a:pPr lvl="1"/>
            <a:r>
              <a:t>Second level</a:t>
            </a:r>
          </a:p>
          <a:p>
            <a:pPr lvl="2"/>
            <a:r>
              <a:t>Third level</a:t>
            </a:r>
          </a:p>
          <a:p>
            <a:pPr lvl="3"/>
            <a:r>
              <a:t>Fourth level</a:t>
            </a:r>
          </a:p>
          <a:p>
            <a:pPr lvl="4"/>
            <a:r>
              <a:t>Fifth level - Heading</a:t>
            </a:r>
          </a:p>
          <a:p>
            <a:pPr lvl="5"/>
            <a:r>
              <a:t>Sixth level - Subheading</a:t>
            </a:r>
          </a:p>
          <a:p>
            <a:pPr lvl="6"/>
            <a:r>
              <a:t>Seventh level</a:t>
            </a:r>
          </a:p>
          <a:p>
            <a:pPr lvl="7"/>
            <a:r>
              <a:t>Eighth level</a:t>
            </a:r>
          </a:p>
          <a:p>
            <a:pPr lvl="8"/>
            <a:r>
              <a:t>Ninth level</a:t>
            </a:r>
          </a:p>
        </p:txBody>
      </p:sp>
      <p:sp>
        <p:nvSpPr>
          <p:cNvPr id="8" name="DTP_Copyright"/>
          <p:cNvSpPr txBox="1"/>
          <p:nvPr/>
        </p:nvSpPr>
        <p:spPr>
          <a:xfrm>
            <a:off x="457200" y="6567848"/>
            <a:ext cx="793487" cy="123111"/>
          </a:xfrm>
          <a:prstGeom prst="rect">
            <a:avLst/>
          </a:prstGeom>
          <a:noFill/>
        </p:spPr>
        <p:txBody>
          <a:bodyPr wrap="none" lIns="0" tIns="0" rIns="0" bIns="0" rtlCol="0" anchor="ctr" anchorCtr="0">
            <a:spAutoFit/>
          </a:bodyPr>
          <a:lstStyle/>
          <a:p>
            <a:pPr marL="0" indent="0" algn="l" defTabSz="914400" rtl="0" eaLnBrk="1" latinLnBrk="0" hangingPunct="1">
              <a:lnSpc>
                <a:spcPct val="100000"/>
              </a:lnSpc>
              <a:spcBef>
                <a:spcPct val="0"/>
              </a:spcBef>
              <a:spcAft>
                <a:spcPct val="0"/>
              </a:spcAft>
              <a:buFontTx/>
              <a:buNone/>
            </a:pPr>
            <a:r>
              <a:rPr sz="800">
                <a:solidFill>
                  <a:schemeClr val="tx1"/>
                </a:solidFill>
                <a:latin typeface="+mn-lt"/>
                <a:ea typeface="+mn-ea"/>
                <a:cs typeface="+mn-cs"/>
              </a:rPr>
              <a:t>© Oliver Wyman</a:t>
            </a:r>
          </a:p>
        </p:txBody>
      </p:sp>
      <p:sp>
        <p:nvSpPr>
          <p:cNvPr id="7" name="SlideNumber"/>
          <p:cNvSpPr txBox="1"/>
          <p:nvPr/>
        </p:nvSpPr>
        <p:spPr>
          <a:xfrm>
            <a:off x="11604960" y="6567850"/>
            <a:ext cx="129850" cy="123110"/>
          </a:xfrm>
          <a:prstGeom prst="rect">
            <a:avLst/>
          </a:prstGeom>
          <a:noFill/>
        </p:spPr>
        <p:txBody>
          <a:bodyPr wrap="none" lIns="0" tIns="0" rIns="0" bIns="0" rtlCol="0" anchor="ctr">
            <a:spAutoFit/>
          </a:bodyPr>
          <a:lstStyle/>
          <a:p>
            <a:pPr marL="0" marR="0" indent="0" algn="r" defTabSz="914370" rtl="0" eaLnBrk="1" fontAlgn="auto" latinLnBrk="0" hangingPunct="1">
              <a:lnSpc>
                <a:spcPct val="100000"/>
              </a:lnSpc>
              <a:spcBef>
                <a:spcPts val="0"/>
              </a:spcBef>
              <a:spcAft>
                <a:spcPts val="0"/>
              </a:spcAft>
              <a:buClrTx/>
              <a:buSzTx/>
              <a:buFontTx/>
              <a:buNone/>
              <a:tabLst/>
              <a:defRPr/>
            </a:pPr>
            <a:fld id="{8F63CC74-D785-4C96-8C6E-EB177D1B9A1D}" type="slidenum">
              <a:rPr sz="800" smtClean="0">
                <a:solidFill>
                  <a:schemeClr val="tx1"/>
                </a:solidFill>
              </a:rPr>
              <a:pPr marL="0" marR="0" indent="0" algn="r" defTabSz="914370" rtl="0" eaLnBrk="1" fontAlgn="auto" latinLnBrk="0" hangingPunct="1">
                <a:lnSpc>
                  <a:spcPct val="100000"/>
                </a:lnSpc>
                <a:spcBef>
                  <a:spcPts val="0"/>
                </a:spcBef>
                <a:spcAft>
                  <a:spcPts val="0"/>
                </a:spcAft>
                <a:buClrTx/>
                <a:buSzTx/>
                <a:buFontTx/>
                <a:buNone/>
                <a:tabLst/>
                <a:defRPr/>
              </a:pPr>
              <a:t>‹#›</a:t>
            </a:fld>
            <a:endParaRPr sz="800" lang="en-US">
              <a:solidFill>
                <a:schemeClr val="tx1"/>
              </a:solidFill>
            </a:endParaRPr>
          </a:p>
        </p:txBody>
      </p:sp>
      <p:sp>
        <p:nvSpPr>
          <p:cNvPr id="4" name="Date Placeholder" hidden="1"/>
          <p:cNvSpPr>
            <a:spLocks noGrp="1"/>
          </p:cNvSpPr>
          <p:nvPr>
            <p:ph type="dt" sz="half" idx="2"/>
          </p:nvPr>
        </p:nvSpPr>
        <p:spPr>
          <a:xfrm>
            <a:off x="10968687" y="6864350"/>
            <a:ext cx="522516" cy="98425"/>
          </a:xfrm>
          <a:prstGeom prst="rect">
            <a:avLst/>
          </a:prstGeom>
        </p:spPr>
        <p:txBody>
          <a:bodyPr vert="horz" lIns="0" tIns="0" rIns="0" bIns="0" rtlCol="0" anchor="ctr"/>
          <a:lstStyle>
            <a:lvl1pPr algn="l">
              <a:defRPr sz="800">
                <a:solidFill>
                  <a:schemeClr val="tx1"/>
                </a:solidFill>
              </a:defRPr>
            </a:lvl1pPr>
          </a:lstStyle>
          <a:p>
            <a:fld id="{7ECE2914-4E17-487A-A4E5-C87617449E51}" type="datetimeFigureOut">
              <a:pPr/>
              <a:t>06.05.26</a:t>
            </a:fld>
            <a:endParaRPr sz="800" lang="en-US"/>
          </a:p>
        </p:txBody>
      </p:sp>
      <p:sp>
        <p:nvSpPr>
          <p:cNvPr id="5" name="Footer Placeholder" hidden="1"/>
          <p:cNvSpPr>
            <a:spLocks noGrp="1"/>
          </p:cNvSpPr>
          <p:nvPr>
            <p:ph type="ftr" sz="quarter" idx="3"/>
          </p:nvPr>
        </p:nvSpPr>
        <p:spPr>
          <a:xfrm>
            <a:off x="5757334" y="6580188"/>
            <a:ext cx="677333" cy="98425"/>
          </a:xfrm>
          <a:prstGeom prst="rect">
            <a:avLst/>
          </a:prstGeom>
        </p:spPr>
        <p:txBody>
          <a:bodyPr vert="horz" lIns="0" tIns="0" rIns="0" bIns="0" rtlCol="0" anchor="ctr"/>
          <a:lstStyle>
            <a:lvl1pPr algn="ctr">
              <a:defRPr sz="800">
                <a:solidFill>
                  <a:schemeClr val="tx1"/>
                </a:solidFill>
              </a:defRPr>
            </a:lvl1pPr>
          </a:lstStyle>
          <a:p>
            <a:endParaRPr sz="800" lang="en-US"/>
          </a:p>
        </p:txBody>
      </p:sp>
      <p:sp>
        <p:nvSpPr>
          <p:cNvPr id="6" name="Slide Number Placeholder" hidden="1"/>
          <p:cNvSpPr>
            <a:spLocks noGrp="1"/>
          </p:cNvSpPr>
          <p:nvPr>
            <p:ph type="sldNum" sz="quarter" idx="4"/>
          </p:nvPr>
        </p:nvSpPr>
        <p:spPr>
          <a:xfrm>
            <a:off x="11541276" y="6864350"/>
            <a:ext cx="193524" cy="98425"/>
          </a:xfrm>
          <a:prstGeom prst="rect">
            <a:avLst/>
          </a:prstGeom>
        </p:spPr>
        <p:txBody>
          <a:bodyPr vert="horz" lIns="0" tIns="0" rIns="0" bIns="0" rtlCol="0" anchor="ctr"/>
          <a:lstStyle>
            <a:lvl1pPr algn="r">
              <a:defRPr sz="1000">
                <a:solidFill>
                  <a:schemeClr val="tx1"/>
                </a:solidFill>
              </a:defRPr>
            </a:lvl1pPr>
          </a:lstStyle>
          <a:p>
            <a:fld id="{8F63CC74-D785-4C96-8C6E-EB177D1B9A1D}" type="slidenum">
              <a:rPr smtClean="0"/>
              <a:pPr/>
              <a:t>‹#›</a:t>
            </a:fld>
            <a:endParaRPr lang="en-US"/>
          </a:p>
        </p:txBody>
      </p:sp>
      <p:cxnSp>
        <p:nvCxnSpPr>
          <p:cNvPr id="9" name="Line">
            <a:extLst>
              <a:ext uri="{FF2B5EF4-FFF2-40B4-BE49-F238E27FC236}">
                <a16:creationId xmlns:a16="http://schemas.microsoft.com/office/drawing/2014/main" id="{7198974C-7877-52E2-BEA4-04B16B8867A0}"/>
              </a:ext>
              <a:ext uri="{C183D7F6-B498-43B3-948B-1728B52AA6E4}">
                <adec:decorative xmlns:adec="http://schemas.microsoft.com/office/drawing/2017/decorative" val="1"/>
              </a:ext>
            </a:extLst>
          </p:cNvPr>
          <p:cNvCxnSpPr>
            <a:cxnSpLocks/>
          </p:cNvCxnSpPr>
          <p:nvPr/>
        </p:nvCxnSpPr>
        <p:spPr>
          <a:xfrm>
            <a:off x="457200" y="6400800"/>
            <a:ext cx="11277600"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18" r:id="rId1"/>
    <p:sldLayoutId id="2147483691" r:id="rId2"/>
    <p:sldLayoutId id="2147483692" r:id="rId3"/>
    <p:sldLayoutId id="2147483698" r:id="rId4"/>
    <p:sldLayoutId id="2147483704" r:id="rId5"/>
    <p:sldLayoutId id="2147483720" r:id="rId6"/>
    <p:sldLayoutId id="2147483702" r:id="rId7"/>
    <p:sldLayoutId id="2147483703" r:id="rId8"/>
    <p:sldLayoutId id="2147483695" r:id="rId9"/>
    <p:sldLayoutId id="2147483725" r:id="rId10"/>
    <p:sldLayoutId id="2147483726" r:id="rId11"/>
    <p:sldLayoutId id="2147483719" r:id="rId12"/>
    <p:sldLayoutId id="2147483721" r:id="rId13"/>
    <p:sldLayoutId id="2147483713" r:id="rId14"/>
    <p:sldLayoutId id="2147483722" r:id="rId15"/>
    <p:sldLayoutId id="2147483723" r:id="rId16"/>
    <p:sldLayoutId id="2147483716" r:id="rId17"/>
    <p:sldLayoutId id="2147483717" r:id="rId18"/>
  </p:sldLayoutIdLst>
  <p:txStyles>
    <p:titleStyle>
      <a:lvl1pPr algn="l" defTabSz="914400" rtl="0" eaLnBrk="1" latinLnBrk="0" hangingPunct="1">
        <a:spcBef>
          <a:spcPct val="0"/>
        </a:spcBef>
        <a:buNone/>
        <a:defRPr sz="2600" b="0" kern="0">
          <a:solidFill>
            <a:schemeClr val="tx1"/>
          </a:solidFill>
          <a:latin typeface="+mj-lt"/>
          <a:ea typeface="+mj-ea"/>
          <a:cs typeface="+mj-cs"/>
        </a:defRPr>
      </a:lvl1pPr>
    </p:titleStyle>
    <p:bodyStyle>
      <a:lvl1pPr marL="0" indent="0" algn="l" defTabSz="914400" rtl="0" eaLnBrk="1" latinLnBrk="0" hangingPunct="1">
        <a:spcBef>
          <a:spcPts val="600"/>
        </a:spcBef>
        <a:buFont typeface="Arial" panose="020B0604020202020204" pitchFamily="34" charset="0"/>
        <a:buChar char="​"/>
        <a:defRPr sz="1200" kern="0">
          <a:solidFill>
            <a:schemeClr val="tx1"/>
          </a:solidFill>
          <a:latin typeface="+mn-lt"/>
          <a:ea typeface="+mn-ea"/>
          <a:cs typeface="+mn-cs"/>
        </a:defRPr>
      </a:lvl1pPr>
      <a:lvl2pPr marL="180000" indent="-180000" algn="l" defTabSz="914400" rtl="0" eaLnBrk="1" latinLnBrk="0" hangingPunct="1">
        <a:spcBef>
          <a:spcPts val="600"/>
        </a:spcBef>
        <a:buFont typeface="Arial" panose="020B0604020202020204" pitchFamily="34" charset="0"/>
        <a:buChar char="•"/>
        <a:defRPr sz="1200" kern="0">
          <a:solidFill>
            <a:schemeClr val="tx1"/>
          </a:solidFill>
          <a:latin typeface="+mn-lt"/>
          <a:ea typeface="+mn-ea"/>
          <a:cs typeface="+mn-cs"/>
        </a:defRPr>
      </a:lvl2pPr>
      <a:lvl3pPr marL="360000" indent="-180000" algn="l" defTabSz="914400" rtl="0" eaLnBrk="1" latinLnBrk="0" hangingPunct="1">
        <a:spcBef>
          <a:spcPts val="300"/>
        </a:spcBef>
        <a:buFont typeface="Arial" panose="020B0604020202020204" pitchFamily="34" charset="0"/>
        <a:buChar char="–"/>
        <a:defRPr sz="1200" kern="0">
          <a:solidFill>
            <a:schemeClr val="tx1"/>
          </a:solidFill>
          <a:latin typeface="+mn-lt"/>
          <a:ea typeface="+mn-ea"/>
          <a:cs typeface="+mn-cs"/>
        </a:defRPr>
      </a:lvl3pPr>
      <a:lvl4pPr marL="540000" indent="-180000" algn="l" defTabSz="914400" rtl="0" eaLnBrk="1" latinLnBrk="0" hangingPunct="1">
        <a:spcBef>
          <a:spcPts val="300"/>
        </a:spcBef>
        <a:buFont typeface="Arial" panose="020B0604020202020204" pitchFamily="34" charset="0"/>
        <a:buChar char="-"/>
        <a:defRPr sz="1200" kern="0">
          <a:solidFill>
            <a:schemeClr val="tx1"/>
          </a:solidFill>
          <a:latin typeface="+mn-lt"/>
          <a:ea typeface="+mn-ea"/>
          <a:cs typeface="+mn-cs"/>
        </a:defRPr>
      </a:lvl4pPr>
      <a:lvl5pPr marL="0" indent="0" algn="l" defTabSz="914400" rtl="0" eaLnBrk="1" latinLnBrk="0" hangingPunct="1">
        <a:spcBef>
          <a:spcPts val="1500"/>
        </a:spcBef>
        <a:spcAft>
          <a:spcPts val="300"/>
        </a:spcAft>
        <a:buFont typeface="Arial" panose="020B0604020202020204" pitchFamily="34" charset="0"/>
        <a:buChar char="​"/>
        <a:defRPr sz="1200" b="1" kern="0">
          <a:solidFill>
            <a:schemeClr val="tx1"/>
          </a:solidFill>
          <a:latin typeface="+mn-lt"/>
          <a:ea typeface="+mn-ea"/>
          <a:cs typeface="+mn-cs"/>
        </a:defRPr>
      </a:lvl5pPr>
      <a:lvl6pPr marL="0" indent="0" algn="l" defTabSz="914400" rtl="0" eaLnBrk="1" latinLnBrk="0" hangingPunct="1">
        <a:spcBef>
          <a:spcPts val="0"/>
        </a:spcBef>
        <a:spcAft>
          <a:spcPts val="300"/>
        </a:spcAft>
        <a:buFont typeface="Arial" panose="020B0604020202020204" pitchFamily="34" charset="0"/>
        <a:buChar char="​"/>
        <a:defRPr sz="1200" kern="0">
          <a:solidFill>
            <a:schemeClr val="tx1"/>
          </a:solidFill>
          <a:latin typeface="+mn-lt"/>
          <a:ea typeface="+mn-ea"/>
          <a:cs typeface="+mn-cs"/>
        </a:defRPr>
      </a:lvl6pPr>
      <a:lvl7pPr marL="0" indent="0" algn="l" defTabSz="914400" rtl="0" eaLnBrk="1" latinLnBrk="0" hangingPunct="1">
        <a:spcBef>
          <a:spcPts val="0"/>
        </a:spcBef>
        <a:buFont typeface="Arial" panose="020B0604020202020204" pitchFamily="34" charset="0"/>
        <a:buChar char="​"/>
        <a:defRPr sz="2600" kern="0">
          <a:solidFill>
            <a:schemeClr val="tx1"/>
          </a:solidFill>
          <a:latin typeface="+mj-lt"/>
          <a:ea typeface="+mj-ea"/>
          <a:cs typeface="+mj-cs"/>
        </a:defRPr>
      </a:lvl7pPr>
      <a:lvl8pPr marL="0" indent="0" algn="l" defTabSz="914400" rtl="0" eaLnBrk="1" latinLnBrk="0" hangingPunct="1">
        <a:spcBef>
          <a:spcPts val="0"/>
        </a:spcBef>
        <a:buFont typeface="Arial" panose="020B0604020202020204" pitchFamily="34" charset="0"/>
        <a:buChar char="​"/>
        <a:defRPr sz="4000" kern="0">
          <a:solidFill>
            <a:schemeClr val="tx1"/>
          </a:solidFill>
          <a:latin typeface="+mj-lt"/>
          <a:ea typeface="+mj-ea"/>
          <a:cs typeface="+mj-cs"/>
        </a:defRPr>
      </a:lvl8pPr>
      <a:lvl9pPr marL="0" indent="0" algn="l" defTabSz="914400" rtl="0" eaLnBrk="1" latinLnBrk="0" hangingPunct="1">
        <a:spcBef>
          <a:spcPts val="300"/>
        </a:spcBef>
        <a:buFont typeface="Arial" panose="020B0604020202020204" pitchFamily="34" charset="0"/>
        <a:buChar char="​"/>
        <a:defRPr sz="5400" kern="0">
          <a:solidFill>
            <a:schemeClr val="tx1"/>
          </a:solidFill>
          <a:latin typeface="+mj-lt"/>
          <a:ea typeface="+mj-ea"/>
          <a:cs typeface="+mj-cs"/>
        </a:defRPr>
      </a:lvl9pPr>
    </p:bodyStyle>
    <p:otherStyle>
      <a:defPPr/>
      <a:lvl1pPr marL="0" algn="l" defTabSz="914400" rtl="0" eaLnBrk="1" latinLnBrk="0" hangingPunct="1">
        <a:defRPr sz="1200" kern="0">
          <a:solidFill>
            <a:schemeClr val="tx1"/>
          </a:solidFill>
          <a:latin typeface="+mn-lt"/>
          <a:ea typeface="+mn-ea"/>
          <a:cs typeface="+mn-cs"/>
        </a:defRPr>
      </a:lvl1pPr>
      <a:lvl2pPr marL="180000" algn="l" defTabSz="914400" rtl="0" eaLnBrk="1" latinLnBrk="0" hangingPunct="1">
        <a:defRPr sz="1200" kern="0">
          <a:solidFill>
            <a:schemeClr val="tx1"/>
          </a:solidFill>
          <a:latin typeface="+mn-lt"/>
          <a:ea typeface="+mn-ea"/>
          <a:cs typeface="+mn-cs"/>
        </a:defRPr>
      </a:lvl2pPr>
      <a:lvl3pPr marL="360000" algn="l" defTabSz="914400" rtl="0" eaLnBrk="1" latinLnBrk="0" hangingPunct="1">
        <a:defRPr sz="1200" kern="0">
          <a:solidFill>
            <a:schemeClr val="tx1"/>
          </a:solidFill>
          <a:latin typeface="+mn-lt"/>
          <a:ea typeface="+mn-ea"/>
          <a:cs typeface="+mn-cs"/>
        </a:defRPr>
      </a:lvl3pPr>
      <a:lvl4pPr marL="540000" algn="l" defTabSz="914400" rtl="0" eaLnBrk="1" latinLnBrk="0" hangingPunct="1">
        <a:defRPr sz="1200" kern="0">
          <a:solidFill>
            <a:schemeClr val="tx1"/>
          </a:solidFill>
          <a:latin typeface="+mn-lt"/>
          <a:ea typeface="+mn-ea"/>
          <a:cs typeface="+mn-cs"/>
        </a:defRPr>
      </a:lvl4pPr>
      <a:lvl5pPr marL="720000" algn="l" defTabSz="914400" rtl="0" eaLnBrk="1" latinLnBrk="0" hangingPunct="1">
        <a:defRPr sz="1200" kern="0">
          <a:solidFill>
            <a:schemeClr val="tx1"/>
          </a:solidFill>
          <a:latin typeface="+mn-lt"/>
          <a:ea typeface="+mn-ea"/>
          <a:cs typeface="+mn-cs"/>
        </a:defRPr>
      </a:lvl5pPr>
      <a:lvl6pPr marL="900000" algn="l" defTabSz="914400" rtl="0" eaLnBrk="1" latinLnBrk="0" hangingPunct="1">
        <a:defRPr sz="1200" kern="0">
          <a:solidFill>
            <a:schemeClr val="tx1"/>
          </a:solidFill>
          <a:latin typeface="+mn-lt"/>
          <a:ea typeface="+mn-ea"/>
          <a:cs typeface="+mn-cs"/>
        </a:defRPr>
      </a:lvl6pPr>
      <a:lvl7pPr marL="1080000" algn="l" defTabSz="914400" rtl="0" eaLnBrk="1" latinLnBrk="0" hangingPunct="1">
        <a:defRPr sz="1200" kern="0">
          <a:solidFill>
            <a:schemeClr val="tx1"/>
          </a:solidFill>
          <a:latin typeface="+mn-lt"/>
          <a:ea typeface="+mn-ea"/>
          <a:cs typeface="+mn-cs"/>
        </a:defRPr>
      </a:lvl7pPr>
      <a:lvl8pPr marL="1260000" algn="l" defTabSz="914400" rtl="0" eaLnBrk="1" latinLnBrk="0" hangingPunct="1">
        <a:defRPr sz="1200" kern="0">
          <a:solidFill>
            <a:schemeClr val="tx1"/>
          </a:solidFill>
          <a:latin typeface="+mn-lt"/>
          <a:ea typeface="+mn-ea"/>
          <a:cs typeface="+mn-cs"/>
        </a:defRPr>
      </a:lvl8pPr>
      <a:lvl9pPr marL="1440000" algn="l" defTabSz="914400" rtl="0" eaLnBrk="1" latinLnBrk="0" hangingPunct="1">
        <a:defRPr sz="1200" kern="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orient="horz" pos="4032">
          <p15:clr>
            <a:srgbClr val="F26B43"/>
          </p15:clr>
        </p15:guide>
        <p15:guide id="3" pos="288">
          <p15:clr>
            <a:srgbClr val="F26B43"/>
          </p15:clr>
        </p15:guide>
        <p15:guide id="4" pos="739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14/relationships/chartEx" Target="../charts/chartEx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normAutofit/>
          </a:bodyPr>
          <a:lstStyle/>
          <a:p>
            <a:r>
              <a:t>Intent test deck: every layout the runtime supports</a:t>
            </a:r>
          </a:p>
        </p:txBody>
      </p:sp>
      <p:sp>
        <p:nvSpPr>
          <p:cNvPr id="3" name="Text Placeholder 2"/>
          <p:cNvSpPr>
            <a:spLocks noGrp="1"/>
          </p:cNvSpPr>
          <p:nvPr>
            <p:ph type="body" idx="11" sz="quarter"/>
          </p:nvPr>
        </p:nvSpPr>
        <p:spPr/>
        <p:txBody>
          <a:bodyPr wrap="square"/>
          <a:lstStyle/>
          <a:p>
            <a:pPr marL="0" indent="0">
              <a:buNone/>
            </a:pPr>
            <a:r>
              <a:t>Fidelity check · runtime v2.6.18 · insert via task pane</a:t>
            </a:r>
          </a:p>
        </p:txBody>
      </p:sp>
      <p:sp>
        <p:nvSpPr>
          <p:cNvPr id="4" name="Text Placeholder 3"/>
          <p:cNvSpPr>
            <a:spLocks noGrp="1"/>
          </p:cNvSpPr>
          <p:nvPr>
            <p:ph type="body" idx="13" sz="quarter"/>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The test walks through five capability groups in sequence</a:t>
            </a:r>
          </a:p>
        </p:txBody>
      </p:sp>
      <p:graphicFrame>
        <p:nvGraphicFramePr>
          <p:cNvPr id="3" name="Table 2"/>
          <p:cNvGraphicFramePr>
            <a:graphicFrameLocks noGrp="1"/>
          </p:cNvGraphicFramePr>
          <p:nvPr/>
        </p:nvGraphicFramePr>
        <p:xfrm>
          <a:off x="6099048" y="457200"/>
          <a:ext cx="5641848" cy="2286000"/>
        </p:xfrm>
        <a:graphic>
          <a:graphicData uri="http://schemas.openxmlformats.org/drawingml/2006/table">
            <a:tbl>
              <a:tblPr firstRow="0" bandRow="0" lastRow="0" firstCol="0" lastCol="0" bandCol="0">
                <a:tableStyleId>{2D5ABB26-0587-4C30-8999-92F81FD0307C}</a:tableStyleId>
              </a:tblPr>
              <a:tblGrid>
                <a:gridCol w="548640"/>
                <a:gridCol w="4270248"/>
                <a:gridCol w="822960"/>
              </a:tblGrid>
              <a:tr h="457200">
                <a:tc>
                  <a:txBody>
                    <a:bodyPr wrap="square"/>
                    <a:lstStyle/>
                    <a:p>
                      <a:pPr algn="l"/>
                      <a:r>
                        <a:rPr sz="1600" b="0">
                          <a:solidFill>
                            <a:schemeClr val="tx1"/>
                          </a:solidFill>
                          <a:latin typeface="+mn-lt"/>
                          <a:ea typeface="+mn-lt"/>
                          <a:cs typeface="+mn-lt"/>
                        </a:rPr>
                        <a:t>01</a:t>
                      </a:r>
                    </a:p>
                  </a:txBody>
                  <a:tcPr anchor="t" marT="0" marB="0" marL="0" marR="0">
                    <a:noFill/>
                  </a:tcPr>
                </a:tc>
                <a:tc>
                  <a:txBody>
                    <a:bodyPr wrap="square"/>
                    <a:lstStyle/>
                    <a:p>
                      <a:pPr algn="l"/>
                      <a:r>
                        <a:rPr sz="1600" b="0">
                          <a:solidFill>
                            <a:schemeClr val="tx1"/>
                          </a:solidFill>
                          <a:latin typeface="+mn-lt"/>
                          <a:ea typeface="+mn-lt"/>
                          <a:cs typeface="+mn-lt"/>
                        </a:rPr>
                        <a:t>Text and structure</a:t>
                      </a:r>
                    </a:p>
                  </a:txBody>
                  <a:tcPr anchor="t" marT="0" marB="0" marL="0" marR="0">
                    <a:noFill/>
                  </a:tcPr>
                </a:tc>
                <a:tc>
                  <a:txBody>
                    <a:bodyPr wrap="square"/>
                    <a:lstStyle/>
                    <a:p>
                      <a:pPr algn="r"/>
                      <a:r>
                        <a:rPr sz="1600" b="0">
                          <a:solidFill>
                            <a:schemeClr val="tx1"/>
                          </a:solidFill>
                          <a:latin typeface="+mn-lt"/>
                          <a:ea typeface="+mn-lt"/>
                          <a:cs typeface="+mn-lt"/>
                        </a:rPr>
                        <a:t>3</a:t>
                      </a:r>
                    </a:p>
                  </a:txBody>
                  <a:tcPr anchor="t" marT="0" marB="0" marL="0" marR="0">
                    <a:noFill/>
                  </a:tcPr>
                </a:tc>
              </a:tr>
              <a:tr h="457200">
                <a:tc>
                  <a:txBody>
                    <a:bodyPr wrap="square"/>
                    <a:lstStyle/>
                    <a:p>
                      <a:pPr algn="l"/>
                      <a:r>
                        <a:rPr sz="1600" b="0">
                          <a:solidFill>
                            <a:schemeClr val="tx1"/>
                          </a:solidFill>
                          <a:latin typeface="+mn-lt"/>
                          <a:ea typeface="+mn-lt"/>
                          <a:cs typeface="+mn-lt"/>
                        </a:rPr>
                        <a:t>02</a:t>
                      </a:r>
                    </a:p>
                  </a:txBody>
                  <a:tcPr anchor="t" marT="0" marB="0" marL="0" marR="0">
                    <a:noFill/>
                  </a:tcPr>
                </a:tc>
                <a:tc>
                  <a:txBody>
                    <a:bodyPr wrap="square"/>
                    <a:lstStyle/>
                    <a:p>
                      <a:pPr algn="l"/>
                      <a:r>
                        <a:rPr sz="1600" b="0">
                          <a:solidFill>
                            <a:schemeClr val="tx1"/>
                          </a:solidFill>
                          <a:latin typeface="+mn-lt"/>
                          <a:ea typeface="+mn-lt"/>
                          <a:cs typeface="+mn-lt"/>
                        </a:rPr>
                        <a:t>Cards and icons</a:t>
                      </a:r>
                    </a:p>
                  </a:txBody>
                  <a:tcPr anchor="t" marT="0" marB="0" marL="0" marR="0">
                    <a:noFill/>
                  </a:tcPr>
                </a:tc>
                <a:tc>
                  <a:txBody>
                    <a:bodyPr wrap="square"/>
                    <a:lstStyle/>
                    <a:p>
                      <a:pPr algn="r"/>
                      <a:r>
                        <a:rPr sz="1600" b="0">
                          <a:solidFill>
                            <a:schemeClr val="tx1"/>
                          </a:solidFill>
                          <a:latin typeface="+mn-lt"/>
                          <a:ea typeface="+mn-lt"/>
                          <a:cs typeface="+mn-lt"/>
                        </a:rPr>
                        <a:t>8</a:t>
                      </a:r>
                    </a:p>
                  </a:txBody>
                  <a:tcPr anchor="t" marT="0" marB="0" marL="0" marR="0">
                    <a:noFill/>
                  </a:tcPr>
                </a:tc>
              </a:tr>
              <a:tr h="457200">
                <a:tc>
                  <a:txBody>
                    <a:bodyPr wrap="square"/>
                    <a:lstStyle/>
                    <a:p>
                      <a:pPr algn="l"/>
                      <a:r>
                        <a:rPr sz="1600" b="0">
                          <a:solidFill>
                            <a:schemeClr val="tx1"/>
                          </a:solidFill>
                          <a:latin typeface="+mn-lt"/>
                          <a:ea typeface="+mn-lt"/>
                          <a:cs typeface="+mn-lt"/>
                        </a:rPr>
                        <a:t>03</a:t>
                      </a:r>
                    </a:p>
                  </a:txBody>
                  <a:tcPr anchor="t" marT="0" marB="0" marL="0" marR="0">
                    <a:noFill/>
                  </a:tcPr>
                </a:tc>
                <a:tc>
                  <a:txBody>
                    <a:bodyPr wrap="square"/>
                    <a:lstStyle/>
                    <a:p>
                      <a:pPr algn="l"/>
                      <a:r>
                        <a:rPr sz="1600" b="0">
                          <a:solidFill>
                            <a:schemeClr val="tx1"/>
                          </a:solidFill>
                          <a:latin typeface="+mn-lt"/>
                          <a:ea typeface="+mn-lt"/>
                          <a:cs typeface="+mn-lt"/>
                        </a:rPr>
                        <a:t>Charts and data</a:t>
                      </a:r>
                    </a:p>
                  </a:txBody>
                  <a:tcPr anchor="t" marT="0" marB="0" marL="0" marR="0">
                    <a:noFill/>
                  </a:tcPr>
                </a:tc>
                <a:tc>
                  <a:txBody>
                    <a:bodyPr wrap="square"/>
                    <a:lstStyle/>
                    <a:p>
                      <a:pPr algn="r"/>
                      <a:r>
                        <a:rPr sz="1600" b="0">
                          <a:solidFill>
                            <a:schemeClr val="tx1"/>
                          </a:solidFill>
                          <a:latin typeface="+mn-lt"/>
                          <a:ea typeface="+mn-lt"/>
                          <a:cs typeface="+mn-lt"/>
                        </a:rPr>
                        <a:t>13</a:t>
                      </a:r>
                    </a:p>
                  </a:txBody>
                  <a:tcPr anchor="t" marT="0" marB="0" marL="0" marR="0">
                    <a:noFill/>
                  </a:tcPr>
                </a:tc>
              </a:tr>
              <a:tr h="457200">
                <a:tc>
                  <a:txBody>
                    <a:bodyPr wrap="square"/>
                    <a:lstStyle/>
                    <a:p>
                      <a:pPr algn="l"/>
                      <a:r>
                        <a:rPr sz="1600" b="0">
                          <a:solidFill>
                            <a:schemeClr val="tx1"/>
                          </a:solidFill>
                          <a:latin typeface="+mn-lt"/>
                          <a:ea typeface="+mn-lt"/>
                          <a:cs typeface="+mn-lt"/>
                        </a:rPr>
                        <a:t>04</a:t>
                      </a:r>
                    </a:p>
                  </a:txBody>
                  <a:tcPr anchor="t" marT="0" marB="0" marL="0" marR="0">
                    <a:noFill/>
                  </a:tcPr>
                </a:tc>
                <a:tc>
                  <a:txBody>
                    <a:bodyPr wrap="square"/>
                    <a:lstStyle/>
                    <a:p>
                      <a:pPr algn="l"/>
                      <a:r>
                        <a:rPr sz="1600" b="0">
                          <a:solidFill>
                            <a:schemeClr val="tx1"/>
                          </a:solidFill>
                          <a:latin typeface="+mn-lt"/>
                          <a:ea typeface="+mn-lt"/>
                          <a:cs typeface="+mn-lt"/>
                        </a:rPr>
                        <a:t>Diagrams</a:t>
                      </a:r>
                    </a:p>
                  </a:txBody>
                  <a:tcPr anchor="t" marT="0" marB="0" marL="0" marR="0">
                    <a:noFill/>
                  </a:tcPr>
                </a:tc>
                <a:tc>
                  <a:txBody>
                    <a:bodyPr wrap="square"/>
                    <a:lstStyle/>
                    <a:p>
                      <a:pPr algn="r"/>
                      <a:r>
                        <a:rPr sz="1600" b="0">
                          <a:solidFill>
                            <a:schemeClr val="tx1"/>
                          </a:solidFill>
                          <a:latin typeface="+mn-lt"/>
                          <a:ea typeface="+mn-lt"/>
                          <a:cs typeface="+mn-lt"/>
                        </a:rPr>
                        <a:t>19</a:t>
                      </a:r>
                    </a:p>
                  </a:txBody>
                  <a:tcPr anchor="t" marT="0" marB="0" marL="0" marR="0">
                    <a:noFill/>
                  </a:tcPr>
                </a:tc>
              </a:tr>
              <a:tr h="457200">
                <a:tc>
                  <a:txBody>
                    <a:bodyPr wrap="square"/>
                    <a:lstStyle/>
                    <a:p>
                      <a:pPr algn="l"/>
                      <a:r>
                        <a:rPr sz="1600" b="0">
                          <a:solidFill>
                            <a:schemeClr val="tx1"/>
                          </a:solidFill>
                          <a:latin typeface="+mn-lt"/>
                          <a:ea typeface="+mn-lt"/>
                          <a:cs typeface="+mn-lt"/>
                        </a:rPr>
                        <a:t>05</a:t>
                      </a:r>
                    </a:p>
                  </a:txBody>
                  <a:tcPr anchor="t" marT="0" marB="0" marL="0" marR="0">
                    <a:noFill/>
                  </a:tcPr>
                </a:tc>
                <a:tc>
                  <a:txBody>
                    <a:bodyPr wrap="square"/>
                    <a:lstStyle/>
                    <a:p>
                      <a:pPr algn="l"/>
                      <a:r>
                        <a:rPr sz="1600" b="0">
                          <a:solidFill>
                            <a:schemeClr val="tx1"/>
                          </a:solidFill>
                          <a:latin typeface="+mn-lt"/>
                          <a:ea typeface="+mn-lt"/>
                          <a:cs typeface="+mn-lt"/>
                        </a:rPr>
                        <a:t>Composites and extras</a:t>
                      </a:r>
                    </a:p>
                  </a:txBody>
                  <a:tcPr anchor="t" marT="0" marB="0" marL="0" marR="0">
                    <a:noFill/>
                  </a:tcPr>
                </a:tc>
                <a:tc>
                  <a:txBody>
                    <a:bodyPr wrap="square"/>
                    <a:lstStyle/>
                    <a:p>
                      <a:pPr algn="r"/>
                      <a:r>
                        <a:rPr sz="1600" b="0">
                          <a:solidFill>
                            <a:schemeClr val="tx1"/>
                          </a:solidFill>
                          <a:latin typeface="+mn-lt"/>
                          <a:ea typeface="+mn-lt"/>
                          <a:cs typeface="+mn-lt"/>
                        </a:rPr>
                        <a:t>26</a:t>
                      </a:r>
                    </a:p>
                  </a:txBody>
                  <a:tcPr anchor="t" marT="0" marB="0" marL="0" marR="0">
                    <a:no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wrap="square"/>
          <a:lstStyle/>
          <a:p>
            <a:pPr marL="0" indent="0">
              <a:buNone/>
            </a:pPr>
            <a:r>
              <a:t>Text and structure</a:t>
            </a:r>
          </a:p>
        </p:txBody>
      </p:sp>
      <p:sp>
        <p:nvSpPr>
          <p:cNvPr id="3" name="Text Placeholder 2"/>
          <p:cNvSpPr>
            <a:spLocks noGrp="1"/>
          </p:cNvSpPr>
          <p:nvPr>
            <p:ph type="body" idx="12" sz="quarter"/>
          </p:nvPr>
        </p:nvSpPr>
        <p:spPr/>
        <p:txBody>
          <a:bodyPr wrap="square"/>
          <a:lstStyle/>
          <a:p>
            <a:pPr marL="0" indent="0">
              <a:buNone/>
            </a:pPr>
            <a:r>
              <a:t>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Plain bullets still carry 60% of consulting slides</a:t>
            </a:r>
          </a:p>
        </p:txBody>
      </p:sp>
      <p:sp>
        <p:nvSpPr>
          <p:cNvPr id="3" name="Content Placeholder 2"/>
          <p:cNvSpPr>
            <a:spLocks noGrp="1"/>
          </p:cNvSpPr>
          <p:nvPr>
            <p:ph idx="11"/>
          </p:nvPr>
        </p:nvSpPr>
        <p:spPr>
          <a:xfrm>
            <a:off x="457200" y="1409700"/>
            <a:ext cx="11277600" cy="4213860"/>
          </a:xfrm>
        </p:spPr>
        <p:txBody>
          <a:bodyPr wrap="square"/>
          <a:lstStyle/>
          <a:p>
            <a:pPr lvl="1"/>
            <a:r>
              <a:t>Each bullet holds one idea and stays under two lines</a:t>
            </a:r>
          </a:p>
          <a:p>
            <a:pPr lvl="1"/>
            <a:r>
              <a:t>Parallel grammar makes the set scannable in seconds</a:t>
            </a:r>
          </a:p>
          <a:p>
            <a:pPr lvl="1"/>
            <a:r>
              <a:t>Specific numbers beat adjectives: 12% churn, not high churn</a:t>
            </a:r>
          </a:p>
        </p:txBody>
      </p:sp>
      <p:graphicFrame>
        <p:nvGraphicFramePr>
          <p:cNvPr id="4" name="Conclusion"/>
          <p:cNvGraphicFramePr>
            <a:graphicFrameLocks noGrp="1"/>
          </p:cNvGraphicFramePr>
          <p:nvPr/>
        </p:nvGraphicFramePr>
        <p:xfrm>
          <a:off x="457200" y="5806440"/>
          <a:ext cx="11277295" cy="502920"/>
        </p:xfrm>
        <a:graphic>
          <a:graphicData uri="http://schemas.openxmlformats.org/drawingml/2006/table">
            <a:tbl>
              <a:tblPr firstRow="1" bandRow="1">
                <a:tableStyleId>{5C22544A-7EE6-4342-B048-85BDC9FD1C3A}</a:tableStyleId>
              </a:tblPr>
              <a:tblGrid>
                <a:gridCol w="11277295"/>
              </a:tblGrid>
              <a:tr h="502920">
                <a:tc>
                  <a:txBody>
                    <a:bodyPr/>
                    <a:lstStyle/>
                    <a:p>
                      <a:pPr algn="l"/>
                      <a:r>
                        <a:rPr b="0" i="0" sz="1800">
                          <a:solidFill>
                            <a:schemeClr val="tx1"/>
                          </a:solidFill>
                          <a:latin typeface="+mj-lt"/>
                          <a:ea typeface="+mj-lt"/>
                          <a:cs typeface="+mj-lt"/>
                        </a:rPr>
                        <a:t>Use text slides for argument, visuals for evidence.</a:t>
                      </a:r>
                    </a:p>
                  </a:txBody>
                  <a:tcPr anchor="b" marT="0" marB="0" marL="137160" marR="137160">
                    <a:lnL w="9525" cap="flat" cmpd="sng" algn="ctr">
                      <a:solidFill>
                        <a:srgbClr val="FFBF00"/>
                      </a:solidFill>
                      <a:prstDash val="solid"/>
                      <a:round/>
                    </a:lnL>
                    <a:lnT w="9525" cap="flat" cmpd="sng" algn="ctr">
                      <a:solidFill>
                        <a:schemeClr val="tx1">
                          <a:alpha val="0"/>
                        </a:schemeClr>
                      </a:solidFill>
                      <a:prstDash val="solid"/>
                      <a:round/>
                    </a:lnT>
                    <a:lnB w="9525" cap="flat" cmpd="sng" algn="ctr">
                      <a:noFill/>
                    </a:lnB>
                    <a:no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Three pillars split the work into clear owners</a:t>
            </a:r>
          </a:p>
        </p:txBody>
      </p:sp>
      <p:sp>
        <p:nvSpPr>
          <p:cNvPr id="3" name="Content Placeholder 2"/>
          <p:cNvSpPr>
            <a:spLocks noGrp="1"/>
          </p:cNvSpPr>
          <p:nvPr>
            <p:ph idx="11"/>
          </p:nvPr>
        </p:nvSpPr>
        <p:spPr/>
        <p:txBody>
          <a:bodyPr wrap="square" tIns="822959" lIns="182880"/>
          <a:lstStyle/>
          <a:p>
            <a:pPr lvl="4"/>
            <a:r>
              <a:t>Negotiate</a:t>
            </a:r>
          </a:p>
          <a:p>
            <a:pPr lvl="1"/>
            <a:r>
              <a:t>Frame agreements by March</a:t>
            </a:r>
          </a:p>
          <a:p>
            <a:pPr lvl="1"/>
            <a:r>
              <a:t>Fix price tiers for 24 months</a:t>
            </a:r>
          </a:p>
        </p:txBody>
      </p:sp>
      <p:sp>
        <p:nvSpPr>
          <p:cNvPr id="4" name="Content Placeholder 3"/>
          <p:cNvSpPr>
            <a:spLocks noGrp="1"/>
          </p:cNvSpPr>
          <p:nvPr>
            <p:ph idx="12"/>
          </p:nvPr>
        </p:nvSpPr>
        <p:spPr/>
        <p:txBody>
          <a:bodyPr wrap="square" tIns="822959" lIns="182880"/>
          <a:lstStyle/>
          <a:p>
            <a:pPr lvl="4"/>
            <a:r>
              <a:t>Migrate</a:t>
            </a:r>
          </a:p>
          <a:p>
            <a:pPr lvl="1"/>
            <a:r>
              <a:t>Wave plan per plant</a:t>
            </a:r>
          </a:p>
          <a:p>
            <a:pPr lvl="1"/>
            <a:r>
              <a:t>Dual supply for 8 weeks</a:t>
            </a:r>
          </a:p>
        </p:txBody>
      </p:sp>
      <p:sp>
        <p:nvSpPr>
          <p:cNvPr id="5" name="Content Placeholder 4"/>
          <p:cNvSpPr>
            <a:spLocks noGrp="1"/>
          </p:cNvSpPr>
          <p:nvPr>
            <p:ph idx="13"/>
          </p:nvPr>
        </p:nvSpPr>
        <p:spPr/>
        <p:txBody>
          <a:bodyPr wrap="square" tIns="822959" lIns="182880"/>
          <a:lstStyle/>
          <a:p>
            <a:pPr lvl="4"/>
            <a:r>
              <a:t>Control</a:t>
            </a:r>
          </a:p>
          <a:p>
            <a:pPr lvl="1"/>
            <a:r>
              <a:t>Weekly KPI board</a:t>
            </a:r>
          </a:p>
          <a:p>
            <a:pPr lvl="1"/>
            <a:r>
              <a:t>Defined escalation path</a:t>
            </a:r>
          </a:p>
        </p:txBody>
      </p:sp>
      <p:sp>
        <p:nvSpPr>
          <p:cNvPr id="1001" name="icon-handshake"/>
          <p:cNvSpPr/>
          <p:nvPr/>
        </p:nvSpPr>
        <p:spPr>
          <a:xfrm>
            <a:off x="640080" y="1592580"/>
            <a:ext cx="457200" cy="457200"/>
          </a:xfrm>
          <a:custGeom>
            <a:avLst/>
            <a:gdLst/>
            <a:ahLst/>
            <a:rect l="0" t="0" r="457200" b="457200"/>
            <a:pathLst>
              <a:path w="457200" h="457200">
                <a:moveTo>
                  <a:pt x="366608" y="308077"/>
                </a:moveTo>
                <a:cubicBezTo>
                  <a:pt x="369118" y="310582"/>
                  <a:pt x="372111" y="312552"/>
                  <a:pt x="375405" y="313867"/>
                </a:cubicBezTo>
                <a:cubicBezTo>
                  <a:pt x="378699" y="315181"/>
                  <a:pt x="382226" y="315813"/>
                  <a:pt x="385771" y="315724"/>
                </a:cubicBezTo>
                <a:cubicBezTo>
                  <a:pt x="389317" y="315635"/>
                  <a:pt x="392808" y="314827"/>
                  <a:pt x="396032" y="313349"/>
                </a:cubicBezTo>
                <a:cubicBezTo>
                  <a:pt x="399255" y="311870"/>
                  <a:pt x="402146" y="309753"/>
                  <a:pt x="404527" y="307124"/>
                </a:cubicBezTo>
                <a:lnTo>
                  <a:pt x="404527" y="307124"/>
                </a:lnTo>
                <a:cubicBezTo>
                  <a:pt x="407483" y="303856"/>
                  <a:pt x="409567" y="299894"/>
                  <a:pt x="410586" y="295607"/>
                </a:cubicBezTo>
                <a:cubicBezTo>
                  <a:pt x="411604" y="291319"/>
                  <a:pt x="411524" y="286843"/>
                  <a:pt x="410354" y="282595"/>
                </a:cubicBezTo>
                <a:cubicBezTo>
                  <a:pt x="409183" y="278346"/>
                  <a:pt x="406959" y="274461"/>
                  <a:pt x="403889" y="271301"/>
                </a:cubicBezTo>
                <a:lnTo>
                  <a:pt x="308486" y="173450"/>
                </a:lnTo>
                <a:moveTo>
                  <a:pt x="271405" y="365617"/>
                </a:moveTo>
                <a:lnTo>
                  <a:pt x="283731" y="377942"/>
                </a:lnTo>
                <a:cubicBezTo>
                  <a:pt x="286229" y="380440"/>
                  <a:pt x="288211" y="383406"/>
                  <a:pt x="289562" y="386669"/>
                </a:cubicBezTo>
                <a:cubicBezTo>
                  <a:pt x="290914" y="389933"/>
                  <a:pt x="291610" y="393431"/>
                  <a:pt x="291610" y="396964"/>
                </a:cubicBezTo>
                <a:cubicBezTo>
                  <a:pt x="291610" y="400496"/>
                  <a:pt x="290914" y="403995"/>
                  <a:pt x="289562" y="407258"/>
                </a:cubicBezTo>
                <a:cubicBezTo>
                  <a:pt x="288211" y="410522"/>
                  <a:pt x="286229" y="413488"/>
                  <a:pt x="283731" y="415985"/>
                </a:cubicBezTo>
                <a:lnTo>
                  <a:pt x="283731" y="415985"/>
                </a:lnTo>
                <a:cubicBezTo>
                  <a:pt x="282047" y="417678"/>
                  <a:pt x="280143" y="419137"/>
                  <a:pt x="278070" y="420323"/>
                </a:cubicBezTo>
                <a:cubicBezTo>
                  <a:pt x="275998" y="421509"/>
                  <a:pt x="273775" y="422411"/>
                  <a:pt x="271462" y="423005"/>
                </a:cubicBezTo>
                <a:moveTo>
                  <a:pt x="347767" y="289236"/>
                </a:moveTo>
                <a:lnTo>
                  <a:pt x="374028" y="315506"/>
                </a:lnTo>
                <a:cubicBezTo>
                  <a:pt x="376544" y="318021"/>
                  <a:pt x="378541" y="321007"/>
                  <a:pt x="379903" y="324294"/>
                </a:cubicBezTo>
                <a:cubicBezTo>
                  <a:pt x="381265" y="327580"/>
                  <a:pt x="381966" y="331103"/>
                  <a:pt x="381966" y="334661"/>
                </a:cubicBezTo>
                <a:cubicBezTo>
                  <a:pt x="381966" y="338219"/>
                  <a:pt x="381265" y="341742"/>
                  <a:pt x="379903" y="345028"/>
                </a:cubicBezTo>
                <a:cubicBezTo>
                  <a:pt x="378541" y="348315"/>
                  <a:pt x="376544" y="351301"/>
                  <a:pt x="374028" y="353816"/>
                </a:cubicBezTo>
                <a:lnTo>
                  <a:pt x="374028" y="353816"/>
                </a:lnTo>
                <a:cubicBezTo>
                  <a:pt x="371513" y="356332"/>
                  <a:pt x="368527" y="358329"/>
                  <a:pt x="365240" y="359691"/>
                </a:cubicBezTo>
                <a:cubicBezTo>
                  <a:pt x="361954" y="361053"/>
                  <a:pt x="358431" y="361754"/>
                  <a:pt x="354873" y="361754"/>
                </a:cubicBezTo>
                <a:cubicBezTo>
                  <a:pt x="351315" y="361754"/>
                  <a:pt x="347792" y="361053"/>
                  <a:pt x="344506" y="359691"/>
                </a:cubicBezTo>
                <a:cubicBezTo>
                  <a:pt x="341219" y="358329"/>
                  <a:pt x="338233" y="356332"/>
                  <a:pt x="335718" y="353816"/>
                </a:cubicBezTo>
                <a:lnTo>
                  <a:pt x="309467" y="327555"/>
                </a:lnTo>
                <a:moveTo>
                  <a:pt x="330518" y="348615"/>
                </a:moveTo>
                <a:cubicBezTo>
                  <a:pt x="333016" y="351113"/>
                  <a:pt x="334997" y="354078"/>
                  <a:pt x="336349" y="357342"/>
                </a:cubicBezTo>
                <a:cubicBezTo>
                  <a:pt x="337701" y="360606"/>
                  <a:pt x="338397" y="364104"/>
                  <a:pt x="338397" y="367636"/>
                </a:cubicBezTo>
                <a:cubicBezTo>
                  <a:pt x="338397" y="371169"/>
                  <a:pt x="337701" y="374667"/>
                  <a:pt x="336349" y="377931"/>
                </a:cubicBezTo>
                <a:cubicBezTo>
                  <a:pt x="334997" y="381195"/>
                  <a:pt x="333016" y="384160"/>
                  <a:pt x="330518" y="386658"/>
                </a:cubicBezTo>
                <a:lnTo>
                  <a:pt x="330518" y="386658"/>
                </a:lnTo>
                <a:cubicBezTo>
                  <a:pt x="327177" y="389994"/>
                  <a:pt x="323017" y="392393"/>
                  <a:pt x="318457" y="393614"/>
                </a:cubicBezTo>
                <a:cubicBezTo>
                  <a:pt x="313897" y="394835"/>
                  <a:pt x="309095" y="394835"/>
                  <a:pt x="304535" y="393614"/>
                </a:cubicBezTo>
                <a:cubicBezTo>
                  <a:pt x="299975" y="392393"/>
                  <a:pt x="295815" y="389994"/>
                  <a:pt x="292475" y="386658"/>
                </a:cubicBezTo>
                <a:moveTo>
                  <a:pt x="90153" y="309353"/>
                </a:moveTo>
                <a:lnTo>
                  <a:pt x="97259" y="302248"/>
                </a:lnTo>
                <a:cubicBezTo>
                  <a:pt x="100621" y="298886"/>
                  <a:pt x="104810" y="296467"/>
                  <a:pt x="109403" y="295237"/>
                </a:cubicBezTo>
                <a:cubicBezTo>
                  <a:pt x="113996" y="294006"/>
                  <a:pt x="118832" y="294006"/>
                  <a:pt x="123425" y="295237"/>
                </a:cubicBezTo>
                <a:cubicBezTo>
                  <a:pt x="128018" y="296467"/>
                  <a:pt x="132207" y="298886"/>
                  <a:pt x="135569" y="302248"/>
                </a:cubicBezTo>
                <a:lnTo>
                  <a:pt x="135569" y="302248"/>
                </a:lnTo>
                <a:cubicBezTo>
                  <a:pt x="138931" y="305610"/>
                  <a:pt x="141349" y="309799"/>
                  <a:pt x="142580" y="314391"/>
                </a:cubicBezTo>
                <a:cubicBezTo>
                  <a:pt x="143811" y="318984"/>
                  <a:pt x="143811" y="323821"/>
                  <a:pt x="142580" y="328414"/>
                </a:cubicBezTo>
                <a:cubicBezTo>
                  <a:pt x="141349" y="333007"/>
                  <a:pt x="138931" y="337195"/>
                  <a:pt x="135569" y="340558"/>
                </a:cubicBezTo>
                <a:lnTo>
                  <a:pt x="128463" y="347663"/>
                </a:lnTo>
                <a:cubicBezTo>
                  <a:pt x="125101" y="351025"/>
                  <a:pt x="120912" y="353444"/>
                  <a:pt x="116320" y="354674"/>
                </a:cubicBezTo>
                <a:cubicBezTo>
                  <a:pt x="111727" y="355905"/>
                  <a:pt x="106890" y="355905"/>
                  <a:pt x="102297" y="354674"/>
                </a:cubicBezTo>
                <a:cubicBezTo>
                  <a:pt x="97704" y="353444"/>
                  <a:pt x="93516" y="351025"/>
                  <a:pt x="90153" y="347663"/>
                </a:cubicBezTo>
                <a:lnTo>
                  <a:pt x="90153" y="347663"/>
                </a:lnTo>
                <a:cubicBezTo>
                  <a:pt x="86791" y="344301"/>
                  <a:pt x="84373" y="340112"/>
                  <a:pt x="83142" y="335519"/>
                </a:cubicBezTo>
                <a:cubicBezTo>
                  <a:pt x="81912" y="330927"/>
                  <a:pt x="81912" y="326090"/>
                  <a:pt x="83142" y="321497"/>
                </a:cubicBezTo>
                <a:cubicBezTo>
                  <a:pt x="84373" y="316904"/>
                  <a:pt x="86791" y="312716"/>
                  <a:pt x="90153" y="309353"/>
                </a:cubicBezTo>
                <a:close/>
                <a:moveTo>
                  <a:pt x="174281" y="377939"/>
                </a:moveTo>
                <a:lnTo>
                  <a:pt x="177911" y="374309"/>
                </a:lnTo>
                <a:cubicBezTo>
                  <a:pt x="181250" y="370970"/>
                  <a:pt x="185409" y="368569"/>
                  <a:pt x="189970" y="367347"/>
                </a:cubicBezTo>
                <a:cubicBezTo>
                  <a:pt x="194530" y="366125"/>
                  <a:pt x="199333" y="366125"/>
                  <a:pt x="203893" y="367347"/>
                </a:cubicBezTo>
                <a:cubicBezTo>
                  <a:pt x="208454" y="368569"/>
                  <a:pt x="212613" y="370970"/>
                  <a:pt x="215952" y="374309"/>
                </a:cubicBezTo>
                <a:lnTo>
                  <a:pt x="215952" y="374309"/>
                </a:lnTo>
                <a:cubicBezTo>
                  <a:pt x="219290" y="377647"/>
                  <a:pt x="221691" y="381807"/>
                  <a:pt x="222913" y="386367"/>
                </a:cubicBezTo>
                <a:cubicBezTo>
                  <a:pt x="224135" y="390928"/>
                  <a:pt x="224135" y="395730"/>
                  <a:pt x="222913" y="400291"/>
                </a:cubicBezTo>
                <a:cubicBezTo>
                  <a:pt x="221691" y="404851"/>
                  <a:pt x="219290" y="409011"/>
                  <a:pt x="215952" y="412349"/>
                </a:cubicBezTo>
                <a:lnTo>
                  <a:pt x="212321" y="415979"/>
                </a:lnTo>
                <a:cubicBezTo>
                  <a:pt x="208983" y="419318"/>
                  <a:pt x="204823" y="421719"/>
                  <a:pt x="200263" y="422941"/>
                </a:cubicBezTo>
                <a:cubicBezTo>
                  <a:pt x="195703" y="424163"/>
                  <a:pt x="190900" y="424163"/>
                  <a:pt x="186339" y="422941"/>
                </a:cubicBezTo>
                <a:cubicBezTo>
                  <a:pt x="181779" y="421719"/>
                  <a:pt x="177619" y="419318"/>
                  <a:pt x="174281" y="415979"/>
                </a:cubicBezTo>
                <a:lnTo>
                  <a:pt x="174281" y="415979"/>
                </a:lnTo>
                <a:cubicBezTo>
                  <a:pt x="170942" y="412641"/>
                  <a:pt x="168541" y="408482"/>
                  <a:pt x="167319" y="403921"/>
                </a:cubicBezTo>
                <a:cubicBezTo>
                  <a:pt x="166097" y="399361"/>
                  <a:pt x="166097" y="394558"/>
                  <a:pt x="167319" y="389997"/>
                </a:cubicBezTo>
                <a:cubicBezTo>
                  <a:pt x="168541" y="385437"/>
                  <a:pt x="170942" y="381277"/>
                  <a:pt x="174281" y="377939"/>
                </a:cubicBezTo>
                <a:close/>
                <a:moveTo>
                  <a:pt x="97155" y="302352"/>
                </a:moveTo>
                <a:lnTo>
                  <a:pt x="93154" y="306353"/>
                </a:lnTo>
                <a:cubicBezTo>
                  <a:pt x="90644" y="308858"/>
                  <a:pt x="87651" y="310828"/>
                  <a:pt x="84357" y="312143"/>
                </a:cubicBezTo>
                <a:cubicBezTo>
                  <a:pt x="81063" y="313457"/>
                  <a:pt x="77536" y="314089"/>
                  <a:pt x="73991" y="314000"/>
                </a:cubicBezTo>
                <a:cubicBezTo>
                  <a:pt x="70445" y="313911"/>
                  <a:pt x="66955" y="313103"/>
                  <a:pt x="63731" y="311625"/>
                </a:cubicBezTo>
                <a:cubicBezTo>
                  <a:pt x="60507" y="310146"/>
                  <a:pt x="57617" y="308029"/>
                  <a:pt x="55235" y="305400"/>
                </a:cubicBezTo>
                <a:lnTo>
                  <a:pt x="55235" y="305400"/>
                </a:lnTo>
                <a:cubicBezTo>
                  <a:pt x="52274" y="302133"/>
                  <a:pt x="50185" y="298170"/>
                  <a:pt x="49163" y="293881"/>
                </a:cubicBezTo>
                <a:cubicBezTo>
                  <a:pt x="48141" y="289591"/>
                  <a:pt x="48218" y="285112"/>
                  <a:pt x="49388" y="280860"/>
                </a:cubicBezTo>
                <a:cubicBezTo>
                  <a:pt x="50557" y="276609"/>
                  <a:pt x="52782" y="272720"/>
                  <a:pt x="55855" y="269558"/>
                </a:cubicBezTo>
                <a:lnTo>
                  <a:pt x="59855" y="265462"/>
                </a:lnTo>
                <a:cubicBezTo>
                  <a:pt x="63050" y="262197"/>
                  <a:pt x="67042" y="259823"/>
                  <a:pt x="71436" y="258574"/>
                </a:cubicBezTo>
                <a:cubicBezTo>
                  <a:pt x="75830" y="257326"/>
                  <a:pt x="80474" y="257247"/>
                  <a:pt x="84908" y="258345"/>
                </a:cubicBezTo>
                <a:cubicBezTo>
                  <a:pt x="89342" y="259442"/>
                  <a:pt x="93413" y="261679"/>
                  <a:pt x="96717" y="264833"/>
                </a:cubicBezTo>
                <a:lnTo>
                  <a:pt x="96717" y="264833"/>
                </a:lnTo>
                <a:cubicBezTo>
                  <a:pt x="99246" y="267246"/>
                  <a:pt x="101268" y="270141"/>
                  <a:pt x="102662" y="273347"/>
                </a:cubicBezTo>
                <a:cubicBezTo>
                  <a:pt x="104057" y="276552"/>
                  <a:pt x="104796" y="280005"/>
                  <a:pt x="104837" y="283500"/>
                </a:cubicBezTo>
                <a:cubicBezTo>
                  <a:pt x="104878" y="286996"/>
                  <a:pt x="104219" y="290465"/>
                  <a:pt x="102900" y="293702"/>
                </a:cubicBezTo>
                <a:cubicBezTo>
                  <a:pt x="101581" y="296939"/>
                  <a:pt x="99627" y="299881"/>
                  <a:pt x="97155" y="302352"/>
                </a:cubicBezTo>
                <a:moveTo>
                  <a:pt x="404812" y="214312"/>
                </a:moveTo>
                <a:lnTo>
                  <a:pt x="404812" y="182166"/>
                </a:lnTo>
                <a:lnTo>
                  <a:pt x="433388" y="153095"/>
                </a:lnTo>
                <a:lnTo>
                  <a:pt x="333927" y="53635"/>
                </a:lnTo>
                <a:lnTo>
                  <a:pt x="316135" y="71438"/>
                </a:lnTo>
                <a:lnTo>
                  <a:pt x="271462" y="71438"/>
                </a:lnTo>
                <a:cubicBezTo>
                  <a:pt x="260452" y="71436"/>
                  <a:pt x="249547" y="73587"/>
                  <a:pt x="239362" y="77769"/>
                </a:cubicBezTo>
                <a:cubicBezTo>
                  <a:pt x="229177" y="81951"/>
                  <a:pt x="219907" y="88083"/>
                  <a:pt x="212074" y="95822"/>
                </a:cubicBezTo>
                <a:lnTo>
                  <a:pt x="148590" y="161839"/>
                </a:lnTo>
                <a:cubicBezTo>
                  <a:pt x="145925" y="164604"/>
                  <a:pt x="143980" y="167980"/>
                  <a:pt x="142924" y="171672"/>
                </a:cubicBezTo>
                <a:cubicBezTo>
                  <a:pt x="141868" y="175363"/>
                  <a:pt x="141734" y="179258"/>
                  <a:pt x="142533" y="183013"/>
                </a:cubicBezTo>
                <a:cubicBezTo>
                  <a:pt x="143332" y="186769"/>
                  <a:pt x="145041" y="190271"/>
                  <a:pt x="147509" y="193213"/>
                </a:cubicBezTo>
                <a:cubicBezTo>
                  <a:pt x="149977" y="196154"/>
                  <a:pt x="153130" y="198445"/>
                  <a:pt x="156689" y="199884"/>
                </a:cubicBezTo>
                <a:cubicBezTo>
                  <a:pt x="160249" y="201324"/>
                  <a:pt x="164108" y="201868"/>
                  <a:pt x="167927" y="201469"/>
                </a:cubicBezTo>
                <a:cubicBezTo>
                  <a:pt x="171745" y="201070"/>
                  <a:pt x="175409" y="199740"/>
                  <a:pt x="178594" y="197596"/>
                </a:cubicBezTo>
                <a:lnTo>
                  <a:pt x="246221" y="154019"/>
                </a:lnTo>
                <a:cubicBezTo>
                  <a:pt x="252057" y="160638"/>
                  <a:pt x="259250" y="165923"/>
                  <a:pt x="267311" y="169514"/>
                </a:cubicBezTo>
                <a:cubicBezTo>
                  <a:pt x="275372" y="173104"/>
                  <a:pt x="284112" y="174915"/>
                  <a:pt x="292936" y="174825"/>
                </a:cubicBezTo>
                <a:cubicBezTo>
                  <a:pt x="301759" y="174735"/>
                  <a:pt x="310461" y="172744"/>
                  <a:pt x="318446" y="168990"/>
                </a:cubicBezTo>
                <a:cubicBezTo>
                  <a:pt x="326432" y="165235"/>
                  <a:pt x="333515" y="159804"/>
                  <a:pt x="339214" y="153067"/>
                </a:cubicBezTo>
                <a:moveTo>
                  <a:pt x="61912" y="214312"/>
                </a:moveTo>
                <a:lnTo>
                  <a:pt x="61912" y="182166"/>
                </a:lnTo>
                <a:lnTo>
                  <a:pt x="33338" y="153095"/>
                </a:lnTo>
                <a:lnTo>
                  <a:pt x="132798" y="53635"/>
                </a:lnTo>
                <a:lnTo>
                  <a:pt x="150590" y="71438"/>
                </a:lnTo>
                <a:lnTo>
                  <a:pt x="185738" y="71438"/>
                </a:lnTo>
                <a:moveTo>
                  <a:pt x="133710" y="342428"/>
                </a:moveTo>
                <a:lnTo>
                  <a:pt x="135724" y="340415"/>
                </a:lnTo>
                <a:cubicBezTo>
                  <a:pt x="139062" y="337076"/>
                  <a:pt x="143221" y="334675"/>
                  <a:pt x="147782" y="333453"/>
                </a:cubicBezTo>
                <a:cubicBezTo>
                  <a:pt x="152342" y="332231"/>
                  <a:pt x="157145" y="332231"/>
                  <a:pt x="161706" y="333453"/>
                </a:cubicBezTo>
                <a:cubicBezTo>
                  <a:pt x="166266" y="334675"/>
                  <a:pt x="170425" y="337076"/>
                  <a:pt x="173764" y="340415"/>
                </a:cubicBezTo>
                <a:lnTo>
                  <a:pt x="173764" y="340415"/>
                </a:lnTo>
                <a:cubicBezTo>
                  <a:pt x="177102" y="343753"/>
                  <a:pt x="179504" y="347912"/>
                  <a:pt x="180726" y="352473"/>
                </a:cubicBezTo>
                <a:cubicBezTo>
                  <a:pt x="181948" y="357033"/>
                  <a:pt x="181948" y="361836"/>
                  <a:pt x="180726" y="366397"/>
                </a:cubicBezTo>
                <a:cubicBezTo>
                  <a:pt x="179504" y="370957"/>
                  <a:pt x="177102" y="375116"/>
                  <a:pt x="173764" y="378455"/>
                </a:cubicBezTo>
                <a:lnTo>
                  <a:pt x="171750" y="380469"/>
                </a:lnTo>
                <a:cubicBezTo>
                  <a:pt x="168412" y="383807"/>
                  <a:pt x="164252" y="386209"/>
                  <a:pt x="159692" y="387431"/>
                </a:cubicBezTo>
                <a:cubicBezTo>
                  <a:pt x="155131" y="388653"/>
                  <a:pt x="150329" y="388653"/>
                  <a:pt x="145768" y="387431"/>
                </a:cubicBezTo>
                <a:cubicBezTo>
                  <a:pt x="141208" y="386209"/>
                  <a:pt x="137048" y="383807"/>
                  <a:pt x="133710" y="380469"/>
                </a:cubicBezTo>
                <a:lnTo>
                  <a:pt x="133710" y="380469"/>
                </a:lnTo>
                <a:cubicBezTo>
                  <a:pt x="130371" y="377130"/>
                  <a:pt x="127970" y="372971"/>
                  <a:pt x="126748" y="368410"/>
                </a:cubicBezTo>
                <a:cubicBezTo>
                  <a:pt x="125526" y="363850"/>
                  <a:pt x="125526" y="359047"/>
                  <a:pt x="126748" y="354487"/>
                </a:cubicBezTo>
                <a:cubicBezTo>
                  <a:pt x="127970" y="349926"/>
                  <a:pt x="130371" y="345767"/>
                  <a:pt x="133710" y="342428"/>
                </a:cubicBezTo>
                <a:close/>
              </a:path>
            </a:pathLst>
          </a:custGeom>
          <a:noFill/>
          <a:ln w="12700" cap="rnd">
            <a:solidFill>
              <a:srgbClr val="000F47"/>
            </a:solidFill>
            <a:round/>
          </a:ln>
        </p:spPr>
        <p:txBody>
          <a:bodyPr/>
          <a:lstStyle/>
          <a:p/>
        </p:txBody>
      </p:sp>
      <p:sp>
        <p:nvSpPr>
          <p:cNvPr id="1002" name="icon-settings"/>
          <p:cNvSpPr/>
          <p:nvPr/>
        </p:nvSpPr>
        <p:spPr>
          <a:xfrm>
            <a:off x="4551679" y="1592580"/>
            <a:ext cx="457200" cy="457200"/>
          </a:xfrm>
          <a:custGeom>
            <a:avLst/>
            <a:gdLst/>
            <a:ahLst/>
            <a:rect l="0" t="0" r="457200" b="457200"/>
            <a:pathLst>
              <a:path w="457200" h="457200">
                <a:moveTo>
                  <a:pt x="366712" y="288322"/>
                </a:moveTo>
                <a:lnTo>
                  <a:pt x="404708" y="322612"/>
                </a:lnTo>
                <a:cubicBezTo>
                  <a:pt x="410554" y="327893"/>
                  <a:pt x="415265" y="334308"/>
                  <a:pt x="418554" y="341467"/>
                </a:cubicBezTo>
                <a:cubicBezTo>
                  <a:pt x="421844" y="348625"/>
                  <a:pt x="423643" y="356379"/>
                  <a:pt x="423842" y="364254"/>
                </a:cubicBezTo>
                <a:cubicBezTo>
                  <a:pt x="424042" y="372130"/>
                  <a:pt x="422638" y="379965"/>
                  <a:pt x="419715" y="387281"/>
                </a:cubicBezTo>
                <a:cubicBezTo>
                  <a:pt x="416792" y="394597"/>
                  <a:pt x="412412" y="401242"/>
                  <a:pt x="406841" y="406813"/>
                </a:cubicBezTo>
                <a:lnTo>
                  <a:pt x="406841" y="406813"/>
                </a:lnTo>
                <a:cubicBezTo>
                  <a:pt x="401271" y="412384"/>
                  <a:pt x="394625" y="416764"/>
                  <a:pt x="387309" y="419686"/>
                </a:cubicBezTo>
                <a:cubicBezTo>
                  <a:pt x="379993" y="422609"/>
                  <a:pt x="372159" y="424013"/>
                  <a:pt x="364283" y="423814"/>
                </a:cubicBezTo>
                <a:cubicBezTo>
                  <a:pt x="356407" y="423614"/>
                  <a:pt x="348654" y="421815"/>
                  <a:pt x="341495" y="418526"/>
                </a:cubicBezTo>
                <a:cubicBezTo>
                  <a:pt x="334337" y="415236"/>
                  <a:pt x="327921" y="410525"/>
                  <a:pt x="322640" y="404679"/>
                </a:cubicBezTo>
                <a:lnTo>
                  <a:pt x="271120" y="347662"/>
                </a:lnTo>
                <a:moveTo>
                  <a:pt x="216456" y="182785"/>
                </a:moveTo>
                <a:lnTo>
                  <a:pt x="147638" y="113957"/>
                </a:lnTo>
                <a:lnTo>
                  <a:pt x="147638" y="90488"/>
                </a:lnTo>
                <a:lnTo>
                  <a:pt x="90488" y="33338"/>
                </a:lnTo>
                <a:lnTo>
                  <a:pt x="33338" y="90488"/>
                </a:lnTo>
                <a:lnTo>
                  <a:pt x="90488" y="147638"/>
                </a:lnTo>
                <a:lnTo>
                  <a:pt x="113957" y="147638"/>
                </a:lnTo>
                <a:lnTo>
                  <a:pt x="181070" y="214751"/>
                </a:lnTo>
                <a:moveTo>
                  <a:pt x="428758" y="103737"/>
                </a:moveTo>
                <a:lnTo>
                  <a:pt x="374104" y="158382"/>
                </a:lnTo>
                <a:lnTo>
                  <a:pt x="308381" y="92659"/>
                </a:lnTo>
                <a:lnTo>
                  <a:pt x="363026" y="38005"/>
                </a:lnTo>
                <a:cubicBezTo>
                  <a:pt x="350380" y="34281"/>
                  <a:pt x="337177" y="32810"/>
                  <a:pt x="324021" y="33661"/>
                </a:cubicBezTo>
                <a:cubicBezTo>
                  <a:pt x="307929" y="34993"/>
                  <a:pt x="292373" y="40093"/>
                  <a:pt x="278615" y="48548"/>
                </a:cubicBezTo>
                <a:cubicBezTo>
                  <a:pt x="264858" y="57004"/>
                  <a:pt x="253282" y="68579"/>
                  <a:pt x="244825" y="82335"/>
                </a:cubicBezTo>
                <a:cubicBezTo>
                  <a:pt x="236369" y="96092"/>
                  <a:pt x="231267" y="111647"/>
                  <a:pt x="229934" y="127740"/>
                </a:cubicBezTo>
                <a:cubicBezTo>
                  <a:pt x="229080" y="140912"/>
                  <a:pt x="230554" y="154132"/>
                  <a:pt x="234286" y="166792"/>
                </a:cubicBezTo>
                <a:lnTo>
                  <a:pt x="42862" y="339614"/>
                </a:lnTo>
                <a:cubicBezTo>
                  <a:pt x="39964" y="342234"/>
                  <a:pt x="37629" y="345415"/>
                  <a:pt x="35998" y="348966"/>
                </a:cubicBezTo>
                <a:cubicBezTo>
                  <a:pt x="34368" y="352516"/>
                  <a:pt x="33476" y="356360"/>
                  <a:pt x="33377" y="360266"/>
                </a:cubicBezTo>
                <a:cubicBezTo>
                  <a:pt x="33278" y="364171"/>
                  <a:pt x="33974" y="368056"/>
                  <a:pt x="35423" y="371684"/>
                </a:cubicBezTo>
                <a:cubicBezTo>
                  <a:pt x="36872" y="375312"/>
                  <a:pt x="39043" y="378608"/>
                  <a:pt x="41805" y="381371"/>
                </a:cubicBezTo>
                <a:lnTo>
                  <a:pt x="85382" y="424948"/>
                </a:lnTo>
                <a:cubicBezTo>
                  <a:pt x="88147" y="427704"/>
                  <a:pt x="91442" y="429869"/>
                  <a:pt x="95069" y="431313"/>
                </a:cubicBezTo>
                <a:cubicBezTo>
                  <a:pt x="98695" y="432757"/>
                  <a:pt x="102577" y="433449"/>
                  <a:pt x="106479" y="433347"/>
                </a:cubicBezTo>
                <a:cubicBezTo>
                  <a:pt x="110381" y="433246"/>
                  <a:pt x="114222" y="432353"/>
                  <a:pt x="117769" y="430722"/>
                </a:cubicBezTo>
                <a:cubicBezTo>
                  <a:pt x="121315" y="429092"/>
                  <a:pt x="124494" y="426758"/>
                  <a:pt x="127111" y="423863"/>
                </a:cubicBezTo>
                <a:lnTo>
                  <a:pt x="300038" y="232477"/>
                </a:lnTo>
                <a:cubicBezTo>
                  <a:pt x="312698" y="236210"/>
                  <a:pt x="325918" y="237683"/>
                  <a:pt x="339090" y="236830"/>
                </a:cubicBezTo>
                <a:cubicBezTo>
                  <a:pt x="355183" y="235496"/>
                  <a:pt x="370738" y="230395"/>
                  <a:pt x="384495" y="221938"/>
                </a:cubicBezTo>
                <a:cubicBezTo>
                  <a:pt x="398251" y="213481"/>
                  <a:pt x="409826" y="201905"/>
                  <a:pt x="418281" y="188148"/>
                </a:cubicBezTo>
                <a:cubicBezTo>
                  <a:pt x="426737" y="174390"/>
                  <a:pt x="431837" y="158835"/>
                  <a:pt x="433168" y="142742"/>
                </a:cubicBezTo>
                <a:cubicBezTo>
                  <a:pt x="433998" y="129582"/>
                  <a:pt x="432505" y="116379"/>
                  <a:pt x="428758" y="103737"/>
                </a:cubicBezTo>
              </a:path>
            </a:pathLst>
          </a:custGeom>
          <a:noFill/>
          <a:ln w="12700" cap="rnd">
            <a:solidFill>
              <a:srgbClr val="000F47"/>
            </a:solidFill>
            <a:round/>
          </a:ln>
        </p:spPr>
        <p:txBody>
          <a:bodyPr/>
          <a:lstStyle/>
          <a:p/>
        </p:txBody>
      </p:sp>
      <p:sp>
        <p:nvSpPr>
          <p:cNvPr id="1003" name="icon-chart"/>
          <p:cNvSpPr/>
          <p:nvPr/>
        </p:nvSpPr>
        <p:spPr>
          <a:xfrm>
            <a:off x="8463280" y="1592580"/>
            <a:ext cx="457200" cy="457200"/>
          </a:xfrm>
          <a:custGeom>
            <a:avLst/>
            <a:gdLst/>
            <a:ahLst/>
            <a:rect l="0" t="0" r="457200" b="457200"/>
            <a:pathLst>
              <a:path w="457200" h="457200">
                <a:moveTo>
                  <a:pt x="328612" y="233362"/>
                </a:moveTo>
                <a:lnTo>
                  <a:pt x="442912" y="233362"/>
                </a:lnTo>
                <a:moveTo>
                  <a:pt x="233362" y="23812"/>
                </a:moveTo>
                <a:lnTo>
                  <a:pt x="233362" y="138112"/>
                </a:lnTo>
                <a:moveTo>
                  <a:pt x="163563" y="298171"/>
                </a:moveTo>
                <a:lnTo>
                  <a:pt x="79810" y="375952"/>
                </a:lnTo>
                <a:moveTo>
                  <a:pt x="442912" y="233362"/>
                </a:moveTo>
                <a:cubicBezTo>
                  <a:pt x="442912" y="270143"/>
                  <a:pt x="433229" y="306284"/>
                  <a:pt x="414838" y="338138"/>
                </a:cubicBezTo>
                <a:cubicBezTo>
                  <a:pt x="396448" y="369991"/>
                  <a:pt x="369991" y="396448"/>
                  <a:pt x="338138" y="414838"/>
                </a:cubicBezTo>
                <a:cubicBezTo>
                  <a:pt x="306284" y="433229"/>
                  <a:pt x="270143" y="442912"/>
                  <a:pt x="233362" y="442912"/>
                </a:cubicBezTo>
                <a:cubicBezTo>
                  <a:pt x="196582" y="442912"/>
                  <a:pt x="160441" y="433229"/>
                  <a:pt x="128588" y="414838"/>
                </a:cubicBezTo>
                <a:cubicBezTo>
                  <a:pt x="96734" y="396448"/>
                  <a:pt x="70277" y="369991"/>
                  <a:pt x="51887" y="338138"/>
                </a:cubicBezTo>
                <a:cubicBezTo>
                  <a:pt x="33496" y="306284"/>
                  <a:pt x="23813" y="270143"/>
                  <a:pt x="23812" y="233363"/>
                </a:cubicBezTo>
                <a:cubicBezTo>
                  <a:pt x="23812" y="196582"/>
                  <a:pt x="33496" y="160441"/>
                  <a:pt x="51887" y="128588"/>
                </a:cubicBezTo>
                <a:cubicBezTo>
                  <a:pt x="70277" y="96734"/>
                  <a:pt x="96734" y="70277"/>
                  <a:pt x="128587" y="51887"/>
                </a:cubicBezTo>
                <a:cubicBezTo>
                  <a:pt x="160441" y="33496"/>
                  <a:pt x="196582" y="23813"/>
                  <a:pt x="233362" y="23812"/>
                </a:cubicBezTo>
                <a:cubicBezTo>
                  <a:pt x="270143" y="23812"/>
                  <a:pt x="306284" y="33496"/>
                  <a:pt x="338138" y="51887"/>
                </a:cubicBezTo>
                <a:cubicBezTo>
                  <a:pt x="369991" y="70277"/>
                  <a:pt x="396448" y="96734"/>
                  <a:pt x="414838" y="128588"/>
                </a:cubicBezTo>
                <a:cubicBezTo>
                  <a:pt x="433229" y="160441"/>
                  <a:pt x="442912" y="196582"/>
                  <a:pt x="442912" y="233362"/>
                </a:cubicBezTo>
                <a:close/>
                <a:moveTo>
                  <a:pt x="328612" y="233362"/>
                </a:moveTo>
                <a:cubicBezTo>
                  <a:pt x="328612" y="250081"/>
                  <a:pt x="324211" y="266509"/>
                  <a:pt x="315851" y="280988"/>
                </a:cubicBezTo>
                <a:cubicBezTo>
                  <a:pt x="307492" y="295466"/>
                  <a:pt x="295466" y="307492"/>
                  <a:pt x="280988" y="315851"/>
                </a:cubicBezTo>
                <a:cubicBezTo>
                  <a:pt x="266509" y="324211"/>
                  <a:pt x="250081" y="328612"/>
                  <a:pt x="233362" y="328612"/>
                </a:cubicBezTo>
                <a:cubicBezTo>
                  <a:pt x="216644" y="328612"/>
                  <a:pt x="200216" y="324211"/>
                  <a:pt x="185738" y="315851"/>
                </a:cubicBezTo>
                <a:cubicBezTo>
                  <a:pt x="171259" y="307492"/>
                  <a:pt x="159233" y="295466"/>
                  <a:pt x="150874" y="280988"/>
                </a:cubicBezTo>
                <a:cubicBezTo>
                  <a:pt x="142514" y="266509"/>
                  <a:pt x="138112" y="250081"/>
                  <a:pt x="138112" y="233362"/>
                </a:cubicBezTo>
                <a:cubicBezTo>
                  <a:pt x="138112" y="216644"/>
                  <a:pt x="142514" y="200216"/>
                  <a:pt x="150874" y="185738"/>
                </a:cubicBezTo>
                <a:cubicBezTo>
                  <a:pt x="159233" y="171259"/>
                  <a:pt x="171259" y="159233"/>
                  <a:pt x="185737" y="150874"/>
                </a:cubicBezTo>
                <a:cubicBezTo>
                  <a:pt x="200216" y="142514"/>
                  <a:pt x="216644" y="138112"/>
                  <a:pt x="233362" y="138112"/>
                </a:cubicBezTo>
                <a:cubicBezTo>
                  <a:pt x="250081" y="138112"/>
                  <a:pt x="266509" y="142514"/>
                  <a:pt x="280988" y="150874"/>
                </a:cubicBezTo>
                <a:cubicBezTo>
                  <a:pt x="295466" y="159233"/>
                  <a:pt x="307492" y="171259"/>
                  <a:pt x="315851" y="185738"/>
                </a:cubicBezTo>
                <a:cubicBezTo>
                  <a:pt x="324211" y="200216"/>
                  <a:pt x="328612" y="216644"/>
                  <a:pt x="328612" y="233362"/>
                </a:cubicBezTo>
                <a:close/>
              </a:path>
            </a:pathLst>
          </a:custGeom>
          <a:noFill/>
          <a:ln w="12700" cap="rnd">
            <a:solidFill>
              <a:srgbClr val="000F47"/>
            </a:solidFill>
            <a:round/>
          </a:ln>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Build and buy differ most on speed to market</a:t>
            </a:r>
          </a:p>
        </p:txBody>
      </p:sp>
      <p:sp>
        <p:nvSpPr>
          <p:cNvPr id="3" name="Content Placeholder 2"/>
          <p:cNvSpPr>
            <a:spLocks noGrp="1"/>
          </p:cNvSpPr>
          <p:nvPr>
            <p:ph idx="11" sz="half"/>
          </p:nvPr>
        </p:nvSpPr>
        <p:spPr/>
        <p:txBody>
          <a:bodyPr wrap="square"/>
          <a:lstStyle/>
          <a:p>
            <a:pPr lvl="4"/>
            <a:r>
              <a:t>Build in-house</a:t>
            </a:r>
          </a:p>
          <a:p>
            <a:pPr lvl="1"/>
            <a:r>
              <a:t>18 months to first release</a:t>
            </a:r>
          </a:p>
          <a:p>
            <a:pPr lvl="1"/>
            <a:r>
              <a:t>Full control of the roadmap</a:t>
            </a:r>
          </a:p>
          <a:p>
            <a:pPr lvl="1"/>
            <a:r>
              <a:t>Requires 12 new hires</a:t>
            </a:r>
          </a:p>
        </p:txBody>
      </p:sp>
      <p:sp>
        <p:nvSpPr>
          <p:cNvPr id="4" name="Content Placeholder 3"/>
          <p:cNvSpPr>
            <a:spLocks noGrp="1"/>
          </p:cNvSpPr>
          <p:nvPr>
            <p:ph idx="12" sz="half"/>
          </p:nvPr>
        </p:nvSpPr>
        <p:spPr/>
        <p:txBody>
          <a:bodyPr wrap="square"/>
          <a:lstStyle/>
          <a:p>
            <a:pPr lvl="4"/>
            <a:r>
              <a:t>Buy and integrate</a:t>
            </a:r>
          </a:p>
          <a:p>
            <a:pPr lvl="1"/>
            <a:r>
              <a:t>Live in 5 months</a:t>
            </a:r>
          </a:p>
          <a:p>
            <a:pPr lvl="1"/>
            <a:r>
              <a:t>Vendor sets release cadence</a:t>
            </a:r>
          </a:p>
          <a:p>
            <a:pPr lvl="1"/>
            <a:r>
              <a:t>No permanent headcount added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The pilot results argue clearly for a rollout</a:t>
            </a:r>
          </a:p>
        </p:txBody>
      </p:sp>
      <p:sp>
        <p:nvSpPr>
          <p:cNvPr id="3" name="TextBox 2"/>
          <p:cNvSpPr txBox="1"/>
          <p:nvPr/>
        </p:nvSpPr>
        <p:spPr>
          <a:xfrm>
            <a:off x="457200" y="1408176"/>
            <a:ext cx="5364327" cy="365760"/>
          </a:xfrm>
          <a:prstGeom prst="rect">
            <a:avLst/>
          </a:prstGeom>
          <a:noFill/>
        </p:spPr>
        <p:txBody>
          <a:bodyPr wrap="square" anchor="t" lIns="0" rIns="0" tIns="0" bIns="0">
            <a:spAutoFit/>
          </a:bodyPr>
          <a:lstStyle/>
          <a:p>
            <a:pPr algn="l"/>
            <a:r>
              <a:rPr sz="1200" b="1">
                <a:solidFill>
                  <a:srgbClr val="000F47"/>
                </a:solidFill>
                <a:latin typeface="Noto Sans"/>
              </a:rPr>
              <a:t>What worked</a:t>
            </a:r>
          </a:p>
        </p:txBody>
      </p:sp>
      <p:sp>
        <p:nvSpPr>
          <p:cNvPr id="4" name="TextBox 3"/>
          <p:cNvSpPr txBox="1"/>
          <p:nvPr/>
        </p:nvSpPr>
        <p:spPr>
          <a:xfrm>
            <a:off x="457200" y="1865376"/>
            <a:ext cx="365760" cy="457200"/>
          </a:xfrm>
          <a:prstGeom prst="rect">
            <a:avLst/>
          </a:prstGeom>
          <a:noFill/>
        </p:spPr>
        <p:txBody>
          <a:bodyPr wrap="square" anchor="t" lIns="0" rIns="0" tIns="0" bIns="0">
            <a:spAutoFit/>
          </a:bodyPr>
          <a:lstStyle/>
          <a:p>
            <a:pPr algn="l"/>
            <a:r>
              <a:rPr sz="1400" b="1">
                <a:solidFill>
                  <a:srgbClr val="3FA535"/>
                </a:solidFill>
                <a:latin typeface="Noto Sans"/>
              </a:rPr>
              <a:t>✓</a:t>
            </a:r>
          </a:p>
        </p:txBody>
      </p:sp>
      <p:sp>
        <p:nvSpPr>
          <p:cNvPr id="5" name="TextBox 4"/>
          <p:cNvSpPr txBox="1"/>
          <p:nvPr/>
        </p:nvSpPr>
        <p:spPr>
          <a:xfrm>
            <a:off x="841247" y="1865376"/>
            <a:ext cx="4980279" cy="457200"/>
          </a:xfrm>
          <a:prstGeom prst="rect">
            <a:avLst/>
          </a:prstGeom>
          <a:noFill/>
        </p:spPr>
        <p:txBody>
          <a:bodyPr wrap="square" anchor="t" lIns="0" rIns="0" tIns="0" bIns="0">
            <a:spAutoFit/>
          </a:bodyPr>
          <a:lstStyle/>
          <a:p>
            <a:pPr algn="l"/>
            <a:r>
              <a:rPr sz="1200" b="0">
                <a:solidFill>
                  <a:srgbClr val="000F47"/>
                </a:solidFill>
                <a:latin typeface="Noto Sans"/>
              </a:rPr>
              <a:t>Cycle time fell 22% in eight weeks</a:t>
            </a:r>
          </a:p>
        </p:txBody>
      </p:sp>
      <p:sp>
        <p:nvSpPr>
          <p:cNvPr id="6" name="TextBox 5"/>
          <p:cNvSpPr txBox="1"/>
          <p:nvPr/>
        </p:nvSpPr>
        <p:spPr>
          <a:xfrm>
            <a:off x="457200" y="2322576"/>
            <a:ext cx="365760" cy="457200"/>
          </a:xfrm>
          <a:prstGeom prst="rect">
            <a:avLst/>
          </a:prstGeom>
          <a:noFill/>
        </p:spPr>
        <p:txBody>
          <a:bodyPr wrap="square" anchor="t" lIns="0" rIns="0" tIns="0" bIns="0">
            <a:spAutoFit/>
          </a:bodyPr>
          <a:lstStyle/>
          <a:p>
            <a:pPr algn="l"/>
            <a:r>
              <a:rPr sz="1400" b="1">
                <a:solidFill>
                  <a:srgbClr val="3FA535"/>
                </a:solidFill>
                <a:latin typeface="Noto Sans"/>
              </a:rPr>
              <a:t>✓</a:t>
            </a:r>
          </a:p>
        </p:txBody>
      </p:sp>
      <p:sp>
        <p:nvSpPr>
          <p:cNvPr id="7" name="TextBox 6"/>
          <p:cNvSpPr txBox="1"/>
          <p:nvPr/>
        </p:nvSpPr>
        <p:spPr>
          <a:xfrm>
            <a:off x="841247" y="2322576"/>
            <a:ext cx="4980279" cy="457200"/>
          </a:xfrm>
          <a:prstGeom prst="rect">
            <a:avLst/>
          </a:prstGeom>
          <a:noFill/>
        </p:spPr>
        <p:txBody>
          <a:bodyPr wrap="square" anchor="t" lIns="0" rIns="0" tIns="0" bIns="0">
            <a:spAutoFit/>
          </a:bodyPr>
          <a:lstStyle/>
          <a:p>
            <a:pPr algn="l"/>
            <a:r>
              <a:rPr sz="1200" b="0">
                <a:solidFill>
                  <a:srgbClr val="000F47"/>
                </a:solidFill>
                <a:latin typeface="Noto Sans"/>
              </a:rPr>
              <a:t>Error rate halved without added staff</a:t>
            </a:r>
          </a:p>
        </p:txBody>
      </p:sp>
      <p:sp>
        <p:nvSpPr>
          <p:cNvPr id="8" name="TextBox 7"/>
          <p:cNvSpPr txBox="1"/>
          <p:nvPr/>
        </p:nvSpPr>
        <p:spPr>
          <a:xfrm>
            <a:off x="457200" y="2779776"/>
            <a:ext cx="365760" cy="457200"/>
          </a:xfrm>
          <a:prstGeom prst="rect">
            <a:avLst/>
          </a:prstGeom>
          <a:noFill/>
        </p:spPr>
        <p:txBody>
          <a:bodyPr wrap="square" anchor="t" lIns="0" rIns="0" tIns="0" bIns="0">
            <a:spAutoFit/>
          </a:bodyPr>
          <a:lstStyle/>
          <a:p>
            <a:pPr algn="l"/>
            <a:r>
              <a:rPr sz="1400" b="1">
                <a:solidFill>
                  <a:srgbClr val="3FA535"/>
                </a:solidFill>
                <a:latin typeface="Noto Sans"/>
              </a:rPr>
              <a:t>✓</a:t>
            </a:r>
          </a:p>
        </p:txBody>
      </p:sp>
      <p:sp>
        <p:nvSpPr>
          <p:cNvPr id="9" name="TextBox 8"/>
          <p:cNvSpPr txBox="1"/>
          <p:nvPr/>
        </p:nvSpPr>
        <p:spPr>
          <a:xfrm>
            <a:off x="841247" y="2779776"/>
            <a:ext cx="4980279" cy="457200"/>
          </a:xfrm>
          <a:prstGeom prst="rect">
            <a:avLst/>
          </a:prstGeom>
          <a:noFill/>
        </p:spPr>
        <p:txBody>
          <a:bodyPr wrap="square" anchor="t" lIns="0" rIns="0" tIns="0" bIns="0">
            <a:spAutoFit/>
          </a:bodyPr>
          <a:lstStyle/>
          <a:p>
            <a:pPr algn="l"/>
            <a:r>
              <a:rPr sz="1200" b="0">
                <a:solidFill>
                  <a:srgbClr val="000F47"/>
                </a:solidFill>
                <a:latin typeface="Noto Sans"/>
              </a:rPr>
              <a:t>Teams adopted the tool unprompted</a:t>
            </a:r>
          </a:p>
        </p:txBody>
      </p:sp>
      <p:sp>
        <p:nvSpPr>
          <p:cNvPr id="10" name="TextBox 9"/>
          <p:cNvSpPr txBox="1"/>
          <p:nvPr/>
        </p:nvSpPr>
        <p:spPr>
          <a:xfrm>
            <a:off x="6370167" y="1408176"/>
            <a:ext cx="5364327" cy="365760"/>
          </a:xfrm>
          <a:prstGeom prst="rect">
            <a:avLst/>
          </a:prstGeom>
          <a:noFill/>
        </p:spPr>
        <p:txBody>
          <a:bodyPr wrap="square" anchor="t" lIns="0" rIns="0" tIns="0" bIns="0">
            <a:spAutoFit/>
          </a:bodyPr>
          <a:lstStyle/>
          <a:p>
            <a:pPr algn="l"/>
            <a:r>
              <a:rPr sz="1200" b="1">
                <a:solidFill>
                  <a:srgbClr val="000F47"/>
                </a:solidFill>
                <a:latin typeface="Noto Sans"/>
              </a:rPr>
              <a:t>What did not</a:t>
            </a:r>
          </a:p>
        </p:txBody>
      </p:sp>
      <p:sp>
        <p:nvSpPr>
          <p:cNvPr id="11" name="TextBox 10"/>
          <p:cNvSpPr txBox="1"/>
          <p:nvPr/>
        </p:nvSpPr>
        <p:spPr>
          <a:xfrm>
            <a:off x="6370167" y="1865376"/>
            <a:ext cx="365760" cy="457200"/>
          </a:xfrm>
          <a:prstGeom prst="rect">
            <a:avLst/>
          </a:prstGeom>
          <a:noFill/>
        </p:spPr>
        <p:txBody>
          <a:bodyPr wrap="square" anchor="t" lIns="0" rIns="0" tIns="0" bIns="0">
            <a:spAutoFit/>
          </a:bodyPr>
          <a:lstStyle/>
          <a:p>
            <a:pPr algn="l"/>
            <a:r>
              <a:rPr sz="1400" b="1">
                <a:solidFill>
                  <a:srgbClr val="D0021B"/>
                </a:solidFill>
                <a:latin typeface="Noto Sans"/>
              </a:rPr>
              <a:t>✗</a:t>
            </a:r>
          </a:p>
        </p:txBody>
      </p:sp>
      <p:sp>
        <p:nvSpPr>
          <p:cNvPr id="12" name="TextBox 11"/>
          <p:cNvSpPr txBox="1"/>
          <p:nvPr/>
        </p:nvSpPr>
        <p:spPr>
          <a:xfrm>
            <a:off x="6754215" y="1865376"/>
            <a:ext cx="4980279" cy="457200"/>
          </a:xfrm>
          <a:prstGeom prst="rect">
            <a:avLst/>
          </a:prstGeom>
          <a:noFill/>
        </p:spPr>
        <p:txBody>
          <a:bodyPr wrap="square" anchor="t" lIns="0" rIns="0" tIns="0" bIns="0">
            <a:spAutoFit/>
          </a:bodyPr>
          <a:lstStyle/>
          <a:p>
            <a:pPr algn="l"/>
            <a:r>
              <a:rPr sz="1200" b="0">
                <a:solidFill>
                  <a:srgbClr val="000F47"/>
                </a:solidFill>
                <a:latin typeface="Noto Sans"/>
              </a:rPr>
              <a:t>Legacy interface needs manual re-keying</a:t>
            </a:r>
          </a:p>
        </p:txBody>
      </p:sp>
      <p:sp>
        <p:nvSpPr>
          <p:cNvPr id="13" name="TextBox 12"/>
          <p:cNvSpPr txBox="1"/>
          <p:nvPr/>
        </p:nvSpPr>
        <p:spPr>
          <a:xfrm>
            <a:off x="6370167" y="2322576"/>
            <a:ext cx="365760" cy="457200"/>
          </a:xfrm>
          <a:prstGeom prst="rect">
            <a:avLst/>
          </a:prstGeom>
          <a:noFill/>
        </p:spPr>
        <p:txBody>
          <a:bodyPr wrap="square" anchor="t" lIns="0" rIns="0" tIns="0" bIns="0">
            <a:spAutoFit/>
          </a:bodyPr>
          <a:lstStyle/>
          <a:p>
            <a:pPr algn="l"/>
            <a:r>
              <a:rPr sz="1400" b="1">
                <a:solidFill>
                  <a:srgbClr val="D0021B"/>
                </a:solidFill>
                <a:latin typeface="Noto Sans"/>
              </a:rPr>
              <a:t>✗</a:t>
            </a:r>
          </a:p>
        </p:txBody>
      </p:sp>
      <p:sp>
        <p:nvSpPr>
          <p:cNvPr id="14" name="TextBox 13"/>
          <p:cNvSpPr txBox="1"/>
          <p:nvPr/>
        </p:nvSpPr>
        <p:spPr>
          <a:xfrm>
            <a:off x="6754215" y="2322576"/>
            <a:ext cx="4980279" cy="457200"/>
          </a:xfrm>
          <a:prstGeom prst="rect">
            <a:avLst/>
          </a:prstGeom>
          <a:noFill/>
        </p:spPr>
        <p:txBody>
          <a:bodyPr wrap="square" anchor="t" lIns="0" rIns="0" tIns="0" bIns="0">
            <a:spAutoFit/>
          </a:bodyPr>
          <a:lstStyle/>
          <a:p>
            <a:pPr algn="l"/>
            <a:r>
              <a:rPr sz="1200" b="0">
                <a:solidFill>
                  <a:srgbClr val="000F47"/>
                </a:solidFill>
                <a:latin typeface="Noto Sans"/>
              </a:rPr>
              <a:t>Training took twice the planned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wrap="square"/>
          <a:lstStyle/>
          <a:p>
            <a:pPr marL="0" indent="0">
              <a:buNone/>
            </a:pPr>
            <a:r>
              <a:t>Cards and icons</a:t>
            </a:r>
          </a:p>
        </p:txBody>
      </p:sp>
      <p:sp>
        <p:nvSpPr>
          <p:cNvPr id="3" name="Text Placeholder 2"/>
          <p:cNvSpPr>
            <a:spLocks noGrp="1"/>
          </p:cNvSpPr>
          <p:nvPr>
            <p:ph type="body" idx="12" sz="quarter"/>
          </p:nvPr>
        </p:nvSpPr>
        <p:spPr/>
        <p:txBody>
          <a:bodyPr wrap="square"/>
          <a:lstStyle/>
          <a:p>
            <a:pPr marL="0" indent="0">
              <a:buNone/>
            </a:pPr>
            <a:r>
              <a:t>02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All four headline KPIs moved the right way in Q2</a:t>
            </a:r>
          </a:p>
        </p:txBody>
      </p:sp>
      <p:sp>
        <p:nvSpPr>
          <p:cNvPr id="3" name="Content Placeholder 2"/>
          <p:cNvSpPr>
            <a:spLocks noGrp="1"/>
          </p:cNvSpPr>
          <p:nvPr>
            <p:ph idx="11"/>
          </p:nvPr>
        </p:nvSpPr>
        <p:spPr>
          <a:xfrm>
            <a:off x="457200" y="1409700"/>
            <a:ext cx="2476500" cy="4593336"/>
          </a:xfrm>
          <a:solidFill>
            <a:srgbClr val="F7F3EE"/>
          </a:solidFill>
          <a:ln>
            <a:noFill/>
          </a:ln>
        </p:spPr>
        <p:txBody>
          <a:bodyPr wrap="square" lIns="182880" tIns="822959" rIns="183600" bIns="183600"/>
          <a:lstStyle/>
          <a:p>
            <a:pPr lvl="5" marL="0" indent="0">
              <a:spcAft>
                <a:spcPts val="600"/>
              </a:spcAft>
              <a:buNone/>
            </a:pPr>
            <a:r>
              <a:rPr sz="1200" b="0"/>
              <a:t/>
            </a:r>
          </a:p>
          <a:p>
            <a:pPr lvl="6" marL="0" indent="0">
              <a:buNone/>
            </a:pPr>
            <a:r>
              <a:rPr sz="2600"/>
              <a:t>+12%</a:t>
            </a:r>
          </a:p>
        </p:txBody>
      </p:sp>
      <p:sp>
        <p:nvSpPr>
          <p:cNvPr id="4" name="Content Placeholder 3"/>
          <p:cNvSpPr>
            <a:spLocks noGrp="1"/>
          </p:cNvSpPr>
          <p:nvPr>
            <p:ph idx="12"/>
          </p:nvPr>
        </p:nvSpPr>
        <p:spPr>
          <a:xfrm>
            <a:off x="3390900" y="1409700"/>
            <a:ext cx="2476500" cy="4593336"/>
          </a:xfrm>
          <a:solidFill>
            <a:srgbClr val="F7F3EE"/>
          </a:solidFill>
          <a:ln>
            <a:noFill/>
          </a:ln>
        </p:spPr>
        <p:txBody>
          <a:bodyPr wrap="square" lIns="182880" tIns="822959" rIns="183600" bIns="183600"/>
          <a:lstStyle/>
          <a:p>
            <a:pPr lvl="5" marL="0" indent="0">
              <a:spcAft>
                <a:spcPts val="600"/>
              </a:spcAft>
              <a:buNone/>
            </a:pPr>
            <a:r>
              <a:rPr sz="1200" b="0"/>
              <a:t/>
            </a:r>
          </a:p>
          <a:p>
            <a:pPr lvl="6" marL="0" indent="0">
              <a:buNone/>
            </a:pPr>
            <a:r>
              <a:rPr sz="2600"/>
              <a:t>38%</a:t>
            </a:r>
          </a:p>
        </p:txBody>
      </p:sp>
      <p:sp>
        <p:nvSpPr>
          <p:cNvPr id="5" name="Content Placeholder 4"/>
          <p:cNvSpPr>
            <a:spLocks noGrp="1"/>
          </p:cNvSpPr>
          <p:nvPr>
            <p:ph idx="13" sz="quarter"/>
          </p:nvPr>
        </p:nvSpPr>
        <p:spPr>
          <a:xfrm>
            <a:off x="6324600" y="1409700"/>
            <a:ext cx="2476500" cy="4593336"/>
          </a:xfrm>
          <a:solidFill>
            <a:srgbClr val="F7F3EE"/>
          </a:solidFill>
          <a:ln>
            <a:noFill/>
          </a:ln>
        </p:spPr>
        <p:txBody>
          <a:bodyPr wrap="square" lIns="182880" tIns="822959" rIns="183600" bIns="183600"/>
          <a:lstStyle/>
          <a:p>
            <a:pPr lvl="5" marL="0" indent="0">
              <a:spcAft>
                <a:spcPts val="600"/>
              </a:spcAft>
              <a:buNone/>
            </a:pPr>
            <a:r>
              <a:rPr sz="1200" b="0"/>
              <a:t/>
            </a:r>
          </a:p>
          <a:p>
            <a:pPr lvl="6" marL="0" indent="0">
              <a:buNone/>
            </a:pPr>
            <a:r>
              <a:rPr sz="2600"/>
              <a:t>92</a:t>
            </a:r>
          </a:p>
        </p:txBody>
      </p:sp>
      <p:sp>
        <p:nvSpPr>
          <p:cNvPr id="6" name="Content Placeholder 5"/>
          <p:cNvSpPr>
            <a:spLocks noGrp="1"/>
          </p:cNvSpPr>
          <p:nvPr>
            <p:ph idx="14"/>
          </p:nvPr>
        </p:nvSpPr>
        <p:spPr>
          <a:xfrm>
            <a:off x="9258300" y="1409700"/>
            <a:ext cx="2476500" cy="4593336"/>
          </a:xfrm>
          <a:solidFill>
            <a:srgbClr val="F7F3EE"/>
          </a:solidFill>
          <a:ln>
            <a:noFill/>
          </a:ln>
        </p:spPr>
        <p:txBody>
          <a:bodyPr wrap="square" lIns="182880" tIns="822959" rIns="183600" bIns="183600"/>
          <a:lstStyle/>
          <a:p>
            <a:pPr lvl="5" marL="0" indent="0">
              <a:spcAft>
                <a:spcPts val="600"/>
              </a:spcAft>
              <a:buNone/>
            </a:pPr>
            <a:r>
              <a:rPr sz="1200" b="0"/>
              <a:t/>
            </a:r>
          </a:p>
          <a:p>
            <a:pPr lvl="6" marL="0" indent="0">
              <a:buNone/>
            </a:pPr>
            <a:r>
              <a:rPr sz="2600"/>
              <a:t>4.2 d</a:t>
            </a:r>
          </a:p>
        </p:txBody>
      </p:sp>
      <p:sp>
        <p:nvSpPr>
          <p:cNvPr id="1004" name="icon-revenue"/>
          <p:cNvSpPr/>
          <p:nvPr/>
        </p:nvSpPr>
        <p:spPr>
          <a:xfrm>
            <a:off x="640080" y="1592580"/>
            <a:ext cx="457200" cy="457200"/>
          </a:xfrm>
          <a:custGeom>
            <a:avLst/>
            <a:gdLst/>
            <a:ahLst/>
            <a:rect l="0" t="0" r="457200" b="457200"/>
            <a:pathLst>
              <a:path w="457200" h="457200">
                <a:moveTo>
                  <a:pt x="252412" y="71438"/>
                </a:moveTo>
                <a:cubicBezTo>
                  <a:pt x="252412" y="79797"/>
                  <a:pt x="247571" y="88011"/>
                  <a:pt x="238375" y="95250"/>
                </a:cubicBezTo>
                <a:cubicBezTo>
                  <a:pt x="229180" y="102489"/>
                  <a:pt x="215952" y="108502"/>
                  <a:pt x="200025" y="112682"/>
                </a:cubicBezTo>
                <a:cubicBezTo>
                  <a:pt x="184098" y="116862"/>
                  <a:pt x="166028" y="119062"/>
                  <a:pt x="147638" y="119062"/>
                </a:cubicBezTo>
                <a:cubicBezTo>
                  <a:pt x="129247" y="119062"/>
                  <a:pt x="111177" y="116862"/>
                  <a:pt x="95250" y="112682"/>
                </a:cubicBezTo>
                <a:cubicBezTo>
                  <a:pt x="79323" y="108502"/>
                  <a:pt x="66095" y="102489"/>
                  <a:pt x="56900" y="95250"/>
                </a:cubicBezTo>
                <a:cubicBezTo>
                  <a:pt x="47704" y="88011"/>
                  <a:pt x="42863" y="79797"/>
                  <a:pt x="42862" y="71438"/>
                </a:cubicBezTo>
                <a:cubicBezTo>
                  <a:pt x="42862" y="63078"/>
                  <a:pt x="47704" y="54864"/>
                  <a:pt x="56900" y="47625"/>
                </a:cubicBezTo>
                <a:cubicBezTo>
                  <a:pt x="66095" y="40386"/>
                  <a:pt x="79323" y="34373"/>
                  <a:pt x="95250" y="30193"/>
                </a:cubicBezTo>
                <a:cubicBezTo>
                  <a:pt x="111177" y="26013"/>
                  <a:pt x="129247" y="23812"/>
                  <a:pt x="147637" y="23812"/>
                </a:cubicBezTo>
                <a:cubicBezTo>
                  <a:pt x="166028" y="23812"/>
                  <a:pt x="184098" y="26013"/>
                  <a:pt x="200025" y="30193"/>
                </a:cubicBezTo>
                <a:cubicBezTo>
                  <a:pt x="215952" y="34373"/>
                  <a:pt x="229180" y="40386"/>
                  <a:pt x="238375" y="47625"/>
                </a:cubicBezTo>
                <a:cubicBezTo>
                  <a:pt x="247571" y="54864"/>
                  <a:pt x="252412" y="63078"/>
                  <a:pt x="252412" y="71437"/>
                </a:cubicBezTo>
                <a:close/>
                <a:moveTo>
                  <a:pt x="252412" y="71438"/>
                </a:moveTo>
                <a:lnTo>
                  <a:pt x="252412" y="138112"/>
                </a:lnTo>
                <a:cubicBezTo>
                  <a:pt x="252412" y="164782"/>
                  <a:pt x="205740" y="185738"/>
                  <a:pt x="147638" y="185738"/>
                </a:cubicBezTo>
                <a:cubicBezTo>
                  <a:pt x="89535" y="185738"/>
                  <a:pt x="42862" y="164782"/>
                  <a:pt x="42862" y="138112"/>
                </a:cubicBezTo>
                <a:lnTo>
                  <a:pt x="42862" y="71438"/>
                </a:lnTo>
                <a:moveTo>
                  <a:pt x="214312" y="241935"/>
                </a:moveTo>
                <a:cubicBezTo>
                  <a:pt x="196215" y="248602"/>
                  <a:pt x="173355" y="252412"/>
                  <a:pt x="147638" y="252412"/>
                </a:cubicBezTo>
                <a:cubicBezTo>
                  <a:pt x="89535" y="252412"/>
                  <a:pt x="42862" y="231458"/>
                  <a:pt x="42862" y="204788"/>
                </a:cubicBezTo>
                <a:lnTo>
                  <a:pt x="42862" y="138112"/>
                </a:lnTo>
                <a:moveTo>
                  <a:pt x="214312" y="308610"/>
                </a:moveTo>
                <a:cubicBezTo>
                  <a:pt x="196215" y="315278"/>
                  <a:pt x="173355" y="319088"/>
                  <a:pt x="147638" y="319088"/>
                </a:cubicBezTo>
                <a:cubicBezTo>
                  <a:pt x="89535" y="319088"/>
                  <a:pt x="42862" y="298132"/>
                  <a:pt x="42862" y="271462"/>
                </a:cubicBezTo>
                <a:lnTo>
                  <a:pt x="42862" y="204788"/>
                </a:lnTo>
                <a:moveTo>
                  <a:pt x="214312" y="375285"/>
                </a:moveTo>
                <a:cubicBezTo>
                  <a:pt x="196215" y="381952"/>
                  <a:pt x="173355" y="385762"/>
                  <a:pt x="147638" y="385762"/>
                </a:cubicBezTo>
                <a:cubicBezTo>
                  <a:pt x="89535" y="385762"/>
                  <a:pt x="42862" y="364808"/>
                  <a:pt x="42862" y="338138"/>
                </a:cubicBezTo>
                <a:lnTo>
                  <a:pt x="42862" y="271462"/>
                </a:lnTo>
                <a:moveTo>
                  <a:pt x="423862" y="195262"/>
                </a:moveTo>
                <a:cubicBezTo>
                  <a:pt x="423862" y="203622"/>
                  <a:pt x="419021" y="211836"/>
                  <a:pt x="409825" y="219075"/>
                </a:cubicBezTo>
                <a:cubicBezTo>
                  <a:pt x="400630" y="226314"/>
                  <a:pt x="387402" y="232327"/>
                  <a:pt x="371475" y="236507"/>
                </a:cubicBezTo>
                <a:cubicBezTo>
                  <a:pt x="355548" y="240687"/>
                  <a:pt x="337478" y="242888"/>
                  <a:pt x="319088" y="242888"/>
                </a:cubicBezTo>
                <a:cubicBezTo>
                  <a:pt x="300697" y="242888"/>
                  <a:pt x="282627" y="240687"/>
                  <a:pt x="266700" y="236507"/>
                </a:cubicBezTo>
                <a:cubicBezTo>
                  <a:pt x="250773" y="232327"/>
                  <a:pt x="237545" y="226314"/>
                  <a:pt x="228350" y="219075"/>
                </a:cubicBezTo>
                <a:cubicBezTo>
                  <a:pt x="219154" y="211836"/>
                  <a:pt x="214312" y="203622"/>
                  <a:pt x="214312" y="195262"/>
                </a:cubicBezTo>
                <a:cubicBezTo>
                  <a:pt x="214312" y="186903"/>
                  <a:pt x="219154" y="178689"/>
                  <a:pt x="228350" y="171450"/>
                </a:cubicBezTo>
                <a:cubicBezTo>
                  <a:pt x="237545" y="164211"/>
                  <a:pt x="250773" y="158198"/>
                  <a:pt x="266700" y="154018"/>
                </a:cubicBezTo>
                <a:cubicBezTo>
                  <a:pt x="282627" y="149838"/>
                  <a:pt x="300697" y="147638"/>
                  <a:pt x="319088" y="147638"/>
                </a:cubicBezTo>
                <a:cubicBezTo>
                  <a:pt x="337478" y="147638"/>
                  <a:pt x="355548" y="149838"/>
                  <a:pt x="371475" y="154018"/>
                </a:cubicBezTo>
                <a:cubicBezTo>
                  <a:pt x="387402" y="158198"/>
                  <a:pt x="400630" y="164211"/>
                  <a:pt x="409825" y="171450"/>
                </a:cubicBezTo>
                <a:cubicBezTo>
                  <a:pt x="419021" y="178689"/>
                  <a:pt x="423862" y="186903"/>
                  <a:pt x="423862" y="195262"/>
                </a:cubicBezTo>
                <a:close/>
                <a:moveTo>
                  <a:pt x="423862" y="195262"/>
                </a:moveTo>
                <a:lnTo>
                  <a:pt x="423862" y="261938"/>
                </a:lnTo>
                <a:cubicBezTo>
                  <a:pt x="423862" y="288608"/>
                  <a:pt x="377190" y="309562"/>
                  <a:pt x="319088" y="309562"/>
                </a:cubicBezTo>
                <a:cubicBezTo>
                  <a:pt x="260985" y="309562"/>
                  <a:pt x="214312" y="288608"/>
                  <a:pt x="214312" y="261938"/>
                </a:cubicBezTo>
                <a:lnTo>
                  <a:pt x="214312" y="195262"/>
                </a:lnTo>
                <a:moveTo>
                  <a:pt x="423862" y="261938"/>
                </a:moveTo>
                <a:lnTo>
                  <a:pt x="423862" y="328612"/>
                </a:lnTo>
                <a:cubicBezTo>
                  <a:pt x="423862" y="355282"/>
                  <a:pt x="377190" y="376238"/>
                  <a:pt x="319088" y="376238"/>
                </a:cubicBezTo>
                <a:cubicBezTo>
                  <a:pt x="260985" y="376238"/>
                  <a:pt x="214312" y="355282"/>
                  <a:pt x="214312" y="328612"/>
                </a:cubicBezTo>
                <a:lnTo>
                  <a:pt x="214312" y="261938"/>
                </a:lnTo>
                <a:moveTo>
                  <a:pt x="423862" y="328612"/>
                </a:moveTo>
                <a:lnTo>
                  <a:pt x="423862" y="395288"/>
                </a:lnTo>
                <a:cubicBezTo>
                  <a:pt x="423862" y="421958"/>
                  <a:pt x="377190" y="442912"/>
                  <a:pt x="319088" y="442912"/>
                </a:cubicBezTo>
                <a:cubicBezTo>
                  <a:pt x="260985" y="442912"/>
                  <a:pt x="214312" y="421958"/>
                  <a:pt x="214312" y="395288"/>
                </a:cubicBezTo>
                <a:lnTo>
                  <a:pt x="214312" y="328612"/>
                </a:lnTo>
                <a:moveTo>
                  <a:pt x="319088" y="147638"/>
                </a:moveTo>
                <a:lnTo>
                  <a:pt x="319088" y="23812"/>
                </a:lnTo>
                <a:moveTo>
                  <a:pt x="280988" y="61912"/>
                </a:moveTo>
                <a:lnTo>
                  <a:pt x="319088" y="23812"/>
                </a:lnTo>
                <a:lnTo>
                  <a:pt x="357188" y="61912"/>
                </a:lnTo>
              </a:path>
            </a:pathLst>
          </a:custGeom>
          <a:noFill/>
          <a:ln w="12700" cap="rnd">
            <a:solidFill>
              <a:srgbClr val="000F47"/>
            </a:solidFill>
            <a:round/>
          </a:ln>
        </p:spPr>
        <p:txBody>
          <a:bodyPr/>
          <a:lstStyle/>
          <a:p/>
        </p:txBody>
      </p:sp>
      <p:sp>
        <p:nvSpPr>
          <p:cNvPr id="1005" name="icon-percentage-38"/>
          <p:cNvSpPr/>
          <p:nvPr/>
        </p:nvSpPr>
        <p:spPr>
          <a:xfrm>
            <a:off x="3573780" y="1592580"/>
            <a:ext cx="457200" cy="457200"/>
          </a:xfrm>
          <a:custGeom>
            <a:avLst/>
            <a:gdLst/>
            <a:ahLst/>
            <a:rect l="0" t="0" r="457200" b="457200"/>
            <a:pathLst>
              <a:path w="457200" h="457200">
                <a:moveTo>
                  <a:pt x="442912" y="233362"/>
                </a:moveTo>
                <a:cubicBezTo>
                  <a:pt x="442912" y="270143"/>
                  <a:pt x="433229" y="306284"/>
                  <a:pt x="414838" y="338138"/>
                </a:cubicBezTo>
                <a:cubicBezTo>
                  <a:pt x="396448" y="369991"/>
                  <a:pt x="369991" y="396448"/>
                  <a:pt x="338138" y="414838"/>
                </a:cubicBezTo>
                <a:cubicBezTo>
                  <a:pt x="306284" y="433229"/>
                  <a:pt x="270143" y="442912"/>
                  <a:pt x="233362" y="442912"/>
                </a:cubicBezTo>
                <a:cubicBezTo>
                  <a:pt x="196582" y="442912"/>
                  <a:pt x="160441" y="433229"/>
                  <a:pt x="128588" y="414838"/>
                </a:cubicBezTo>
                <a:cubicBezTo>
                  <a:pt x="96734" y="396448"/>
                  <a:pt x="70277" y="369991"/>
                  <a:pt x="51887" y="338138"/>
                </a:cubicBezTo>
                <a:cubicBezTo>
                  <a:pt x="33496" y="306284"/>
                  <a:pt x="23813" y="270143"/>
                  <a:pt x="23812" y="233363"/>
                </a:cubicBezTo>
                <a:cubicBezTo>
                  <a:pt x="23812" y="196582"/>
                  <a:pt x="33496" y="160441"/>
                  <a:pt x="51887" y="128588"/>
                </a:cubicBezTo>
                <a:cubicBezTo>
                  <a:pt x="70277" y="96734"/>
                  <a:pt x="96734" y="70277"/>
                  <a:pt x="128587" y="51887"/>
                </a:cubicBezTo>
                <a:cubicBezTo>
                  <a:pt x="160441" y="33496"/>
                  <a:pt x="196582" y="23813"/>
                  <a:pt x="233362" y="23812"/>
                </a:cubicBezTo>
                <a:cubicBezTo>
                  <a:pt x="270143" y="23812"/>
                  <a:pt x="306284" y="33496"/>
                  <a:pt x="338138" y="51887"/>
                </a:cubicBezTo>
                <a:cubicBezTo>
                  <a:pt x="369991" y="70277"/>
                  <a:pt x="396448" y="96734"/>
                  <a:pt x="414838" y="128588"/>
                </a:cubicBezTo>
                <a:cubicBezTo>
                  <a:pt x="433229" y="160441"/>
                  <a:pt x="442912" y="196582"/>
                  <a:pt x="442912" y="233362"/>
                </a:cubicBezTo>
                <a:close/>
                <a:moveTo>
                  <a:pt x="195262" y="157162"/>
                </a:moveTo>
                <a:cubicBezTo>
                  <a:pt x="195262" y="163850"/>
                  <a:pt x="193502" y="170421"/>
                  <a:pt x="190158" y="176212"/>
                </a:cubicBezTo>
                <a:cubicBezTo>
                  <a:pt x="186814" y="182004"/>
                  <a:pt x="182004" y="186814"/>
                  <a:pt x="176212" y="190158"/>
                </a:cubicBezTo>
                <a:cubicBezTo>
                  <a:pt x="170421" y="193502"/>
                  <a:pt x="163850" y="195262"/>
                  <a:pt x="157162" y="195262"/>
                </a:cubicBezTo>
                <a:cubicBezTo>
                  <a:pt x="150475" y="195262"/>
                  <a:pt x="143904" y="193502"/>
                  <a:pt x="138112" y="190158"/>
                </a:cubicBezTo>
                <a:cubicBezTo>
                  <a:pt x="132321" y="186814"/>
                  <a:pt x="127511" y="182004"/>
                  <a:pt x="124167" y="176212"/>
                </a:cubicBezTo>
                <a:cubicBezTo>
                  <a:pt x="120823" y="170421"/>
                  <a:pt x="119062" y="163850"/>
                  <a:pt x="119062" y="157162"/>
                </a:cubicBezTo>
                <a:cubicBezTo>
                  <a:pt x="119062" y="150475"/>
                  <a:pt x="120823" y="143904"/>
                  <a:pt x="124167" y="138112"/>
                </a:cubicBezTo>
                <a:cubicBezTo>
                  <a:pt x="127511" y="132321"/>
                  <a:pt x="132321" y="127511"/>
                  <a:pt x="138112" y="124167"/>
                </a:cubicBezTo>
                <a:cubicBezTo>
                  <a:pt x="143904" y="120823"/>
                  <a:pt x="150475" y="119062"/>
                  <a:pt x="157162" y="119062"/>
                </a:cubicBezTo>
                <a:cubicBezTo>
                  <a:pt x="163850" y="119062"/>
                  <a:pt x="170421" y="120823"/>
                  <a:pt x="176212" y="124167"/>
                </a:cubicBezTo>
                <a:cubicBezTo>
                  <a:pt x="182004" y="127511"/>
                  <a:pt x="186814" y="132321"/>
                  <a:pt x="190158" y="138112"/>
                </a:cubicBezTo>
                <a:cubicBezTo>
                  <a:pt x="193502" y="143904"/>
                  <a:pt x="195262" y="150475"/>
                  <a:pt x="195262" y="157162"/>
                </a:cubicBezTo>
                <a:close/>
                <a:moveTo>
                  <a:pt x="347662" y="309562"/>
                </a:moveTo>
                <a:cubicBezTo>
                  <a:pt x="347662" y="316250"/>
                  <a:pt x="345902" y="322821"/>
                  <a:pt x="342558" y="328612"/>
                </a:cubicBezTo>
                <a:cubicBezTo>
                  <a:pt x="339214" y="334404"/>
                  <a:pt x="334404" y="339214"/>
                  <a:pt x="328612" y="342558"/>
                </a:cubicBezTo>
                <a:cubicBezTo>
                  <a:pt x="322821" y="345902"/>
                  <a:pt x="316250" y="347662"/>
                  <a:pt x="309562" y="347662"/>
                </a:cubicBezTo>
                <a:cubicBezTo>
                  <a:pt x="302875" y="347662"/>
                  <a:pt x="296304" y="345902"/>
                  <a:pt x="290512" y="342558"/>
                </a:cubicBezTo>
                <a:cubicBezTo>
                  <a:pt x="284721" y="339214"/>
                  <a:pt x="279911" y="334404"/>
                  <a:pt x="276567" y="328612"/>
                </a:cubicBezTo>
                <a:cubicBezTo>
                  <a:pt x="273223" y="322821"/>
                  <a:pt x="271462" y="316250"/>
                  <a:pt x="271462" y="309562"/>
                </a:cubicBezTo>
                <a:cubicBezTo>
                  <a:pt x="271462" y="302875"/>
                  <a:pt x="273223" y="296304"/>
                  <a:pt x="276567" y="290512"/>
                </a:cubicBezTo>
                <a:cubicBezTo>
                  <a:pt x="279911" y="284721"/>
                  <a:pt x="284721" y="279911"/>
                  <a:pt x="290512" y="276567"/>
                </a:cubicBezTo>
                <a:cubicBezTo>
                  <a:pt x="296304" y="273223"/>
                  <a:pt x="302875" y="271462"/>
                  <a:pt x="309562" y="271462"/>
                </a:cubicBezTo>
                <a:cubicBezTo>
                  <a:pt x="316250" y="271462"/>
                  <a:pt x="322821" y="273223"/>
                  <a:pt x="328612" y="276567"/>
                </a:cubicBezTo>
                <a:cubicBezTo>
                  <a:pt x="334404" y="279911"/>
                  <a:pt x="339214" y="284721"/>
                  <a:pt x="342558" y="290512"/>
                </a:cubicBezTo>
                <a:cubicBezTo>
                  <a:pt x="345902" y="296304"/>
                  <a:pt x="347662" y="302875"/>
                  <a:pt x="347662" y="309562"/>
                </a:cubicBezTo>
                <a:close/>
                <a:moveTo>
                  <a:pt x="157162" y="309562"/>
                </a:moveTo>
                <a:lnTo>
                  <a:pt x="309562" y="157162"/>
                </a:lnTo>
              </a:path>
            </a:pathLst>
          </a:custGeom>
          <a:noFill/>
          <a:ln w="12700" cap="rnd">
            <a:solidFill>
              <a:srgbClr val="000F47"/>
            </a:solidFill>
            <a:round/>
          </a:ln>
        </p:spPr>
        <p:txBody>
          <a:bodyPr/>
          <a:lstStyle/>
          <a:p/>
        </p:txBody>
      </p:sp>
      <p:sp>
        <p:nvSpPr>
          <p:cNvPr id="1006" name="icon-star"/>
          <p:cNvSpPr/>
          <p:nvPr/>
        </p:nvSpPr>
        <p:spPr>
          <a:xfrm>
            <a:off x="6507480" y="1592580"/>
            <a:ext cx="457200" cy="457200"/>
          </a:xfrm>
          <a:custGeom>
            <a:avLst/>
            <a:gdLst/>
            <a:ahLst/>
            <a:rect l="0" t="0" r="457200" b="457200"/>
            <a:pathLst>
              <a:path w="457200" h="457200">
                <a:moveTo>
                  <a:pt x="233362" y="52197"/>
                </a:moveTo>
                <a:lnTo>
                  <a:pt x="292227" y="171450"/>
                </a:lnTo>
                <a:lnTo>
                  <a:pt x="423862" y="190576"/>
                </a:lnTo>
                <a:lnTo>
                  <a:pt x="328612" y="283426"/>
                </a:lnTo>
                <a:lnTo>
                  <a:pt x="351092" y="414528"/>
                </a:lnTo>
                <a:lnTo>
                  <a:pt x="233362" y="352654"/>
                </a:lnTo>
                <a:lnTo>
                  <a:pt x="115634" y="414528"/>
                </a:lnTo>
                <a:lnTo>
                  <a:pt x="138112" y="283426"/>
                </a:lnTo>
                <a:lnTo>
                  <a:pt x="42862" y="190576"/>
                </a:lnTo>
                <a:lnTo>
                  <a:pt x="174498" y="171450"/>
                </a:lnTo>
                <a:close/>
              </a:path>
            </a:pathLst>
          </a:custGeom>
          <a:noFill/>
          <a:ln w="12700" cap="rnd">
            <a:solidFill>
              <a:srgbClr val="000F47"/>
            </a:solidFill>
            <a:round/>
          </a:ln>
        </p:spPr>
        <p:txBody>
          <a:bodyPr/>
          <a:lstStyle/>
          <a:p/>
        </p:txBody>
      </p:sp>
      <p:sp>
        <p:nvSpPr>
          <p:cNvPr id="1007" name="icon-clock"/>
          <p:cNvSpPr/>
          <p:nvPr/>
        </p:nvSpPr>
        <p:spPr>
          <a:xfrm>
            <a:off x="9441180" y="1592580"/>
            <a:ext cx="457200" cy="457200"/>
          </a:xfrm>
          <a:custGeom>
            <a:avLst/>
            <a:gdLst/>
            <a:ahLst/>
            <a:rect l="0" t="0" r="457200" b="457200"/>
            <a:pathLst>
              <a:path w="457200" h="457200">
                <a:moveTo>
                  <a:pt x="442912" y="233362"/>
                </a:moveTo>
                <a:cubicBezTo>
                  <a:pt x="442912" y="270143"/>
                  <a:pt x="433229" y="306284"/>
                  <a:pt x="414838" y="338138"/>
                </a:cubicBezTo>
                <a:cubicBezTo>
                  <a:pt x="396448" y="369991"/>
                  <a:pt x="369991" y="396448"/>
                  <a:pt x="338138" y="414838"/>
                </a:cubicBezTo>
                <a:cubicBezTo>
                  <a:pt x="306284" y="433229"/>
                  <a:pt x="270143" y="442912"/>
                  <a:pt x="233362" y="442912"/>
                </a:cubicBezTo>
                <a:cubicBezTo>
                  <a:pt x="196582" y="442912"/>
                  <a:pt x="160441" y="433229"/>
                  <a:pt x="128588" y="414838"/>
                </a:cubicBezTo>
                <a:cubicBezTo>
                  <a:pt x="96734" y="396448"/>
                  <a:pt x="70277" y="369991"/>
                  <a:pt x="51887" y="338138"/>
                </a:cubicBezTo>
                <a:cubicBezTo>
                  <a:pt x="33496" y="306284"/>
                  <a:pt x="23813" y="270143"/>
                  <a:pt x="23812" y="233363"/>
                </a:cubicBezTo>
                <a:cubicBezTo>
                  <a:pt x="23812" y="196582"/>
                  <a:pt x="33496" y="160441"/>
                  <a:pt x="51887" y="128588"/>
                </a:cubicBezTo>
                <a:cubicBezTo>
                  <a:pt x="70277" y="96734"/>
                  <a:pt x="96734" y="70277"/>
                  <a:pt x="128587" y="51887"/>
                </a:cubicBezTo>
                <a:cubicBezTo>
                  <a:pt x="160441" y="33496"/>
                  <a:pt x="196582" y="23813"/>
                  <a:pt x="233362" y="23812"/>
                </a:cubicBezTo>
                <a:cubicBezTo>
                  <a:pt x="270143" y="23812"/>
                  <a:pt x="306284" y="33496"/>
                  <a:pt x="338138" y="51887"/>
                </a:cubicBezTo>
                <a:cubicBezTo>
                  <a:pt x="369991" y="70277"/>
                  <a:pt x="396448" y="96734"/>
                  <a:pt x="414838" y="128588"/>
                </a:cubicBezTo>
                <a:cubicBezTo>
                  <a:pt x="433229" y="160441"/>
                  <a:pt x="442912" y="196582"/>
                  <a:pt x="442912" y="233362"/>
                </a:cubicBezTo>
                <a:close/>
                <a:moveTo>
                  <a:pt x="233362" y="100012"/>
                </a:moveTo>
                <a:lnTo>
                  <a:pt x="233362" y="233362"/>
                </a:lnTo>
                <a:lnTo>
                  <a:pt x="366712" y="233362"/>
                </a:lnTo>
              </a:path>
            </a:pathLst>
          </a:custGeom>
          <a:noFill/>
          <a:ln w="12700" cap="rnd">
            <a:solidFill>
              <a:srgbClr val="000F47"/>
            </a:solidFill>
            <a:round/>
          </a:ln>
        </p:spPr>
        <p:txBody>
          <a:bodyPr/>
          <a:lstStyle/>
          <a:p/>
        </p:txBody>
      </p:sp>
      <p:sp>
        <p:nvSpPr>
          <p:cNvPr id="1008" name="Footnote"/>
          <p:cNvSpPr txBox="1"/>
          <p:nvPr/>
        </p:nvSpPr>
        <p:spPr>
          <a:xfrm>
            <a:off x="457200" y="6185916"/>
            <a:ext cx="11277295" cy="123444"/>
          </a:xfrm>
          <a:prstGeom prst="rect">
            <a:avLst/>
          </a:prstGeom>
          <a:noFill/>
        </p:spPr>
        <p:txBody>
          <a:bodyPr lIns="0" tIns="0" rIns="0" bIns="0" rtlCol="0" anchor="b">
            <a:spAutoFit/>
          </a:bodyPr>
          <a:lstStyle/>
          <a:p>
            <a:pPr algn="l"/>
            <a:r>
              <a:rPr sz="800">
                <a:solidFill>
                  <a:schemeClr val="tx1"/>
                </a:solidFill>
                <a:ea typeface="+mn-lt"/>
                <a:cs typeface="+mn-lt"/>
              </a:rPr>
              <a:t>Source: Q2 management report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Three numbers make the case for consolidation</a:t>
            </a:r>
          </a:p>
        </p:txBody>
      </p:sp>
      <p:sp>
        <p:nvSpPr>
          <p:cNvPr id="3" name="Rectangle 2"/>
          <p:cNvSpPr/>
          <p:nvPr/>
        </p:nvSpPr>
        <p:spPr>
          <a:xfrm>
            <a:off x="457200" y="1408176"/>
            <a:ext cx="3606698" cy="2468880"/>
          </a:xfrm>
          <a:prstGeom prst="rect">
            <a:avLst/>
          </a:prstGeom>
          <a:solidFill>
            <a:srgbClr val="F7F3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09728"/>
          <a:lstStyle/>
          <a:p>
            <a:pPr algn="l"/>
            <a:r>
              <a:rPr sz="3600" b="0">
                <a:solidFill>
                  <a:srgbClr val="000F47"/>
                </a:solidFill>
                <a:latin typeface="Marsh Serif"/>
              </a:rPr>
              <a:t>80%</a:t>
            </a:r>
          </a:p>
          <a:p>
            <a:pPr algn="l">
              <a:spcBef>
                <a:spcPts val="800"/>
              </a:spcBef>
            </a:pPr>
            <a:r>
              <a:rPr sz="1200" b="1">
                <a:solidFill>
                  <a:srgbClr val="000F47"/>
                </a:solidFill>
                <a:latin typeface="Noto Sans"/>
              </a:rPr>
              <a:t>Volume coverage</a:t>
            </a:r>
          </a:p>
          <a:p>
            <a:pPr algn="l">
              <a:spcBef>
                <a:spcPts val="300"/>
              </a:spcBef>
            </a:pPr>
            <a:r>
              <a:rPr sz="1200" b="0">
                <a:solidFill>
                  <a:srgbClr val="000F47"/>
                </a:solidFill>
                <a:latin typeface="Noto Sans"/>
              </a:rPr>
              <a:t>with only two suppliers</a:t>
            </a:r>
          </a:p>
        </p:txBody>
      </p:sp>
      <p:sp>
        <p:nvSpPr>
          <p:cNvPr id="4" name="Rectangle 3"/>
          <p:cNvSpPr/>
          <p:nvPr/>
        </p:nvSpPr>
        <p:spPr>
          <a:xfrm>
            <a:off x="4292498" y="1408176"/>
            <a:ext cx="3606698" cy="2468880"/>
          </a:xfrm>
          <a:prstGeom prst="rect">
            <a:avLst/>
          </a:prstGeom>
          <a:solidFill>
            <a:srgbClr val="F7F3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09728"/>
          <a:lstStyle/>
          <a:p>
            <a:pPr algn="l"/>
            <a:r>
              <a:rPr sz="3600" b="0">
                <a:solidFill>
                  <a:srgbClr val="000F47"/>
                </a:solidFill>
                <a:latin typeface="Marsh Serif"/>
              </a:rPr>
              <a:t>$2.4m</a:t>
            </a:r>
          </a:p>
          <a:p>
            <a:pPr algn="l">
              <a:spcBef>
                <a:spcPts val="800"/>
              </a:spcBef>
            </a:pPr>
            <a:r>
              <a:rPr sz="1200" b="1">
                <a:solidFill>
                  <a:srgbClr val="000F47"/>
                </a:solidFill>
                <a:latin typeface="Noto Sans"/>
              </a:rPr>
              <a:t>Savings p.a.</a:t>
            </a:r>
          </a:p>
          <a:p>
            <a:pPr algn="l">
              <a:spcBef>
                <a:spcPts val="300"/>
              </a:spcBef>
            </a:pPr>
            <a:r>
              <a:rPr sz="1200" b="0">
                <a:solidFill>
                  <a:srgbClr val="000F47"/>
                </a:solidFill>
                <a:latin typeface="Noto Sans"/>
              </a:rPr>
              <a:t>at full run rate</a:t>
            </a:r>
          </a:p>
        </p:txBody>
      </p:sp>
      <p:sp>
        <p:nvSpPr>
          <p:cNvPr id="5" name="Rectangle 4"/>
          <p:cNvSpPr/>
          <p:nvPr/>
        </p:nvSpPr>
        <p:spPr>
          <a:xfrm>
            <a:off x="8127796" y="1408176"/>
            <a:ext cx="3606698" cy="2468880"/>
          </a:xfrm>
          <a:prstGeom prst="rect">
            <a:avLst/>
          </a:prstGeom>
          <a:solidFill>
            <a:srgbClr val="F7F3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09728"/>
          <a:lstStyle/>
          <a:p>
            <a:pPr algn="l"/>
            <a:r>
              <a:rPr sz="3600" b="0">
                <a:solidFill>
                  <a:srgbClr val="000F47"/>
                </a:solidFill>
                <a:latin typeface="Marsh Serif"/>
              </a:rPr>
              <a:t>9 to 2</a:t>
            </a:r>
          </a:p>
          <a:p>
            <a:pPr algn="l">
              <a:spcBef>
                <a:spcPts val="800"/>
              </a:spcBef>
            </a:pPr>
            <a:r>
              <a:rPr sz="1200" b="1">
                <a:solidFill>
                  <a:srgbClr val="000F47"/>
                </a:solidFill>
                <a:latin typeface="Noto Sans"/>
              </a:rPr>
              <a:t>Supplier count</a:t>
            </a:r>
          </a:p>
          <a:p>
            <a:pPr algn="l">
              <a:spcBef>
                <a:spcPts val="300"/>
              </a:spcBef>
            </a:pPr>
            <a:r>
              <a:rPr sz="1200" b="0">
                <a:solidFill>
                  <a:srgbClr val="000F47"/>
                </a:solidFill>
                <a:latin typeface="Noto Sans"/>
              </a:rPr>
              <a:t>in two waves</a:t>
            </a:r>
          </a:p>
        </p:txBody>
      </p:sp>
      <p:sp>
        <p:nvSpPr>
          <p:cNvPr id="6" name="Footnote"/>
          <p:cNvSpPr txBox="1"/>
          <p:nvPr/>
        </p:nvSpPr>
        <p:spPr>
          <a:xfrm>
            <a:off x="457200" y="6185916"/>
            <a:ext cx="11277295" cy="123444"/>
          </a:xfrm>
          <a:prstGeom prst="rect">
            <a:avLst/>
          </a:prstGeom>
          <a:noFill/>
        </p:spPr>
        <p:txBody>
          <a:bodyPr lIns="0" tIns="0" rIns="0" bIns="0" rtlCol="0" anchor="b">
            <a:spAutoFit/>
          </a:bodyPr>
          <a:lstStyle/>
          <a:p>
            <a:pPr algn="l"/>
            <a:r>
              <a:rPr sz="800">
                <a:solidFill>
                  <a:schemeClr val="tx1"/>
                </a:solidFill>
                <a:ea typeface="+mn-lt"/>
                <a:cs typeface="+mn-lt"/>
              </a:rPr>
              <a:t>Source: procurement analysis Q2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Four safeguards keep the migration on track</a:t>
            </a:r>
          </a:p>
        </p:txBody>
      </p:sp>
      <p:sp>
        <p:nvSpPr>
          <p:cNvPr id="1008" name="icon-shield"/>
          <p:cNvSpPr/>
          <p:nvPr/>
        </p:nvSpPr>
        <p:spPr>
          <a:xfrm>
            <a:off x="457200" y="1757934"/>
            <a:ext cx="457200" cy="457200"/>
          </a:xfrm>
          <a:custGeom>
            <a:avLst/>
            <a:gdLst/>
            <a:ahLst/>
            <a:rect l="0" t="0" r="457200" b="457200"/>
            <a:pathLst>
              <a:path w="457200" h="457200">
                <a:moveTo>
                  <a:pt x="233362" y="128588"/>
                </a:moveTo>
                <a:lnTo>
                  <a:pt x="258118" y="178756"/>
                </a:lnTo>
                <a:lnTo>
                  <a:pt x="313487" y="186795"/>
                </a:lnTo>
                <a:lnTo>
                  <a:pt x="273425" y="225847"/>
                </a:lnTo>
                <a:lnTo>
                  <a:pt x="282873" y="280988"/>
                </a:lnTo>
                <a:lnTo>
                  <a:pt x="233362" y="254956"/>
                </a:lnTo>
                <a:lnTo>
                  <a:pt x="183852" y="280988"/>
                </a:lnTo>
                <a:lnTo>
                  <a:pt x="193300" y="225847"/>
                </a:lnTo>
                <a:lnTo>
                  <a:pt x="153238" y="186795"/>
                </a:lnTo>
                <a:lnTo>
                  <a:pt x="208607" y="178756"/>
                </a:lnTo>
                <a:close/>
                <a:moveTo>
                  <a:pt x="233362" y="433388"/>
                </a:moveTo>
                <a:cubicBezTo>
                  <a:pt x="233362" y="433388"/>
                  <a:pt x="33338" y="347662"/>
                  <a:pt x="33338" y="90488"/>
                </a:cubicBezTo>
                <a:lnTo>
                  <a:pt x="233362" y="33338"/>
                </a:lnTo>
                <a:lnTo>
                  <a:pt x="433388" y="90488"/>
                </a:lnTo>
                <a:cubicBezTo>
                  <a:pt x="433388" y="347662"/>
                  <a:pt x="233362" y="433388"/>
                  <a:pt x="233362" y="433388"/>
                </a:cubicBezTo>
              </a:path>
            </a:pathLst>
          </a:custGeom>
          <a:noFill/>
          <a:ln w="12700" cap="rnd">
            <a:solidFill>
              <a:srgbClr val="000F47"/>
            </a:solidFill>
            <a:round/>
          </a:ln>
        </p:spPr>
        <p:txBody>
          <a:bodyPr/>
          <a:lstStyle/>
          <a:p/>
        </p:txBody>
      </p:sp>
      <p:sp>
        <p:nvSpPr>
          <p:cNvPr id="1009" name="TextBox 1008"/>
          <p:cNvSpPr txBox="1"/>
          <p:nvPr/>
        </p:nvSpPr>
        <p:spPr>
          <a:xfrm>
            <a:off x="1170432" y="1408176"/>
            <a:ext cx="10564063" cy="1046988"/>
          </a:xfrm>
          <a:prstGeom prst="rect">
            <a:avLst/>
          </a:prstGeom>
          <a:noFill/>
        </p:spPr>
        <p:txBody>
          <a:bodyPr wrap="square" anchor="ctr" lIns="0" rIns="0" tIns="0" bIns="0">
            <a:spAutoFit/>
          </a:bodyPr>
          <a:lstStyle/>
          <a:p>
            <a:pPr algn="l"/>
            <a:r>
              <a:rPr sz="1200" b="1">
                <a:solidFill>
                  <a:srgbClr val="000F47"/>
                </a:solidFill>
                <a:latin typeface="Noto Sans"/>
              </a:rPr>
              <a:t>Risk review</a:t>
            </a:r>
          </a:p>
          <a:p>
            <a:pPr algn="l">
              <a:spcBef>
                <a:spcPts val="300"/>
              </a:spcBef>
            </a:pPr>
            <a:r>
              <a:rPr sz="1200" b="0">
                <a:solidFill>
                  <a:srgbClr val="000F47"/>
                </a:solidFill>
                <a:latin typeface="Noto Sans"/>
              </a:rPr>
              <a:t>Fortnightly review of the top ten risks with owners</a:t>
            </a:r>
          </a:p>
        </p:txBody>
      </p:sp>
      <p:sp>
        <p:nvSpPr>
          <p:cNvPr id="1010" name="Rectangle 1009"/>
          <p:cNvSpPr/>
          <p:nvPr/>
        </p:nvSpPr>
        <p:spPr>
          <a:xfrm>
            <a:off x="457200" y="2510027"/>
            <a:ext cx="11277295" cy="10972"/>
          </a:xfrm>
          <a:prstGeom prst="rect">
            <a:avLst/>
          </a:prstGeom>
          <a:solidFill>
            <a:srgbClr val="B9B6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con-group"/>
          <p:cNvSpPr/>
          <p:nvPr/>
        </p:nvSpPr>
        <p:spPr>
          <a:xfrm>
            <a:off x="457200" y="2914649"/>
            <a:ext cx="457200" cy="457200"/>
          </a:xfrm>
          <a:custGeom>
            <a:avLst/>
            <a:gdLst/>
            <a:ahLst/>
            <a:rect l="0" t="0" r="457200" b="457200"/>
            <a:pathLst>
              <a:path w="457200" h="457200">
                <a:moveTo>
                  <a:pt x="147638" y="147638"/>
                </a:moveTo>
                <a:lnTo>
                  <a:pt x="261938" y="147638"/>
                </a:lnTo>
                <a:lnTo>
                  <a:pt x="261938" y="261938"/>
                </a:lnTo>
                <a:lnTo>
                  <a:pt x="147638" y="261938"/>
                </a:lnTo>
                <a:close/>
                <a:moveTo>
                  <a:pt x="404812" y="100012"/>
                </a:moveTo>
                <a:lnTo>
                  <a:pt x="404812" y="366712"/>
                </a:lnTo>
                <a:moveTo>
                  <a:pt x="100012" y="61912"/>
                </a:moveTo>
                <a:lnTo>
                  <a:pt x="366712" y="61912"/>
                </a:lnTo>
                <a:moveTo>
                  <a:pt x="100012" y="404812"/>
                </a:moveTo>
                <a:lnTo>
                  <a:pt x="366712" y="404812"/>
                </a:lnTo>
                <a:moveTo>
                  <a:pt x="61912" y="366712"/>
                </a:moveTo>
                <a:lnTo>
                  <a:pt x="61912" y="100012"/>
                </a:lnTo>
                <a:moveTo>
                  <a:pt x="23812" y="23812"/>
                </a:moveTo>
                <a:lnTo>
                  <a:pt x="100012" y="23812"/>
                </a:lnTo>
                <a:lnTo>
                  <a:pt x="100012" y="100012"/>
                </a:lnTo>
                <a:lnTo>
                  <a:pt x="23812" y="100012"/>
                </a:lnTo>
                <a:close/>
                <a:moveTo>
                  <a:pt x="366712" y="23812"/>
                </a:moveTo>
                <a:lnTo>
                  <a:pt x="442912" y="23812"/>
                </a:lnTo>
                <a:lnTo>
                  <a:pt x="442912" y="100012"/>
                </a:lnTo>
                <a:lnTo>
                  <a:pt x="366712" y="100012"/>
                </a:lnTo>
                <a:close/>
                <a:moveTo>
                  <a:pt x="366712" y="366712"/>
                </a:moveTo>
                <a:lnTo>
                  <a:pt x="442912" y="366712"/>
                </a:lnTo>
                <a:lnTo>
                  <a:pt x="442912" y="442912"/>
                </a:lnTo>
                <a:lnTo>
                  <a:pt x="366712" y="442912"/>
                </a:lnTo>
                <a:close/>
                <a:moveTo>
                  <a:pt x="23812" y="366712"/>
                </a:moveTo>
                <a:lnTo>
                  <a:pt x="100012" y="366712"/>
                </a:lnTo>
                <a:lnTo>
                  <a:pt x="100012" y="442912"/>
                </a:lnTo>
                <a:lnTo>
                  <a:pt x="23812" y="442912"/>
                </a:lnTo>
                <a:close/>
                <a:moveTo>
                  <a:pt x="261938" y="204788"/>
                </a:moveTo>
                <a:lnTo>
                  <a:pt x="319088" y="204788"/>
                </a:lnTo>
                <a:lnTo>
                  <a:pt x="319088" y="319088"/>
                </a:lnTo>
                <a:lnTo>
                  <a:pt x="204788" y="319088"/>
                </a:lnTo>
                <a:lnTo>
                  <a:pt x="204788" y="261938"/>
                </a:lnTo>
              </a:path>
            </a:pathLst>
          </a:custGeom>
          <a:noFill/>
          <a:ln w="12700" cap="rnd">
            <a:solidFill>
              <a:srgbClr val="000F47"/>
            </a:solidFill>
            <a:round/>
          </a:ln>
        </p:spPr>
        <p:txBody>
          <a:bodyPr/>
          <a:lstStyle/>
          <a:p/>
        </p:txBody>
      </p:sp>
      <p:sp>
        <p:nvSpPr>
          <p:cNvPr id="1011" name="TextBox 1010"/>
          <p:cNvSpPr txBox="1"/>
          <p:nvPr/>
        </p:nvSpPr>
        <p:spPr>
          <a:xfrm>
            <a:off x="1170432" y="2564891"/>
            <a:ext cx="10564063" cy="1046988"/>
          </a:xfrm>
          <a:prstGeom prst="rect">
            <a:avLst/>
          </a:prstGeom>
          <a:noFill/>
        </p:spPr>
        <p:txBody>
          <a:bodyPr wrap="square" anchor="ctr" lIns="0" rIns="0" tIns="0" bIns="0">
            <a:spAutoFit/>
          </a:bodyPr>
          <a:lstStyle/>
          <a:p>
            <a:pPr algn="l"/>
            <a:r>
              <a:rPr sz="1200" b="1">
                <a:solidFill>
                  <a:srgbClr val="000F47"/>
                </a:solidFill>
                <a:latin typeface="Noto Sans"/>
              </a:rPr>
              <a:t>Change network</a:t>
            </a:r>
          </a:p>
          <a:p>
            <a:pPr algn="l">
              <a:spcBef>
                <a:spcPts val="300"/>
              </a:spcBef>
            </a:pPr>
            <a:r>
              <a:rPr sz="1200" b="0">
                <a:solidFill>
                  <a:srgbClr val="000F47"/>
                </a:solidFill>
                <a:latin typeface="Noto Sans"/>
              </a:rPr>
              <a:t>One trained champion per affected team</a:t>
            </a:r>
          </a:p>
        </p:txBody>
      </p:sp>
      <p:sp>
        <p:nvSpPr>
          <p:cNvPr id="1012" name="Rectangle 1011"/>
          <p:cNvSpPr/>
          <p:nvPr/>
        </p:nvSpPr>
        <p:spPr>
          <a:xfrm>
            <a:off x="457200" y="3666744"/>
            <a:ext cx="11277295" cy="10972"/>
          </a:xfrm>
          <a:prstGeom prst="rect">
            <a:avLst/>
          </a:prstGeom>
          <a:solidFill>
            <a:srgbClr val="B9B6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con-speedometer"/>
          <p:cNvSpPr/>
          <p:nvPr/>
        </p:nvSpPr>
        <p:spPr>
          <a:xfrm>
            <a:off x="457200" y="4071366"/>
            <a:ext cx="457200" cy="457200"/>
          </a:xfrm>
          <a:custGeom>
            <a:avLst/>
            <a:gdLst/>
            <a:ahLst/>
            <a:rect l="0" t="0" r="457200" b="457200"/>
            <a:pathLst>
              <a:path w="457200" h="457200">
                <a:moveTo>
                  <a:pt x="206692" y="206692"/>
                </a:moveTo>
                <a:lnTo>
                  <a:pt x="128588" y="128588"/>
                </a:lnTo>
                <a:moveTo>
                  <a:pt x="271462" y="233362"/>
                </a:moveTo>
                <a:cubicBezTo>
                  <a:pt x="271462" y="240050"/>
                  <a:pt x="269702" y="246621"/>
                  <a:pt x="266358" y="252412"/>
                </a:cubicBezTo>
                <a:cubicBezTo>
                  <a:pt x="263014" y="258204"/>
                  <a:pt x="258204" y="263014"/>
                  <a:pt x="252412" y="266358"/>
                </a:cubicBezTo>
                <a:cubicBezTo>
                  <a:pt x="246621" y="269702"/>
                  <a:pt x="240050" y="271462"/>
                  <a:pt x="233362" y="271462"/>
                </a:cubicBezTo>
                <a:cubicBezTo>
                  <a:pt x="226675" y="271462"/>
                  <a:pt x="220104" y="269702"/>
                  <a:pt x="214312" y="266358"/>
                </a:cubicBezTo>
                <a:cubicBezTo>
                  <a:pt x="208521" y="263014"/>
                  <a:pt x="203711" y="258204"/>
                  <a:pt x="200367" y="252412"/>
                </a:cubicBezTo>
                <a:cubicBezTo>
                  <a:pt x="197023" y="246621"/>
                  <a:pt x="195262" y="240050"/>
                  <a:pt x="195262" y="233362"/>
                </a:cubicBezTo>
                <a:cubicBezTo>
                  <a:pt x="195262" y="226675"/>
                  <a:pt x="197023" y="220104"/>
                  <a:pt x="200367" y="214312"/>
                </a:cubicBezTo>
                <a:cubicBezTo>
                  <a:pt x="203711" y="208521"/>
                  <a:pt x="208521" y="203711"/>
                  <a:pt x="214312" y="200367"/>
                </a:cubicBezTo>
                <a:cubicBezTo>
                  <a:pt x="220104" y="197023"/>
                  <a:pt x="226675" y="195262"/>
                  <a:pt x="233362" y="195262"/>
                </a:cubicBezTo>
                <a:cubicBezTo>
                  <a:pt x="240050" y="195262"/>
                  <a:pt x="246621" y="197023"/>
                  <a:pt x="252412" y="200367"/>
                </a:cubicBezTo>
                <a:cubicBezTo>
                  <a:pt x="258204" y="203711"/>
                  <a:pt x="263014" y="208521"/>
                  <a:pt x="266358" y="214312"/>
                </a:cubicBezTo>
                <a:cubicBezTo>
                  <a:pt x="269702" y="220104"/>
                  <a:pt x="271462" y="226675"/>
                  <a:pt x="271462" y="233362"/>
                </a:cubicBezTo>
                <a:close/>
                <a:moveTo>
                  <a:pt x="183832" y="109538"/>
                </a:moveTo>
                <a:cubicBezTo>
                  <a:pt x="204067" y="101460"/>
                  <a:pt x="225975" y="98461"/>
                  <a:pt x="247635" y="100802"/>
                </a:cubicBezTo>
                <a:cubicBezTo>
                  <a:pt x="269296" y="103144"/>
                  <a:pt x="290056" y="110756"/>
                  <a:pt x="308097" y="122971"/>
                </a:cubicBezTo>
                <a:cubicBezTo>
                  <a:pt x="326137" y="135186"/>
                  <a:pt x="340914" y="151636"/>
                  <a:pt x="351131" y="170878"/>
                </a:cubicBezTo>
                <a:cubicBezTo>
                  <a:pt x="361349" y="190120"/>
                  <a:pt x="366699" y="211576"/>
                  <a:pt x="366712" y="233362"/>
                </a:cubicBezTo>
                <a:moveTo>
                  <a:pt x="100012" y="233362"/>
                </a:moveTo>
                <a:cubicBezTo>
                  <a:pt x="100008" y="216397"/>
                  <a:pt x="103241" y="199586"/>
                  <a:pt x="109538" y="183832"/>
                </a:cubicBezTo>
                <a:moveTo>
                  <a:pt x="442912" y="233362"/>
                </a:moveTo>
                <a:cubicBezTo>
                  <a:pt x="442912" y="270143"/>
                  <a:pt x="433229" y="306284"/>
                  <a:pt x="414838" y="338138"/>
                </a:cubicBezTo>
                <a:cubicBezTo>
                  <a:pt x="396448" y="369991"/>
                  <a:pt x="369991" y="396448"/>
                  <a:pt x="338138" y="414838"/>
                </a:cubicBezTo>
                <a:cubicBezTo>
                  <a:pt x="306284" y="433229"/>
                  <a:pt x="270143" y="442912"/>
                  <a:pt x="233362" y="442912"/>
                </a:cubicBezTo>
                <a:cubicBezTo>
                  <a:pt x="196582" y="442912"/>
                  <a:pt x="160441" y="433229"/>
                  <a:pt x="128588" y="414838"/>
                </a:cubicBezTo>
                <a:cubicBezTo>
                  <a:pt x="96734" y="396448"/>
                  <a:pt x="70277" y="369991"/>
                  <a:pt x="51887" y="338138"/>
                </a:cubicBezTo>
                <a:cubicBezTo>
                  <a:pt x="33496" y="306284"/>
                  <a:pt x="23813" y="270143"/>
                  <a:pt x="23812" y="233363"/>
                </a:cubicBezTo>
                <a:cubicBezTo>
                  <a:pt x="23812" y="196582"/>
                  <a:pt x="33496" y="160441"/>
                  <a:pt x="51887" y="128588"/>
                </a:cubicBezTo>
                <a:cubicBezTo>
                  <a:pt x="70277" y="96734"/>
                  <a:pt x="96734" y="70277"/>
                  <a:pt x="128587" y="51887"/>
                </a:cubicBezTo>
                <a:cubicBezTo>
                  <a:pt x="160441" y="33496"/>
                  <a:pt x="196582" y="23813"/>
                  <a:pt x="233362" y="23812"/>
                </a:cubicBezTo>
                <a:cubicBezTo>
                  <a:pt x="270143" y="23812"/>
                  <a:pt x="306284" y="33496"/>
                  <a:pt x="338138" y="51887"/>
                </a:cubicBezTo>
                <a:cubicBezTo>
                  <a:pt x="369991" y="70277"/>
                  <a:pt x="396448" y="96734"/>
                  <a:pt x="414838" y="128588"/>
                </a:cubicBezTo>
                <a:cubicBezTo>
                  <a:pt x="433229" y="160441"/>
                  <a:pt x="442912" y="196582"/>
                  <a:pt x="442912" y="233362"/>
                </a:cubicBezTo>
                <a:close/>
              </a:path>
            </a:pathLst>
          </a:custGeom>
          <a:noFill/>
          <a:ln w="12700" cap="rnd">
            <a:solidFill>
              <a:srgbClr val="000F47"/>
            </a:solidFill>
            <a:round/>
          </a:ln>
        </p:spPr>
        <p:txBody>
          <a:bodyPr/>
          <a:lstStyle/>
          <a:p/>
        </p:txBody>
      </p:sp>
      <p:sp>
        <p:nvSpPr>
          <p:cNvPr id="1013" name="TextBox 1012"/>
          <p:cNvSpPr txBox="1"/>
          <p:nvPr/>
        </p:nvSpPr>
        <p:spPr>
          <a:xfrm>
            <a:off x="1170432" y="3721608"/>
            <a:ext cx="10564063" cy="1046988"/>
          </a:xfrm>
          <a:prstGeom prst="rect">
            <a:avLst/>
          </a:prstGeom>
          <a:noFill/>
        </p:spPr>
        <p:txBody>
          <a:bodyPr wrap="square" anchor="ctr" lIns="0" rIns="0" tIns="0" bIns="0">
            <a:spAutoFit/>
          </a:bodyPr>
          <a:lstStyle/>
          <a:p>
            <a:pPr algn="l"/>
            <a:r>
              <a:rPr sz="1200" b="1">
                <a:solidFill>
                  <a:srgbClr val="000F47"/>
                </a:solidFill>
                <a:latin typeface="Noto Sans"/>
              </a:rPr>
              <a:t>Service floor</a:t>
            </a:r>
          </a:p>
          <a:p>
            <a:pPr algn="l">
              <a:spcBef>
                <a:spcPts val="300"/>
              </a:spcBef>
            </a:pPr>
            <a:r>
              <a:rPr sz="1200" b="0">
                <a:solidFill>
                  <a:srgbClr val="000F47"/>
                </a:solidFill>
                <a:latin typeface="Noto Sans"/>
              </a:rPr>
              <a:t>Hard stop if service level drops below 97%</a:t>
            </a:r>
          </a:p>
        </p:txBody>
      </p:sp>
      <p:sp>
        <p:nvSpPr>
          <p:cNvPr id="1014" name="Rectangle 1013"/>
          <p:cNvSpPr/>
          <p:nvPr/>
        </p:nvSpPr>
        <p:spPr>
          <a:xfrm>
            <a:off x="457200" y="4823460"/>
            <a:ext cx="11277295" cy="10972"/>
          </a:xfrm>
          <a:prstGeom prst="rect">
            <a:avLst/>
          </a:prstGeom>
          <a:solidFill>
            <a:srgbClr val="B9B6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con-calendar"/>
          <p:cNvSpPr/>
          <p:nvPr/>
        </p:nvSpPr>
        <p:spPr>
          <a:xfrm>
            <a:off x="457200" y="5228082"/>
            <a:ext cx="457200" cy="457200"/>
          </a:xfrm>
          <a:custGeom>
            <a:avLst/>
            <a:gdLst/>
            <a:ahLst/>
            <a:rect l="0" t="0" r="457200" b="457200"/>
            <a:pathLst>
              <a:path w="457200" h="457200">
                <a:moveTo>
                  <a:pt x="23812" y="166688"/>
                </a:moveTo>
                <a:lnTo>
                  <a:pt x="442912" y="166688"/>
                </a:lnTo>
                <a:moveTo>
                  <a:pt x="385762" y="61912"/>
                </a:moveTo>
                <a:lnTo>
                  <a:pt x="442912" y="61912"/>
                </a:lnTo>
                <a:lnTo>
                  <a:pt x="442912" y="433388"/>
                </a:lnTo>
                <a:lnTo>
                  <a:pt x="23812" y="433388"/>
                </a:lnTo>
                <a:lnTo>
                  <a:pt x="23812" y="61912"/>
                </a:lnTo>
                <a:lnTo>
                  <a:pt x="128588" y="61912"/>
                </a:lnTo>
                <a:moveTo>
                  <a:pt x="176212" y="61912"/>
                </a:moveTo>
                <a:lnTo>
                  <a:pt x="338138" y="61912"/>
                </a:lnTo>
                <a:moveTo>
                  <a:pt x="128588" y="109538"/>
                </a:moveTo>
                <a:lnTo>
                  <a:pt x="128588" y="23812"/>
                </a:lnTo>
                <a:moveTo>
                  <a:pt x="338138" y="109538"/>
                </a:moveTo>
                <a:lnTo>
                  <a:pt x="338138" y="23812"/>
                </a:lnTo>
              </a:path>
            </a:pathLst>
          </a:custGeom>
          <a:noFill/>
          <a:ln w="12700" cap="rnd">
            <a:solidFill>
              <a:srgbClr val="000F47"/>
            </a:solidFill>
            <a:round/>
          </a:ln>
        </p:spPr>
        <p:txBody>
          <a:bodyPr/>
          <a:lstStyle/>
          <a:p/>
        </p:txBody>
      </p:sp>
      <p:sp>
        <p:nvSpPr>
          <p:cNvPr id="1015" name="TextBox 1014"/>
          <p:cNvSpPr txBox="1"/>
          <p:nvPr/>
        </p:nvSpPr>
        <p:spPr>
          <a:xfrm>
            <a:off x="1170432" y="4878324"/>
            <a:ext cx="10564063" cy="1046988"/>
          </a:xfrm>
          <a:prstGeom prst="rect">
            <a:avLst/>
          </a:prstGeom>
          <a:noFill/>
        </p:spPr>
        <p:txBody>
          <a:bodyPr wrap="square" anchor="ctr" lIns="0" rIns="0" tIns="0" bIns="0">
            <a:spAutoFit/>
          </a:bodyPr>
          <a:lstStyle/>
          <a:p>
            <a:pPr algn="l"/>
            <a:r>
              <a:rPr sz="1200" b="1">
                <a:solidFill>
                  <a:srgbClr val="000F47"/>
                </a:solidFill>
                <a:latin typeface="Noto Sans"/>
              </a:rPr>
              <a:t>Wave gates</a:t>
            </a:r>
          </a:p>
          <a:p>
            <a:pPr algn="l">
              <a:spcBef>
                <a:spcPts val="300"/>
              </a:spcBef>
            </a:pPr>
            <a:r>
              <a:rPr sz="1200" b="0">
                <a:solidFill>
                  <a:srgbClr val="000F47"/>
                </a:solidFill>
                <a:latin typeface="Noto Sans"/>
              </a:rPr>
              <a:t>Each wave needs a signed gate review to start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One number decides this business case</a:t>
            </a:r>
          </a:p>
        </p:txBody>
      </p:sp>
      <p:sp>
        <p:nvSpPr>
          <p:cNvPr id="3" name="Oval 2"/>
          <p:cNvSpPr/>
          <p:nvPr/>
        </p:nvSpPr>
        <p:spPr>
          <a:xfrm>
            <a:off x="1021064" y="2807208"/>
            <a:ext cx="1828800" cy="1828800"/>
          </a:xfrm>
          <a:prstGeom prst="ellipse">
            <a:avLst/>
          </a:prstGeom>
          <a:solidFill>
            <a:srgbClr val="FFBF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25400" bIns="25400" wrap="square"/>
          <a:lstStyle/>
          <a:p>
            <a:pPr algn="ctr"/>
            <a:r>
              <a:rPr sz="1400" b="1">
                <a:solidFill>
                  <a:srgbClr val="000F47"/>
                </a:solidFill>
                <a:latin typeface="Noto Sans"/>
              </a:rPr>
              <a:t>$2.4m savings per year</a:t>
            </a:r>
          </a:p>
        </p:txBody>
      </p:sp>
      <p:sp>
        <p:nvSpPr>
          <p:cNvPr id="4" name="TextBox 3"/>
          <p:cNvSpPr txBox="1"/>
          <p:nvPr/>
        </p:nvSpPr>
        <p:spPr>
          <a:xfrm>
            <a:off x="3215624" y="2807208"/>
            <a:ext cx="8518870" cy="1828800"/>
          </a:xfrm>
          <a:prstGeom prst="rect">
            <a:avLst/>
          </a:prstGeom>
          <a:noFill/>
        </p:spPr>
        <p:txBody>
          <a:bodyPr wrap="square" anchor="ctr" lIns="0" rIns="0" tIns="0" bIns="0">
            <a:spAutoFit/>
          </a:bodyPr>
          <a:lstStyle/>
          <a:p>
            <a:pPr algn="l"/>
            <a:r>
              <a:rPr sz="1200" b="0">
                <a:solidFill>
                  <a:srgbClr val="7B7974"/>
                </a:solidFill>
                <a:latin typeface="Noto Sans"/>
              </a:rPr>
              <a:t>Full effect from 2027 after legacy contracts expire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wrap="square"/>
          <a:lstStyle/>
          <a:p>
            <a:pPr marL="0" indent="0">
              <a:buNone/>
            </a:pPr>
            <a:r>
              <a:t>Charts and data</a:t>
            </a:r>
          </a:p>
        </p:txBody>
      </p:sp>
      <p:sp>
        <p:nvSpPr>
          <p:cNvPr id="3" name="Text Placeholder 2"/>
          <p:cNvSpPr>
            <a:spLocks noGrp="1"/>
          </p:cNvSpPr>
          <p:nvPr>
            <p:ph type="body" idx="12" sz="quarter"/>
          </p:nvPr>
        </p:nvSpPr>
        <p:spPr/>
        <p:txBody>
          <a:bodyPr wrap="square"/>
          <a:lstStyle/>
          <a:p>
            <a:pPr marL="0" indent="0">
              <a:buNone/>
            </a:pPr>
            <a:r>
              <a:t>03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Two suppliers beat the field on every criterion</a:t>
            </a:r>
          </a:p>
        </p:txBody>
      </p:sp>
      <p:graphicFrame>
        <p:nvGraphicFramePr>
          <p:cNvPr id="4" name="Content Placeholder 2"/>
          <p:cNvGraphicFramePr>
            <a:graphicFrameLocks noGrp="1"/>
          </p:cNvGraphicFramePr>
          <p:nvPr>
            <p:ph idx="11"/>
          </p:nvPr>
        </p:nvGraphicFramePr>
        <p:xfrm>
          <a:off x="457200" y="1409700"/>
          <a:ext cx="11277600" cy="1408176"/>
        </p:xfrm>
        <a:graphic>
          <a:graphicData uri="http://schemas.openxmlformats.org/drawingml/2006/table">
            <a:tbl>
              <a:tblPr firstRow="1" bandRow="0" lastRow="0" firstCol="0" lastCol="0" bandCol="0">
                <a:tableStyleId>{839DD9DD-9E6C-4910-8AC0-68ADFF6A6AFC}</a:tableStyleId>
              </a:tblPr>
              <a:tblGrid>
                <a:gridCol w="2819400"/>
                <a:gridCol w="2819400"/>
                <a:gridCol w="2819400"/>
                <a:gridCol w="2819400"/>
              </a:tblGrid>
              <a:tr h="310896">
                <a:tc>
                  <a:txBody>
                    <a:bodyPr wrap="square" anchor="b"/>
                    <a:lstStyle/>
                    <a:p>
                      <a:pPr algn="l"/>
                      <a:r>
                        <a:rPr b="1" sz="1200">
                          <a:solidFill>
                            <a:schemeClr val="tx1"/>
                          </a:solidFill>
                        </a:rPr>
                        <a:t>Criterion</a:t>
                      </a:r>
                    </a:p>
                  </a:txBody>
                  <a:tcPr/>
                </a:tc>
                <a:tc>
                  <a:txBody>
                    <a:bodyPr wrap="square" anchor="b"/>
                    <a:lstStyle/>
                    <a:p>
                      <a:pPr algn="l"/>
                      <a:r>
                        <a:rPr b="1" sz="1200">
                          <a:solidFill>
                            <a:schemeClr val="tx1"/>
                          </a:solidFill>
                        </a:rPr>
                        <a:t>Supplier A</a:t>
                      </a:r>
                    </a:p>
                  </a:txBody>
                  <a:tcPr/>
                </a:tc>
                <a:tc>
                  <a:txBody>
                    <a:bodyPr wrap="square" anchor="b"/>
                    <a:lstStyle/>
                    <a:p>
                      <a:pPr algn="l"/>
                      <a:r>
                        <a:rPr b="1" sz="1200">
                          <a:solidFill>
                            <a:schemeClr val="tx1"/>
                          </a:solidFill>
                        </a:rPr>
                        <a:t>Supplier B</a:t>
                      </a:r>
                    </a:p>
                  </a:txBody>
                  <a:tcPr/>
                </a:tc>
                <a:tc>
                  <a:txBody>
                    <a:bodyPr wrap="square" anchor="b"/>
                    <a:lstStyle/>
                    <a:p>
                      <a:pPr algn="l"/>
                      <a:r>
                        <a:rPr b="1" sz="1200">
                          <a:solidFill>
                            <a:schemeClr val="tx1"/>
                          </a:solidFill>
                        </a:rPr>
                        <a:t>Field average</a:t>
                      </a:r>
                    </a:p>
                  </a:txBody>
                  <a:tcPr/>
                </a:tc>
              </a:tr>
              <a:tr h="274320">
                <a:tc>
                  <a:txBody>
                    <a:bodyPr wrap="square" anchor="t"/>
                    <a:lstStyle/>
                    <a:p>
                      <a:pPr algn="l"/>
                      <a:r>
                        <a:rPr b="0" sz="1200">
                          <a:solidFill>
                            <a:schemeClr val="tx1"/>
                          </a:solidFill>
                        </a:rPr>
                        <a:t>Unit price</a:t>
                      </a:r>
                    </a:p>
                  </a:txBody>
                  <a:tcPr/>
                </a:tc>
                <a:tc>
                  <a:txBody>
                    <a:bodyPr wrap="square" anchor="t"/>
                    <a:lstStyle/>
                    <a:p>
                      <a:pPr algn="l"/>
                      <a:r>
                        <a:rPr b="0" sz="1200">
                          <a:solidFill>
                            <a:schemeClr val="tx1"/>
                          </a:solidFill>
                        </a:rPr>
                        <a:t>$8.20</a:t>
                      </a:r>
                    </a:p>
                  </a:txBody>
                  <a:tcPr/>
                </a:tc>
                <a:tc>
                  <a:txBody>
                    <a:bodyPr wrap="square" anchor="t"/>
                    <a:lstStyle/>
                    <a:p>
                      <a:pPr algn="l"/>
                      <a:r>
                        <a:rPr b="0" sz="1200">
                          <a:solidFill>
                            <a:schemeClr val="tx1"/>
                          </a:solidFill>
                        </a:rPr>
                        <a:t>$8.45</a:t>
                      </a:r>
                    </a:p>
                  </a:txBody>
                  <a:tcPr/>
                </a:tc>
                <a:tc>
                  <a:txBody>
                    <a:bodyPr wrap="square" anchor="t"/>
                    <a:lstStyle/>
                    <a:p>
                      <a:pPr algn="l"/>
                      <a:r>
                        <a:rPr b="0" sz="1200">
                          <a:solidFill>
                            <a:schemeClr val="tx1"/>
                          </a:solidFill>
                        </a:rPr>
                        <a:t>$9.60</a:t>
                      </a:r>
                    </a:p>
                  </a:txBody>
                  <a:tcPr/>
                </a:tc>
              </a:tr>
              <a:tr h="274320">
                <a:tc>
                  <a:txBody>
                    <a:bodyPr wrap="square" anchor="t"/>
                    <a:lstStyle/>
                    <a:p>
                      <a:pPr algn="l"/>
                      <a:r>
                        <a:rPr b="0" sz="1200">
                          <a:solidFill>
                            <a:schemeClr val="tx1"/>
                          </a:solidFill>
                        </a:rPr>
                        <a:t>Defect rate</a:t>
                      </a:r>
                    </a:p>
                  </a:txBody>
                  <a:tcPr/>
                </a:tc>
                <a:tc>
                  <a:txBody>
                    <a:bodyPr wrap="square" anchor="t"/>
                    <a:lstStyle/>
                    <a:p>
                      <a:pPr algn="l"/>
                      <a:r>
                        <a:rPr b="0" sz="1200">
                          <a:solidFill>
                            <a:schemeClr val="tx1"/>
                          </a:solidFill>
                        </a:rPr>
                        <a:t>0.4%</a:t>
                      </a:r>
                    </a:p>
                  </a:txBody>
                  <a:tcPr/>
                </a:tc>
                <a:tc>
                  <a:txBody>
                    <a:bodyPr wrap="square" anchor="t"/>
                    <a:lstStyle/>
                    <a:p>
                      <a:pPr algn="l"/>
                      <a:r>
                        <a:rPr b="0" sz="1200">
                          <a:solidFill>
                            <a:schemeClr val="tx1"/>
                          </a:solidFill>
                        </a:rPr>
                        <a:t>0.6%</a:t>
                      </a:r>
                    </a:p>
                  </a:txBody>
                  <a:tcPr/>
                </a:tc>
                <a:tc>
                  <a:txBody>
                    <a:bodyPr wrap="square" anchor="t"/>
                    <a:lstStyle/>
                    <a:p>
                      <a:pPr algn="l"/>
                      <a:r>
                        <a:rPr b="0" sz="1200">
                          <a:solidFill>
                            <a:schemeClr val="tx1"/>
                          </a:solidFill>
                        </a:rPr>
                        <a:t>1.8%</a:t>
                      </a:r>
                    </a:p>
                  </a:txBody>
                  <a:tcPr/>
                </a:tc>
              </a:tr>
              <a:tr h="274320">
                <a:tc>
                  <a:txBody>
                    <a:bodyPr wrap="square" anchor="t"/>
                    <a:lstStyle/>
                    <a:p>
                      <a:pPr algn="l"/>
                      <a:r>
                        <a:rPr b="0" sz="1200">
                          <a:solidFill>
                            <a:schemeClr val="tx1"/>
                          </a:solidFill>
                        </a:rPr>
                        <a:t>Lead time</a:t>
                      </a:r>
                    </a:p>
                  </a:txBody>
                  <a:tcPr/>
                </a:tc>
                <a:tc>
                  <a:txBody>
                    <a:bodyPr wrap="square" anchor="t"/>
                    <a:lstStyle/>
                    <a:p>
                      <a:pPr algn="l"/>
                      <a:r>
                        <a:rPr b="0" sz="1200">
                          <a:solidFill>
                            <a:schemeClr val="tx1"/>
                          </a:solidFill>
                        </a:rPr>
                        <a:t>5 d</a:t>
                      </a:r>
                    </a:p>
                  </a:txBody>
                  <a:tcPr/>
                </a:tc>
                <a:tc>
                  <a:txBody>
                    <a:bodyPr wrap="square" anchor="t"/>
                    <a:lstStyle/>
                    <a:p>
                      <a:pPr algn="l"/>
                      <a:r>
                        <a:rPr b="0" sz="1200">
                          <a:solidFill>
                            <a:schemeClr val="tx1"/>
                          </a:solidFill>
                        </a:rPr>
                        <a:t>6 d</a:t>
                      </a:r>
                    </a:p>
                  </a:txBody>
                  <a:tcPr/>
                </a:tc>
                <a:tc>
                  <a:txBody>
                    <a:bodyPr wrap="square" anchor="t"/>
                    <a:lstStyle/>
                    <a:p>
                      <a:pPr algn="l"/>
                      <a:r>
                        <a:rPr b="0" sz="1200">
                          <a:solidFill>
                            <a:schemeClr val="tx1"/>
                          </a:solidFill>
                        </a:rPr>
                        <a:t>11 d</a:t>
                      </a:r>
                    </a:p>
                  </a:txBody>
                  <a:tcPr/>
                </a:tc>
              </a:tr>
              <a:tr h="274320">
                <a:tc>
                  <a:txBody>
                    <a:bodyPr wrap="square" anchor="t"/>
                    <a:lstStyle/>
                    <a:p>
                      <a:pPr algn="l"/>
                      <a:r>
                        <a:rPr b="0" sz="1200">
                          <a:solidFill>
                            <a:schemeClr val="tx1"/>
                          </a:solidFill>
                        </a:rPr>
                        <a:t>Capacity headroom</a:t>
                      </a:r>
                    </a:p>
                  </a:txBody>
                  <a:tcPr/>
                </a:tc>
                <a:tc>
                  <a:txBody>
                    <a:bodyPr wrap="square" anchor="t"/>
                    <a:lstStyle/>
                    <a:p>
                      <a:pPr algn="l"/>
                      <a:r>
                        <a:rPr b="0" sz="1200">
                          <a:solidFill>
                            <a:schemeClr val="tx1"/>
                          </a:solidFill>
                        </a:rPr>
                        <a:t>35%</a:t>
                      </a:r>
                    </a:p>
                  </a:txBody>
                  <a:tcPr/>
                </a:tc>
                <a:tc>
                  <a:txBody>
                    <a:bodyPr wrap="square" anchor="t"/>
                    <a:lstStyle/>
                    <a:p>
                      <a:pPr algn="l"/>
                      <a:r>
                        <a:rPr b="0" sz="1200">
                          <a:solidFill>
                            <a:schemeClr val="tx1"/>
                          </a:solidFill>
                        </a:rPr>
                        <a:t>28%</a:t>
                      </a:r>
                    </a:p>
                  </a:txBody>
                  <a:tcPr/>
                </a:tc>
                <a:tc>
                  <a:txBody>
                    <a:bodyPr wrap="square" anchor="t"/>
                    <a:lstStyle/>
                    <a:p>
                      <a:pPr algn="l"/>
                      <a:r>
                        <a:rPr b="0" sz="1200">
                          <a:solidFill>
                            <a:schemeClr val="tx1"/>
                          </a:solidFill>
                        </a:rPr>
                        <a:t>12%</a:t>
                      </a:r>
                    </a:p>
                  </a:txBody>
                  <a:tcPr/>
                </a:tc>
              </a:tr>
            </a:tbl>
          </a:graphicData>
        </a:graphic>
      </p:graphicFrame>
      <p:sp>
        <p:nvSpPr>
          <p:cNvPr id="5" name="Footnote"/>
          <p:cNvSpPr txBox="1"/>
          <p:nvPr/>
        </p:nvSpPr>
        <p:spPr>
          <a:xfrm>
            <a:off x="457200" y="6185916"/>
            <a:ext cx="11277295" cy="123444"/>
          </a:xfrm>
          <a:prstGeom prst="rect">
            <a:avLst/>
          </a:prstGeom>
          <a:noFill/>
        </p:spPr>
        <p:txBody>
          <a:bodyPr lIns="0" tIns="0" rIns="0" bIns="0" rtlCol="0" anchor="b">
            <a:spAutoFit/>
          </a:bodyPr>
          <a:lstStyle/>
          <a:p>
            <a:pPr algn="l"/>
            <a:r>
              <a:rPr sz="800">
                <a:solidFill>
                  <a:schemeClr val="tx1"/>
                </a:solidFill>
                <a:ea typeface="+mn-lt"/>
                <a:cs typeface="+mn-lt"/>
              </a:rPr>
              <a:t>Source: RFP evaluation, June</a:t>
            </a:r>
          </a:p>
        </p:txBody>
      </p:sp>
      <p:graphicFrame>
        <p:nvGraphicFramePr>
          <p:cNvPr id="6" name="Conclusion"/>
          <p:cNvGraphicFramePr>
            <a:graphicFrameLocks noGrp="1"/>
          </p:cNvGraphicFramePr>
          <p:nvPr/>
        </p:nvGraphicFramePr>
        <p:xfrm>
          <a:off x="457200" y="5545836"/>
          <a:ext cx="11277295" cy="502920"/>
        </p:xfrm>
        <a:graphic>
          <a:graphicData uri="http://schemas.openxmlformats.org/drawingml/2006/table">
            <a:tbl>
              <a:tblPr firstRow="1" bandRow="1">
                <a:tableStyleId>{5C22544A-7EE6-4342-B048-85BDC9FD1C3A}</a:tableStyleId>
              </a:tblPr>
              <a:tblGrid>
                <a:gridCol w="11277295"/>
              </a:tblGrid>
              <a:tr h="502920">
                <a:tc>
                  <a:txBody>
                    <a:bodyPr/>
                    <a:lstStyle/>
                    <a:p>
                      <a:pPr algn="l"/>
                      <a:r>
                        <a:rPr b="0" i="0" sz="1800">
                          <a:solidFill>
                            <a:schemeClr val="tx1"/>
                          </a:solidFill>
                          <a:latin typeface="+mj-lt"/>
                          <a:ea typeface="+mj-lt"/>
                          <a:cs typeface="+mj-lt"/>
                        </a:rPr>
                        <a:t>Award both framework contracts in Q3.</a:t>
                      </a:r>
                    </a:p>
                  </a:txBody>
                  <a:tcPr anchor="b" marT="0" marB="0" marL="137160" marR="137160">
                    <a:lnL w="9525" cap="flat" cmpd="sng" algn="ctr">
                      <a:solidFill>
                        <a:srgbClr val="FFBF00"/>
                      </a:solidFill>
                      <a:prstDash val="solid"/>
                      <a:round/>
                    </a:lnL>
                    <a:lnT w="9525" cap="flat" cmpd="sng" algn="ctr">
                      <a:solidFill>
                        <a:schemeClr val="tx1">
                          <a:alpha val="0"/>
                        </a:schemeClr>
                      </a:solidFill>
                      <a:prstDash val="solid"/>
                      <a:round/>
                    </a:lnT>
                    <a:lnB w="9525" cap="flat" cmpd="sng" algn="ctr">
                      <a:noFill/>
                    </a:lnB>
                    <a:no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Savings reach $2.4m in the second year</a:t>
            </a:r>
          </a:p>
        </p:txBody>
      </p:sp>
      <p:sp>
        <p:nvSpPr>
          <p:cNvPr id="4" name="Content Placeholder 3"/>
          <p:cNvSpPr>
            <a:spLocks noGrp="1"/>
          </p:cNvSpPr>
          <p:nvPr>
            <p:ph idx="12"/>
          </p:nvPr>
        </p:nvSpPr>
        <p:spPr>
          <a:xfrm>
            <a:off x="8280400" y="1409700"/>
            <a:ext cx="3454400" cy="4593336"/>
          </a:xfrm>
          <a:solidFill>
            <a:srgbClr val="F7F3EE"/>
          </a:solidFill>
          <a:ln>
            <a:noFill/>
          </a:ln>
        </p:spPr>
        <p:txBody>
          <a:bodyPr wrap="square" lIns="183600" tIns="183600" rIns="183600" bIns="183600"/>
          <a:lstStyle/>
          <a:p>
            <a:pPr lvl="5" marL="0" indent="0">
              <a:buNone/>
            </a:pPr>
            <a:r>
              <a:rPr sz="1200" b="0"/>
              <a:t>WHY IT STEPS UP</a:t>
            </a:r>
          </a:p>
          <a:p>
            <a:pPr lvl="6" marL="0" indent="0">
              <a:spcBef>
                <a:spcPts val="600"/>
              </a:spcBef>
              <a:buNone/>
            </a:pPr>
            <a:r>
              <a:rPr sz="1800"/>
              <a:t>The full effect starts when legacy contracts expire at the end of 2026.</a:t>
            </a:r>
          </a:p>
        </p:txBody>
      </p:sp>
      <p:graphicFrame>
        <p:nvGraphicFramePr>
          <p:cNvPr id="5" name="Content Placeholder 2"/>
          <p:cNvGraphicFramePr>
            <a:graphicFrameLocks noGrp="1"/>
          </p:cNvGraphicFramePr>
          <p:nvPr>
            <p:ph idx="11"/>
          </p:nvPr>
        </p:nvGraphicFramePr>
        <p:xfrm>
          <a:off x="457200" y="1409700"/>
          <a:ext cx="7366000" cy="4593336"/>
        </p:xfrm>
        <a:graphic>
          <a:graphicData uri="http://schemas.openxmlformats.org/drawingml/2006/chart">
            <c:chart xmlns:c="http://schemas.openxmlformats.org/drawingml/2006/chart" r:id="rId2"/>
          </a:graphicData>
        </a:graphic>
      </p:graphicFrame>
      <p:sp>
        <p:nvSpPr>
          <p:cNvPr id="6" name="Footnote"/>
          <p:cNvSpPr txBox="1"/>
          <p:nvPr/>
        </p:nvSpPr>
        <p:spPr>
          <a:xfrm>
            <a:off x="457200" y="6185916"/>
            <a:ext cx="11277295" cy="123444"/>
          </a:xfrm>
          <a:prstGeom prst="rect">
            <a:avLst/>
          </a:prstGeom>
          <a:noFill/>
        </p:spPr>
        <p:txBody>
          <a:bodyPr lIns="0" tIns="0" rIns="0" bIns="0" rtlCol="0" anchor="b">
            <a:spAutoFit/>
          </a:bodyPr>
          <a:lstStyle/>
          <a:p>
            <a:pPr algn="l"/>
            <a:r>
              <a:rPr sz="800">
                <a:solidFill>
                  <a:schemeClr val="tx1"/>
                </a:solidFill>
                <a:ea typeface="+mn-lt"/>
                <a:cs typeface="+mn-lt"/>
              </a:rPr>
              <a:t>Source: business case v3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Price and volume add $3.1m before headwinds</a:t>
            </a:r>
          </a:p>
        </p:txBody>
      </p:sp>
      <p:sp>
        <p:nvSpPr>
          <p:cNvPr id="3" name="TextBox 2"/>
          <p:cNvSpPr txBox="1"/>
          <p:nvPr/>
        </p:nvSpPr>
        <p:spPr>
          <a:xfrm>
            <a:off x="457200" y="1408176"/>
            <a:ext cx="11277295" cy="457200"/>
          </a:xfrm>
          <a:prstGeom prst="rect">
            <a:avLst/>
          </a:prstGeom>
          <a:noFill/>
        </p:spPr>
        <p:txBody>
          <a:bodyPr wrap="square" anchor="t" lIns="25400" rIns="63500" tIns="0" bIns="0">
            <a:spAutoFit/>
          </a:bodyPr>
          <a:lstStyle/>
          <a:p>
            <a:pPr>
              <a:spcAft>
                <a:spcPts val="800"/>
              </a:spcAft>
              <a:buNone/>
            </a:pPr>
            <a:r>
              <a:rPr sz="1200" b="1">
                <a:solidFill>
                  <a:schemeClr val="tx1"/>
                </a:solidFill>
                <a:latin typeface="+mn-lt"/>
                <a:ea typeface="+mn-lt"/>
                <a:cs typeface="+mn-lt"/>
              </a:rPr>
              <a:t>EBIT bridge 2026</a:t>
            </a:r>
          </a:p>
          <a:p>
            <a:pPr>
              <a:spcAft>
                <a:spcPts val="800"/>
              </a:spcAft>
              <a:buNone/>
            </a:pPr>
            <a:r>
              <a:rPr sz="1200" b="0">
                <a:solidFill>
                  <a:schemeClr val="tx1"/>
                </a:solidFill>
                <a:latin typeface="+mn-lt"/>
                <a:ea typeface="+mn-lt"/>
                <a:cs typeface="+mn-lt"/>
              </a:rPr>
              <a:t>$m</a:t>
            </a:r>
          </a:p>
        </p:txBody>
      </p:sp>
      <p:graphicFrame>
        <p:nvGraphicFramePr>
          <p:cNvPr id="4" name="Chart 3"/>
          <p:cNvGraphicFramePr>
            <a:graphicFrameLocks noGrp="1"/>
          </p:cNvGraphicFramePr>
          <p:nvPr/>
        </p:nvGraphicFramePr>
        <p:xfrm>
          <a:off x="457200" y="1911095"/>
          <a:ext cx="11277295" cy="4091940"/>
        </p:xfrm>
        <a:graphic>
          <a:graphicData uri="http://schemas.openxmlformats.org/drawingml/2006/chart">
            <c:chart xmlns:c="http://schemas.openxmlformats.org/drawingml/2006/chart" r:id="rId2"/>
          </a:graphicData>
        </a:graphic>
      </p:graphicFrame>
      <p:sp>
        <p:nvSpPr>
          <p:cNvPr id="5" name="Footnote"/>
          <p:cNvSpPr txBox="1"/>
          <p:nvPr/>
        </p:nvSpPr>
        <p:spPr>
          <a:xfrm>
            <a:off x="457200" y="6185916"/>
            <a:ext cx="11277295" cy="123444"/>
          </a:xfrm>
          <a:prstGeom prst="rect">
            <a:avLst/>
          </a:prstGeom>
          <a:noFill/>
        </p:spPr>
        <p:txBody>
          <a:bodyPr lIns="0" tIns="0" rIns="0" bIns="0" rtlCol="0" anchor="b">
            <a:spAutoFit/>
          </a:bodyPr>
          <a:lstStyle/>
          <a:p>
            <a:pPr algn="l"/>
            <a:r>
              <a:rPr sz="800">
                <a:solidFill>
                  <a:schemeClr val="tx1"/>
                </a:solidFill>
                <a:ea typeface="+mn-lt"/>
                <a:cs typeface="+mn-lt"/>
              </a:rPr>
              <a:t>Source: controlling, plan v2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Two categories hold 63% of addressable spend</a:t>
            </a:r>
          </a:p>
        </p:txBody>
      </p:sp>
      <p:sp>
        <p:nvSpPr>
          <p:cNvPr id="3" name="TextBox 2"/>
          <p:cNvSpPr txBox="1"/>
          <p:nvPr/>
        </p:nvSpPr>
        <p:spPr>
          <a:xfrm>
            <a:off x="457200" y="1408176"/>
            <a:ext cx="11277295" cy="457200"/>
          </a:xfrm>
          <a:prstGeom prst="rect">
            <a:avLst/>
          </a:prstGeom>
          <a:noFill/>
        </p:spPr>
        <p:txBody>
          <a:bodyPr wrap="square" anchor="t" lIns="25400" rIns="63500" tIns="0" bIns="0">
            <a:spAutoFit/>
          </a:bodyPr>
          <a:lstStyle/>
          <a:p>
            <a:pPr>
              <a:spcAft>
                <a:spcPts val="800"/>
              </a:spcAft>
              <a:buNone/>
            </a:pPr>
            <a:r>
              <a:rPr sz="1200" b="1">
                <a:solidFill>
                  <a:schemeClr val="tx1"/>
                </a:solidFill>
                <a:latin typeface="+mn-lt"/>
                <a:ea typeface="+mn-lt"/>
                <a:cs typeface="+mn-lt"/>
              </a:rPr>
              <a:t>Spend by category</a:t>
            </a:r>
          </a:p>
          <a:p>
            <a:pPr>
              <a:spcAft>
                <a:spcPts val="800"/>
              </a:spcAft>
              <a:buNone/>
            </a:pPr>
            <a:r>
              <a:rPr sz="1200" b="0">
                <a:solidFill>
                  <a:schemeClr val="tx1"/>
                </a:solidFill>
                <a:latin typeface="+mn-lt"/>
                <a:ea typeface="+mn-lt"/>
                <a:cs typeface="+mn-lt"/>
              </a:rPr>
              <a:t>$m, 2025</a:t>
            </a:r>
          </a:p>
        </p:txBody>
      </p:sp>
      <p:graphicFrame>
        <p:nvGraphicFramePr>
          <p:cNvPr id="4" name="Treemap"/>
          <p:cNvGraphicFramePr/>
          <p:nvPr/>
        </p:nvGraphicFramePr>
        <p:xfrm>
          <a:off x="457200" y="1911095"/>
          <a:ext cx="11277295" cy="4091940"/>
        </p:xfrm>
        <a:graphic>
          <a:graphicData uri="http://schemas.microsoft.com/office/drawing/2014/chartex">
            <cx:chart xmlns:cx="http://schemas.microsoft.com/office/drawing/2014/chartex" r:id="rId2"/>
          </a:graphicData>
        </a:graphic>
      </p:graphicFrame>
      <p:sp>
        <p:nvSpPr>
          <p:cNvPr id="5" name="Footnote"/>
          <p:cNvSpPr txBox="1"/>
          <p:nvPr/>
        </p:nvSpPr>
        <p:spPr>
          <a:xfrm>
            <a:off x="457200" y="6185916"/>
            <a:ext cx="11277295" cy="123444"/>
          </a:xfrm>
          <a:prstGeom prst="rect">
            <a:avLst/>
          </a:prstGeom>
          <a:noFill/>
        </p:spPr>
        <p:txBody>
          <a:bodyPr lIns="0" tIns="0" rIns="0" bIns="0" rtlCol="0" anchor="b">
            <a:spAutoFit/>
          </a:bodyPr>
          <a:lstStyle/>
          <a:p>
            <a:pPr algn="l"/>
            <a:r>
              <a:rPr sz="800">
                <a:solidFill>
                  <a:schemeClr val="tx1"/>
                </a:solidFill>
                <a:ea typeface="+mn-lt"/>
                <a:cs typeface="+mn-lt"/>
              </a:rPr>
              <a:t>Source: spend cube 2025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The funnel loses most volume at qualification</a:t>
            </a:r>
          </a:p>
        </p:txBody>
      </p:sp>
      <p:sp>
        <p:nvSpPr>
          <p:cNvPr id="7001" name="infographic-7001"/>
          <p:cNvSpPr/>
          <p:nvPr/>
        </p:nvSpPr>
        <p:spPr>
          <a:xfrm>
            <a:off x="1697702" y="1408176"/>
            <a:ext cx="8796290" cy="1107567"/>
          </a:xfrm>
          <a:custGeom>
            <a:avLst/>
            <a:gdLst/>
            <a:ahLst/>
            <a:rect l="0" t="0" r="8796290" b="1107567"/>
            <a:pathLst>
              <a:path w="8796290" h="1107567">
                <a:moveTo>
                  <a:pt x="0" y="0"/>
                </a:moveTo>
                <a:lnTo>
                  <a:pt x="8796290" y="0"/>
                </a:lnTo>
                <a:lnTo>
                  <a:pt x="8035072" y="1107567"/>
                </a:lnTo>
                <a:lnTo>
                  <a:pt x="761217" y="1107567"/>
                </a:lnTo>
                <a:close/>
              </a:path>
            </a:pathLst>
          </a:custGeom>
          <a:solidFill>
            <a:srgbClr val="000F47"/>
          </a:solidFill>
          <a:ln>
            <a:noFill/>
          </a:ln>
        </p:spPr>
        <p:txBody>
          <a:bodyPr/>
          <a:lstStyle/>
          <a:p/>
        </p:txBody>
      </p:sp>
      <p:sp>
        <p:nvSpPr>
          <p:cNvPr id="7002" name="TextBox 7001"/>
          <p:cNvSpPr txBox="1"/>
          <p:nvPr/>
        </p:nvSpPr>
        <p:spPr>
          <a:xfrm>
            <a:off x="1697702" y="1408176"/>
            <a:ext cx="8796290" cy="1107567"/>
          </a:xfrm>
          <a:prstGeom prst="rect">
            <a:avLst/>
          </a:prstGeom>
          <a:noFill/>
        </p:spPr>
        <p:txBody>
          <a:bodyPr wrap="square" anchor="ctr" lIns="0" rIns="0" tIns="0" bIns="0">
            <a:spAutoFit/>
          </a:bodyPr>
          <a:lstStyle/>
          <a:p>
            <a:pPr algn="ctr"/>
            <a:r>
              <a:rPr sz="1200" b="1">
                <a:solidFill>
                  <a:srgbClr val="FFFFFF"/>
                </a:solidFill>
                <a:latin typeface="Noto Sans"/>
              </a:rPr>
              <a:t>Leads  1200</a:t>
            </a:r>
          </a:p>
        </p:txBody>
      </p:sp>
      <p:sp>
        <p:nvSpPr>
          <p:cNvPr id="7002" name="infographic-7002"/>
          <p:cNvSpPr/>
          <p:nvPr/>
        </p:nvSpPr>
        <p:spPr>
          <a:xfrm>
            <a:off x="2458919" y="2570607"/>
            <a:ext cx="7273855" cy="1107567"/>
          </a:xfrm>
          <a:custGeom>
            <a:avLst/>
            <a:gdLst/>
            <a:ahLst/>
            <a:rect l="0" t="0" r="7273855" b="1107567"/>
            <a:pathLst>
              <a:path w="7273855" h="1107567">
                <a:moveTo>
                  <a:pt x="0" y="0"/>
                </a:moveTo>
                <a:lnTo>
                  <a:pt x="7273855" y="0"/>
                </a:lnTo>
                <a:lnTo>
                  <a:pt x="6512637" y="1107567"/>
                </a:lnTo>
                <a:lnTo>
                  <a:pt x="761217" y="1107567"/>
                </a:lnTo>
                <a:close/>
              </a:path>
            </a:pathLst>
          </a:custGeom>
          <a:solidFill>
            <a:srgbClr val="1B2A63"/>
          </a:solidFill>
          <a:ln>
            <a:noFill/>
          </a:ln>
        </p:spPr>
        <p:txBody>
          <a:bodyPr/>
          <a:lstStyle/>
          <a:p/>
        </p:txBody>
      </p:sp>
      <p:sp>
        <p:nvSpPr>
          <p:cNvPr id="7003" name="TextBox 7002"/>
          <p:cNvSpPr txBox="1"/>
          <p:nvPr/>
        </p:nvSpPr>
        <p:spPr>
          <a:xfrm>
            <a:off x="2458919" y="2570607"/>
            <a:ext cx="7273855" cy="1107567"/>
          </a:xfrm>
          <a:prstGeom prst="rect">
            <a:avLst/>
          </a:prstGeom>
          <a:noFill/>
        </p:spPr>
        <p:txBody>
          <a:bodyPr wrap="square" anchor="ctr" lIns="0" rIns="0" tIns="0" bIns="0">
            <a:spAutoFit/>
          </a:bodyPr>
          <a:lstStyle/>
          <a:p>
            <a:pPr algn="ctr"/>
            <a:r>
              <a:rPr sz="1200" b="1">
                <a:solidFill>
                  <a:srgbClr val="FFFFFF"/>
                </a:solidFill>
                <a:latin typeface="Noto Sans"/>
              </a:rPr>
              <a:t>Qualified  420</a:t>
            </a:r>
          </a:p>
        </p:txBody>
      </p:sp>
      <p:sp>
        <p:nvSpPr>
          <p:cNvPr id="7003" name="infographic-7003"/>
          <p:cNvSpPr/>
          <p:nvPr/>
        </p:nvSpPr>
        <p:spPr>
          <a:xfrm>
            <a:off x="3220137" y="3733038"/>
            <a:ext cx="5751420" cy="1107567"/>
          </a:xfrm>
          <a:custGeom>
            <a:avLst/>
            <a:gdLst/>
            <a:ahLst/>
            <a:rect l="0" t="0" r="5751420" b="1107567"/>
            <a:pathLst>
              <a:path w="5751420" h="1107567">
                <a:moveTo>
                  <a:pt x="0" y="0"/>
                </a:moveTo>
                <a:lnTo>
                  <a:pt x="5751420" y="0"/>
                </a:lnTo>
                <a:lnTo>
                  <a:pt x="4990203" y="1107567"/>
                </a:lnTo>
                <a:lnTo>
                  <a:pt x="761217" y="1107567"/>
                </a:lnTo>
                <a:close/>
              </a:path>
            </a:pathLst>
          </a:custGeom>
          <a:solidFill>
            <a:srgbClr val="3A4E86"/>
          </a:solidFill>
          <a:ln>
            <a:noFill/>
          </a:ln>
        </p:spPr>
        <p:txBody>
          <a:bodyPr/>
          <a:lstStyle/>
          <a:p/>
        </p:txBody>
      </p:sp>
      <p:sp>
        <p:nvSpPr>
          <p:cNvPr id="7004" name="TextBox 7003"/>
          <p:cNvSpPr txBox="1"/>
          <p:nvPr/>
        </p:nvSpPr>
        <p:spPr>
          <a:xfrm>
            <a:off x="3220137" y="3733038"/>
            <a:ext cx="5751420" cy="1107567"/>
          </a:xfrm>
          <a:prstGeom prst="rect">
            <a:avLst/>
          </a:prstGeom>
          <a:noFill/>
        </p:spPr>
        <p:txBody>
          <a:bodyPr wrap="square" anchor="ctr" lIns="0" rIns="0" tIns="0" bIns="0">
            <a:spAutoFit/>
          </a:bodyPr>
          <a:lstStyle/>
          <a:p>
            <a:pPr algn="ctr"/>
            <a:r>
              <a:rPr sz="1200" b="1">
                <a:solidFill>
                  <a:srgbClr val="FFFFFF"/>
                </a:solidFill>
                <a:latin typeface="Noto Sans"/>
              </a:rPr>
              <a:t>Proposals  180</a:t>
            </a:r>
          </a:p>
        </p:txBody>
      </p:sp>
      <p:sp>
        <p:nvSpPr>
          <p:cNvPr id="7004" name="infographic-7004"/>
          <p:cNvSpPr/>
          <p:nvPr/>
        </p:nvSpPr>
        <p:spPr>
          <a:xfrm>
            <a:off x="3981354" y="4895469"/>
            <a:ext cx="4228985" cy="1107567"/>
          </a:xfrm>
          <a:custGeom>
            <a:avLst/>
            <a:gdLst/>
            <a:ahLst/>
            <a:rect l="0" t="0" r="4228985" b="1107567"/>
            <a:pathLst>
              <a:path w="4228985" h="1107567">
                <a:moveTo>
                  <a:pt x="0" y="0"/>
                </a:moveTo>
                <a:lnTo>
                  <a:pt x="4228985" y="0"/>
                </a:lnTo>
                <a:lnTo>
                  <a:pt x="3467768" y="1107567"/>
                </a:lnTo>
                <a:lnTo>
                  <a:pt x="761217" y="1107567"/>
                </a:lnTo>
                <a:close/>
              </a:path>
            </a:pathLst>
          </a:custGeom>
          <a:solidFill>
            <a:srgbClr val="5B73A8"/>
          </a:solidFill>
          <a:ln>
            <a:noFill/>
          </a:ln>
        </p:spPr>
        <p:txBody>
          <a:bodyPr/>
          <a:lstStyle/>
          <a:p/>
        </p:txBody>
      </p:sp>
      <p:sp>
        <p:nvSpPr>
          <p:cNvPr id="7005" name="TextBox 7004"/>
          <p:cNvSpPr txBox="1"/>
          <p:nvPr/>
        </p:nvSpPr>
        <p:spPr>
          <a:xfrm>
            <a:off x="3981354" y="4895469"/>
            <a:ext cx="4228985" cy="1107567"/>
          </a:xfrm>
          <a:prstGeom prst="rect">
            <a:avLst/>
          </a:prstGeom>
          <a:noFill/>
        </p:spPr>
        <p:txBody>
          <a:bodyPr wrap="square" anchor="ctr" lIns="0" rIns="0" tIns="0" bIns="0">
            <a:spAutoFit/>
          </a:bodyPr>
          <a:lstStyle/>
          <a:p>
            <a:pPr algn="ctr"/>
            <a:r>
              <a:rPr sz="1200" b="1">
                <a:solidFill>
                  <a:srgbClr val="FFFFFF"/>
                </a:solidFill>
                <a:latin typeface="Noto Sans"/>
              </a:rPr>
              <a:t>Won  66</a:t>
            </a:r>
          </a:p>
        </p:txBody>
      </p:sp>
      <p:sp>
        <p:nvSpPr>
          <p:cNvPr id="7006" name="Footnote"/>
          <p:cNvSpPr txBox="1"/>
          <p:nvPr/>
        </p:nvSpPr>
        <p:spPr>
          <a:xfrm>
            <a:off x="457200" y="6185916"/>
            <a:ext cx="11277295" cy="123444"/>
          </a:xfrm>
          <a:prstGeom prst="rect">
            <a:avLst/>
          </a:prstGeom>
          <a:noFill/>
        </p:spPr>
        <p:txBody>
          <a:bodyPr lIns="0" tIns="0" rIns="0" bIns="0" rtlCol="0" anchor="b">
            <a:spAutoFit/>
          </a:bodyPr>
          <a:lstStyle/>
          <a:p>
            <a:pPr algn="l"/>
            <a:r>
              <a:rPr sz="800">
                <a:solidFill>
                  <a:schemeClr val="tx1"/>
                </a:solidFill>
                <a:ea typeface="+mn-lt"/>
                <a:cs typeface="+mn-lt"/>
              </a:rPr>
              <a:t>Source: CRM export, H1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wrap="square"/>
          <a:lstStyle/>
          <a:p>
            <a:pPr marL="0" indent="0">
              <a:buNone/>
            </a:pPr>
            <a:r>
              <a:t>Diagrams</a:t>
            </a:r>
          </a:p>
        </p:txBody>
      </p:sp>
      <p:sp>
        <p:nvSpPr>
          <p:cNvPr id="3" name="Text Placeholder 2"/>
          <p:cNvSpPr>
            <a:spLocks noGrp="1"/>
          </p:cNvSpPr>
          <p:nvPr>
            <p:ph type="body" idx="12" sz="quarter"/>
          </p:nvPr>
        </p:nvSpPr>
        <p:spPr/>
        <p:txBody>
          <a:bodyPr wrap="square"/>
          <a:lstStyle/>
          <a:p>
            <a:pPr marL="0" indent="0">
              <a:buNone/>
            </a:pPr>
            <a:r>
              <a:t>04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Six milestones take the program to full run rate</a:t>
            </a:r>
          </a:p>
        </p:txBody>
      </p:sp>
      <p:cxnSp>
        <p:nvCxnSpPr>
          <p:cNvPr id="3" name="Connector 2"/>
          <p:cNvCxnSpPr/>
          <p:nvPr/>
        </p:nvCxnSpPr>
        <p:spPr>
          <a:xfrm>
            <a:off x="457200" y="3721608"/>
            <a:ext cx="11277295" cy="1"/>
          </a:xfrm>
          <a:prstGeom prst="line">
            <a:avLst/>
          </a:prstGeom>
          <a:ln w="9525">
            <a:solidFill>
              <a:srgbClr val="000F47"/>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323822" y="3648456"/>
            <a:ext cx="146304" cy="146304"/>
          </a:xfrm>
          <a:prstGeom prst="ellipse">
            <a:avLst/>
          </a:prstGeom>
          <a:solidFill>
            <a:srgbClr val="000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1396974" y="3520439"/>
            <a:ext cx="1" cy="201169"/>
          </a:xfrm>
          <a:prstGeom prst="line">
            <a:avLst/>
          </a:prstGeom>
          <a:ln w="9525">
            <a:solidFill>
              <a:srgbClr val="7B797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2381" y="1499616"/>
            <a:ext cx="1729185" cy="2020823"/>
          </a:xfrm>
          <a:prstGeom prst="rect">
            <a:avLst/>
          </a:prstGeom>
          <a:noFill/>
        </p:spPr>
        <p:txBody>
          <a:bodyPr wrap="square" anchor="b">
            <a:spAutoFit/>
          </a:bodyPr>
          <a:lstStyle/>
          <a:p>
            <a:pPr algn="l"/>
            <a:r>
              <a:rPr sz="1200" b="1">
                <a:solidFill>
                  <a:schemeClr val="tx1"/>
                </a:solidFill>
                <a:latin typeface="+mn-lt"/>
                <a:ea typeface="+mn-lt"/>
                <a:cs typeface="+mn-lt"/>
              </a:rPr>
              <a:t>Q3 26</a:t>
            </a:r>
          </a:p>
          <a:p>
            <a:pPr algn="l">
              <a:spcBef>
                <a:spcPts val="300"/>
              </a:spcBef>
            </a:pPr>
            <a:r>
              <a:rPr sz="1200" b="0">
                <a:solidFill>
                  <a:schemeClr val="tx1"/>
                </a:solidFill>
                <a:latin typeface="+mn-lt"/>
                <a:ea typeface="+mn-lt"/>
                <a:cs typeface="+mn-lt"/>
              </a:rPr>
              <a:t>Contracts signed</a:t>
            </a:r>
          </a:p>
          <a:p>
            <a:pPr algn="l">
              <a:spcBef>
                <a:spcPts val="200"/>
              </a:spcBef>
            </a:pPr>
            <a:r>
              <a:rPr sz="1200" b="0">
                <a:solidFill>
                  <a:schemeClr val="tx1"/>
                </a:solidFill>
                <a:latin typeface="+mn-lt"/>
                <a:ea typeface="+mn-lt"/>
                <a:cs typeface="+mn-lt"/>
              </a:rPr>
              <a:t>Both framework agreements executed</a:t>
            </a:r>
          </a:p>
        </p:txBody>
      </p:sp>
      <p:sp>
        <p:nvSpPr>
          <p:cNvPr id="7" name="Oval 6"/>
          <p:cNvSpPr/>
          <p:nvPr/>
        </p:nvSpPr>
        <p:spPr>
          <a:xfrm>
            <a:off x="3203371" y="3648456"/>
            <a:ext cx="146304" cy="146304"/>
          </a:xfrm>
          <a:prstGeom prst="ellipse">
            <a:avLst/>
          </a:prstGeom>
          <a:solidFill>
            <a:srgbClr val="000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3276523" y="3721608"/>
            <a:ext cx="1" cy="201168"/>
          </a:xfrm>
          <a:prstGeom prst="line">
            <a:avLst/>
          </a:prstGeom>
          <a:ln w="9525">
            <a:solidFill>
              <a:srgbClr val="7B797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411931" y="3922776"/>
            <a:ext cx="1729185" cy="2020823"/>
          </a:xfrm>
          <a:prstGeom prst="rect">
            <a:avLst/>
          </a:prstGeom>
          <a:noFill/>
        </p:spPr>
        <p:txBody>
          <a:bodyPr wrap="square" anchor="t">
            <a:spAutoFit/>
          </a:bodyPr>
          <a:lstStyle/>
          <a:p>
            <a:pPr algn="l"/>
            <a:r>
              <a:rPr sz="1200" b="1">
                <a:solidFill>
                  <a:schemeClr val="tx1"/>
                </a:solidFill>
                <a:latin typeface="+mn-lt"/>
                <a:ea typeface="+mn-lt"/>
                <a:cs typeface="+mn-lt"/>
              </a:rPr>
              <a:t>Q4 26</a:t>
            </a:r>
          </a:p>
          <a:p>
            <a:pPr algn="l">
              <a:spcBef>
                <a:spcPts val="300"/>
              </a:spcBef>
            </a:pPr>
            <a:r>
              <a:rPr sz="1200" b="0">
                <a:solidFill>
                  <a:schemeClr val="tx1"/>
                </a:solidFill>
                <a:latin typeface="+mn-lt"/>
                <a:ea typeface="+mn-lt"/>
                <a:cs typeface="+mn-lt"/>
              </a:rPr>
              <a:t>Wave 1 live</a:t>
            </a:r>
          </a:p>
          <a:p>
            <a:pPr algn="l">
              <a:spcBef>
                <a:spcPts val="200"/>
              </a:spcBef>
            </a:pPr>
            <a:r>
              <a:rPr sz="1200" b="0">
                <a:solidFill>
                  <a:schemeClr val="tx1"/>
                </a:solidFill>
                <a:latin typeface="+mn-lt"/>
                <a:ea typeface="+mn-lt"/>
                <a:cs typeface="+mn-lt"/>
              </a:rPr>
              <a:t>Two plants migrated</a:t>
            </a:r>
          </a:p>
        </p:txBody>
      </p:sp>
      <p:sp>
        <p:nvSpPr>
          <p:cNvPr id="10" name="Oval 9"/>
          <p:cNvSpPr/>
          <p:nvPr/>
        </p:nvSpPr>
        <p:spPr>
          <a:xfrm>
            <a:off x="5082921" y="3648456"/>
            <a:ext cx="146304" cy="146304"/>
          </a:xfrm>
          <a:prstGeom prst="ellipse">
            <a:avLst/>
          </a:prstGeom>
          <a:solidFill>
            <a:srgbClr val="000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156073" y="3520439"/>
            <a:ext cx="1" cy="201169"/>
          </a:xfrm>
          <a:prstGeom prst="line">
            <a:avLst/>
          </a:prstGeom>
          <a:ln w="9525">
            <a:solidFill>
              <a:srgbClr val="7B797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291480" y="1499616"/>
            <a:ext cx="1729185" cy="2020823"/>
          </a:xfrm>
          <a:prstGeom prst="rect">
            <a:avLst/>
          </a:prstGeom>
          <a:noFill/>
        </p:spPr>
        <p:txBody>
          <a:bodyPr wrap="square" anchor="b">
            <a:spAutoFit/>
          </a:bodyPr>
          <a:lstStyle/>
          <a:p>
            <a:pPr algn="l"/>
            <a:r>
              <a:rPr sz="1200" b="1">
                <a:solidFill>
                  <a:schemeClr val="tx1"/>
                </a:solidFill>
                <a:latin typeface="+mn-lt"/>
                <a:ea typeface="+mn-lt"/>
                <a:cs typeface="+mn-lt"/>
              </a:rPr>
              <a:t>Q1 27</a:t>
            </a:r>
          </a:p>
          <a:p>
            <a:pPr algn="l">
              <a:spcBef>
                <a:spcPts val="300"/>
              </a:spcBef>
            </a:pPr>
            <a:r>
              <a:rPr sz="1200" b="0">
                <a:solidFill>
                  <a:schemeClr val="tx1"/>
                </a:solidFill>
                <a:latin typeface="+mn-lt"/>
                <a:ea typeface="+mn-lt"/>
                <a:cs typeface="+mn-lt"/>
              </a:rPr>
              <a:t>Wave 2 live</a:t>
            </a:r>
          </a:p>
          <a:p>
            <a:pPr algn="l">
              <a:spcBef>
                <a:spcPts val="200"/>
              </a:spcBef>
            </a:pPr>
            <a:r>
              <a:rPr sz="1200" b="0">
                <a:solidFill>
                  <a:schemeClr val="tx1"/>
                </a:solidFill>
                <a:latin typeface="+mn-lt"/>
                <a:ea typeface="+mn-lt"/>
                <a:cs typeface="+mn-lt"/>
              </a:rPr>
              <a:t>Remaining plants migrated</a:t>
            </a:r>
          </a:p>
        </p:txBody>
      </p:sp>
      <p:sp>
        <p:nvSpPr>
          <p:cNvPr id="13" name="Oval 12"/>
          <p:cNvSpPr/>
          <p:nvPr/>
        </p:nvSpPr>
        <p:spPr>
          <a:xfrm>
            <a:off x="6962470" y="3648456"/>
            <a:ext cx="146304" cy="146304"/>
          </a:xfrm>
          <a:prstGeom prst="ellipse">
            <a:avLst/>
          </a:prstGeom>
          <a:solidFill>
            <a:srgbClr val="000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7035622" y="3721608"/>
            <a:ext cx="1" cy="201168"/>
          </a:xfrm>
          <a:prstGeom prst="line">
            <a:avLst/>
          </a:prstGeom>
          <a:ln w="9525">
            <a:solidFill>
              <a:srgbClr val="7B797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171029" y="3922776"/>
            <a:ext cx="1729185" cy="2020823"/>
          </a:xfrm>
          <a:prstGeom prst="rect">
            <a:avLst/>
          </a:prstGeom>
          <a:noFill/>
        </p:spPr>
        <p:txBody>
          <a:bodyPr wrap="square" anchor="t">
            <a:spAutoFit/>
          </a:bodyPr>
          <a:lstStyle/>
          <a:p>
            <a:pPr algn="l"/>
            <a:r>
              <a:rPr sz="1200" b="1">
                <a:solidFill>
                  <a:schemeClr val="tx1"/>
                </a:solidFill>
                <a:latin typeface="+mn-lt"/>
                <a:ea typeface="+mn-lt"/>
                <a:cs typeface="+mn-lt"/>
              </a:rPr>
              <a:t>Q2 27</a:t>
            </a:r>
          </a:p>
          <a:p>
            <a:pPr algn="l">
              <a:spcBef>
                <a:spcPts val="300"/>
              </a:spcBef>
            </a:pPr>
            <a:r>
              <a:rPr sz="1200" b="0">
                <a:solidFill>
                  <a:schemeClr val="tx1"/>
                </a:solidFill>
                <a:latin typeface="+mn-lt"/>
                <a:ea typeface="+mn-lt"/>
                <a:cs typeface="+mn-lt"/>
              </a:rPr>
              <a:t>Legacy exit</a:t>
            </a:r>
          </a:p>
          <a:p>
            <a:pPr algn="l">
              <a:spcBef>
                <a:spcPts val="200"/>
              </a:spcBef>
            </a:pPr>
            <a:r>
              <a:rPr sz="1200" b="0">
                <a:solidFill>
                  <a:schemeClr val="tx1"/>
                </a:solidFill>
                <a:latin typeface="+mn-lt"/>
                <a:ea typeface="+mn-lt"/>
                <a:cs typeface="+mn-lt"/>
              </a:rPr>
              <a:t>Old contracts terminated</a:t>
            </a:r>
          </a:p>
        </p:txBody>
      </p:sp>
      <p:sp>
        <p:nvSpPr>
          <p:cNvPr id="16" name="Oval 15"/>
          <p:cNvSpPr/>
          <p:nvPr/>
        </p:nvSpPr>
        <p:spPr>
          <a:xfrm>
            <a:off x="8842019" y="3648456"/>
            <a:ext cx="146304" cy="146304"/>
          </a:xfrm>
          <a:prstGeom prst="ellipse">
            <a:avLst/>
          </a:prstGeom>
          <a:solidFill>
            <a:srgbClr val="000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8915171" y="3520439"/>
            <a:ext cx="1" cy="201169"/>
          </a:xfrm>
          <a:prstGeom prst="line">
            <a:avLst/>
          </a:prstGeom>
          <a:ln w="9525">
            <a:solidFill>
              <a:srgbClr val="7B797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050578" y="1499616"/>
            <a:ext cx="1729185" cy="2020823"/>
          </a:xfrm>
          <a:prstGeom prst="rect">
            <a:avLst/>
          </a:prstGeom>
          <a:noFill/>
        </p:spPr>
        <p:txBody>
          <a:bodyPr wrap="square" anchor="b">
            <a:spAutoFit/>
          </a:bodyPr>
          <a:lstStyle/>
          <a:p>
            <a:pPr algn="l"/>
            <a:r>
              <a:rPr sz="1200" b="1">
                <a:solidFill>
                  <a:schemeClr val="tx1"/>
                </a:solidFill>
                <a:latin typeface="+mn-lt"/>
                <a:ea typeface="+mn-lt"/>
                <a:cs typeface="+mn-lt"/>
              </a:rPr>
              <a:t>Q3 27</a:t>
            </a:r>
          </a:p>
          <a:p>
            <a:pPr algn="l">
              <a:spcBef>
                <a:spcPts val="300"/>
              </a:spcBef>
            </a:pPr>
            <a:r>
              <a:rPr sz="1200" b="0">
                <a:solidFill>
                  <a:schemeClr val="tx1"/>
                </a:solidFill>
                <a:latin typeface="+mn-lt"/>
                <a:ea typeface="+mn-lt"/>
                <a:cs typeface="+mn-lt"/>
              </a:rPr>
              <a:t>Full run rate</a:t>
            </a:r>
          </a:p>
          <a:p>
            <a:pPr algn="l">
              <a:spcBef>
                <a:spcPts val="200"/>
              </a:spcBef>
            </a:pPr>
            <a:r>
              <a:rPr sz="1200" b="0">
                <a:solidFill>
                  <a:schemeClr val="tx1"/>
                </a:solidFill>
                <a:latin typeface="+mn-lt"/>
                <a:ea typeface="+mn-lt"/>
                <a:cs typeface="+mn-lt"/>
              </a:rPr>
              <a:t>$2.4m annualized savings</a:t>
            </a:r>
          </a:p>
        </p:txBody>
      </p:sp>
      <p:sp>
        <p:nvSpPr>
          <p:cNvPr id="19" name="Oval 18"/>
          <p:cNvSpPr/>
          <p:nvPr/>
        </p:nvSpPr>
        <p:spPr>
          <a:xfrm>
            <a:off x="10721568" y="3648456"/>
            <a:ext cx="146304" cy="146304"/>
          </a:xfrm>
          <a:prstGeom prst="ellipse">
            <a:avLst/>
          </a:prstGeom>
          <a:solidFill>
            <a:srgbClr val="000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0794720" y="3721608"/>
            <a:ext cx="1" cy="201168"/>
          </a:xfrm>
          <a:prstGeom prst="line">
            <a:avLst/>
          </a:prstGeom>
          <a:ln w="9525">
            <a:solidFill>
              <a:srgbClr val="7B7974"/>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930127" y="3922776"/>
            <a:ext cx="1729185" cy="2020823"/>
          </a:xfrm>
          <a:prstGeom prst="rect">
            <a:avLst/>
          </a:prstGeom>
          <a:noFill/>
        </p:spPr>
        <p:txBody>
          <a:bodyPr wrap="square" anchor="t">
            <a:spAutoFit/>
          </a:bodyPr>
          <a:lstStyle/>
          <a:p>
            <a:pPr algn="l"/>
            <a:r>
              <a:rPr sz="1200" b="1">
                <a:solidFill>
                  <a:schemeClr val="tx1"/>
                </a:solidFill>
                <a:latin typeface="+mn-lt"/>
                <a:ea typeface="+mn-lt"/>
                <a:cs typeface="+mn-lt"/>
              </a:rPr>
              <a:t>Q4 27</a:t>
            </a:r>
          </a:p>
          <a:p>
            <a:pPr algn="l">
              <a:spcBef>
                <a:spcPts val="300"/>
              </a:spcBef>
            </a:pPr>
            <a:r>
              <a:rPr sz="1200" b="0">
                <a:solidFill>
                  <a:schemeClr val="tx1"/>
                </a:solidFill>
                <a:latin typeface="+mn-lt"/>
                <a:ea typeface="+mn-lt"/>
                <a:cs typeface="+mn-lt"/>
              </a:rPr>
              <a:t>Review</a:t>
            </a:r>
          </a:p>
          <a:p>
            <a:pPr algn="l">
              <a:spcBef>
                <a:spcPts val="200"/>
              </a:spcBef>
            </a:pPr>
            <a:r>
              <a:rPr sz="1200" b="0">
                <a:solidFill>
                  <a:schemeClr val="tx1"/>
                </a:solidFill>
                <a:latin typeface="+mn-lt"/>
                <a:ea typeface="+mn-lt"/>
                <a:cs typeface="+mn-lt"/>
              </a:rPr>
              <a:t>Renegotiation checkpoint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Four gates move each wave from plan to done</a:t>
            </a:r>
          </a:p>
        </p:txBody>
      </p:sp>
      <p:sp>
        <p:nvSpPr>
          <p:cNvPr id="3" name="Pentagon 2"/>
          <p:cNvSpPr/>
          <p:nvPr/>
        </p:nvSpPr>
        <p:spPr>
          <a:xfrm>
            <a:off x="457200" y="1408176"/>
            <a:ext cx="2922193" cy="914400"/>
          </a:xfrm>
          <a:prstGeom prst="homePlate">
            <a:avLst>
              <a:gd name="adj" fmla="val 40000"/>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Prepare</a:t>
            </a:r>
          </a:p>
        </p:txBody>
      </p:sp>
      <p:sp>
        <p:nvSpPr>
          <p:cNvPr id="4" name="TextBox 3"/>
          <p:cNvSpPr txBox="1"/>
          <p:nvPr/>
        </p:nvSpPr>
        <p:spPr>
          <a:xfrm>
            <a:off x="457200" y="2551176"/>
            <a:ext cx="2556433" cy="3483863"/>
          </a:xfrm>
          <a:prstGeom prst="rect">
            <a:avLst/>
          </a:prstGeom>
          <a:noFill/>
        </p:spPr>
        <p:txBody>
          <a:bodyPr wrap="square" tIns="0" bIns="0" lIns="0" rIns="0">
            <a:spAutoFit/>
          </a:bodyPr>
          <a:lstStyle/>
          <a:p>
            <a:pPr>
              <a:spcAft>
                <a:spcPts val="800"/>
              </a:spcAft>
              <a:buNone/>
            </a:pPr>
            <a:r>
              <a:rPr sz="1200" b="1">
                <a:solidFill>
                  <a:schemeClr val="tx1"/>
                </a:solidFill>
                <a:latin typeface="+mn-lt"/>
                <a:ea typeface="+mn-lt"/>
                <a:cs typeface="+mn-lt"/>
              </a:rPr>
              <a:t>Prepare</a:t>
            </a:r>
          </a:p>
          <a:p>
            <a:pPr marL="180136" indent="-180136">
              <a:spcAft>
                <a:spcPts val="400"/>
              </a:spcAft>
              <a:buFont typeface="Arial"/>
              <a:buChar char="•"/>
            </a:pPr>
            <a:r>
              <a:rPr sz="1200" b="0">
                <a:solidFill>
                  <a:schemeClr val="tx1"/>
                </a:solidFill>
                <a:latin typeface="+mn-lt"/>
                <a:ea typeface="+mn-lt"/>
                <a:cs typeface="+mn-lt"/>
              </a:rPr>
              <a:t>Baseline volumes</a:t>
            </a:r>
          </a:p>
          <a:p>
            <a:pPr marL="180136" indent="-180136">
              <a:spcAft>
                <a:spcPts val="400"/>
              </a:spcAft>
              <a:buFont typeface="Arial"/>
              <a:buChar char="•"/>
            </a:pPr>
            <a:r>
              <a:rPr sz="1200" b="0">
                <a:solidFill>
                  <a:schemeClr val="tx1"/>
                </a:solidFill>
                <a:latin typeface="+mn-lt"/>
                <a:ea typeface="+mn-lt"/>
                <a:cs typeface="+mn-lt"/>
              </a:rPr>
              <a:t>Agree wave scope</a:t>
            </a:r>
          </a:p>
        </p:txBody>
      </p:sp>
      <p:sp>
        <p:nvSpPr>
          <p:cNvPr id="5" name="Chevron 4"/>
          <p:cNvSpPr/>
          <p:nvPr/>
        </p:nvSpPr>
        <p:spPr>
          <a:xfrm>
            <a:off x="3242233" y="1408176"/>
            <a:ext cx="2922193" cy="914400"/>
          </a:xfrm>
          <a:prstGeom prst="chevron">
            <a:avLst>
              <a:gd name="adj" fmla="val 40000"/>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Pilot</a:t>
            </a:r>
          </a:p>
        </p:txBody>
      </p:sp>
      <p:sp>
        <p:nvSpPr>
          <p:cNvPr id="6" name="TextBox 5"/>
          <p:cNvSpPr txBox="1"/>
          <p:nvPr/>
        </p:nvSpPr>
        <p:spPr>
          <a:xfrm>
            <a:off x="3242233" y="2551176"/>
            <a:ext cx="2556433" cy="3483863"/>
          </a:xfrm>
          <a:prstGeom prst="rect">
            <a:avLst/>
          </a:prstGeom>
          <a:noFill/>
        </p:spPr>
        <p:txBody>
          <a:bodyPr wrap="square" tIns="0" bIns="0" lIns="0" rIns="0">
            <a:spAutoFit/>
          </a:bodyPr>
          <a:lstStyle/>
          <a:p>
            <a:pPr>
              <a:spcAft>
                <a:spcPts val="800"/>
              </a:spcAft>
              <a:buNone/>
            </a:pPr>
            <a:r>
              <a:rPr sz="1200" b="1">
                <a:solidFill>
                  <a:schemeClr val="tx1"/>
                </a:solidFill>
                <a:latin typeface="+mn-lt"/>
                <a:ea typeface="+mn-lt"/>
                <a:cs typeface="+mn-lt"/>
              </a:rPr>
              <a:t>Pilot</a:t>
            </a:r>
          </a:p>
          <a:p>
            <a:pPr marL="180136" indent="-180136">
              <a:spcAft>
                <a:spcPts val="400"/>
              </a:spcAft>
              <a:buFont typeface="Arial"/>
              <a:buChar char="•"/>
            </a:pPr>
            <a:r>
              <a:rPr sz="1200" b="0">
                <a:solidFill>
                  <a:schemeClr val="tx1"/>
                </a:solidFill>
                <a:latin typeface="+mn-lt"/>
                <a:ea typeface="+mn-lt"/>
                <a:cs typeface="+mn-lt"/>
              </a:rPr>
              <a:t>Dual supply</a:t>
            </a:r>
          </a:p>
          <a:p>
            <a:pPr marL="180136" indent="-180136">
              <a:spcAft>
                <a:spcPts val="400"/>
              </a:spcAft>
              <a:buFont typeface="Arial"/>
              <a:buChar char="•"/>
            </a:pPr>
            <a:r>
              <a:rPr sz="1200" b="0">
                <a:solidFill>
                  <a:schemeClr val="tx1"/>
                </a:solidFill>
                <a:latin typeface="+mn-lt"/>
                <a:ea typeface="+mn-lt"/>
                <a:cs typeface="+mn-lt"/>
              </a:rPr>
              <a:t>Track defect rate</a:t>
            </a:r>
          </a:p>
        </p:txBody>
      </p:sp>
      <p:sp>
        <p:nvSpPr>
          <p:cNvPr id="7" name="Chevron 6"/>
          <p:cNvSpPr/>
          <p:nvPr/>
        </p:nvSpPr>
        <p:spPr>
          <a:xfrm>
            <a:off x="6027267" y="1408176"/>
            <a:ext cx="2922193" cy="914400"/>
          </a:xfrm>
          <a:prstGeom prst="chevron">
            <a:avLst>
              <a:gd name="adj" fmla="val 40000"/>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Switch</a:t>
            </a:r>
          </a:p>
        </p:txBody>
      </p:sp>
      <p:sp>
        <p:nvSpPr>
          <p:cNvPr id="8" name="TextBox 7"/>
          <p:cNvSpPr txBox="1"/>
          <p:nvPr/>
        </p:nvSpPr>
        <p:spPr>
          <a:xfrm>
            <a:off x="6027267" y="2551176"/>
            <a:ext cx="2556433" cy="3483863"/>
          </a:xfrm>
          <a:prstGeom prst="rect">
            <a:avLst/>
          </a:prstGeom>
          <a:noFill/>
        </p:spPr>
        <p:txBody>
          <a:bodyPr wrap="square" tIns="0" bIns="0" lIns="0" rIns="0">
            <a:spAutoFit/>
          </a:bodyPr>
          <a:lstStyle/>
          <a:p>
            <a:pPr>
              <a:spcAft>
                <a:spcPts val="800"/>
              </a:spcAft>
              <a:buNone/>
            </a:pPr>
            <a:r>
              <a:rPr sz="1200" b="1">
                <a:solidFill>
                  <a:schemeClr val="tx1"/>
                </a:solidFill>
                <a:latin typeface="+mn-lt"/>
                <a:ea typeface="+mn-lt"/>
                <a:cs typeface="+mn-lt"/>
              </a:rPr>
              <a:t>Switch</a:t>
            </a:r>
          </a:p>
          <a:p>
            <a:pPr marL="180136" indent="-180136">
              <a:spcAft>
                <a:spcPts val="400"/>
              </a:spcAft>
              <a:buFont typeface="Arial"/>
              <a:buChar char="•"/>
            </a:pPr>
            <a:r>
              <a:rPr sz="1200" b="0">
                <a:solidFill>
                  <a:schemeClr val="tx1"/>
                </a:solidFill>
                <a:latin typeface="+mn-lt"/>
                <a:ea typeface="+mn-lt"/>
                <a:cs typeface="+mn-lt"/>
              </a:rPr>
              <a:t>Cut over orders</a:t>
            </a:r>
          </a:p>
          <a:p>
            <a:pPr marL="180136" indent="-180136">
              <a:spcAft>
                <a:spcPts val="400"/>
              </a:spcAft>
              <a:buFont typeface="Arial"/>
              <a:buChar char="•"/>
            </a:pPr>
            <a:r>
              <a:rPr sz="1200" b="0">
                <a:solidFill>
                  <a:schemeClr val="tx1"/>
                </a:solidFill>
                <a:latin typeface="+mn-lt"/>
                <a:ea typeface="+mn-lt"/>
                <a:cs typeface="+mn-lt"/>
              </a:rPr>
              <a:t>Monitor daily</a:t>
            </a:r>
          </a:p>
        </p:txBody>
      </p:sp>
      <p:sp>
        <p:nvSpPr>
          <p:cNvPr id="9" name="Chevron 8"/>
          <p:cNvSpPr/>
          <p:nvPr/>
        </p:nvSpPr>
        <p:spPr>
          <a:xfrm>
            <a:off x="8812301" y="1408176"/>
            <a:ext cx="2922193" cy="914400"/>
          </a:xfrm>
          <a:prstGeom prst="chevron">
            <a:avLst>
              <a:gd name="adj" fmla="val 40000"/>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Close</a:t>
            </a:r>
          </a:p>
        </p:txBody>
      </p:sp>
      <p:sp>
        <p:nvSpPr>
          <p:cNvPr id="10" name="TextBox 9"/>
          <p:cNvSpPr txBox="1"/>
          <p:nvPr/>
        </p:nvSpPr>
        <p:spPr>
          <a:xfrm>
            <a:off x="8812301" y="2551176"/>
            <a:ext cx="2556433" cy="3483863"/>
          </a:xfrm>
          <a:prstGeom prst="rect">
            <a:avLst/>
          </a:prstGeom>
          <a:noFill/>
        </p:spPr>
        <p:txBody>
          <a:bodyPr wrap="square" tIns="0" bIns="0" lIns="0" rIns="0">
            <a:spAutoFit/>
          </a:bodyPr>
          <a:lstStyle/>
          <a:p>
            <a:pPr>
              <a:spcAft>
                <a:spcPts val="800"/>
              </a:spcAft>
              <a:buNone/>
            </a:pPr>
            <a:r>
              <a:rPr sz="1200" b="1">
                <a:solidFill>
                  <a:schemeClr val="tx1"/>
                </a:solidFill>
                <a:latin typeface="+mn-lt"/>
                <a:ea typeface="+mn-lt"/>
                <a:cs typeface="+mn-lt"/>
              </a:rPr>
              <a:t>Close</a:t>
            </a:r>
          </a:p>
          <a:p>
            <a:pPr marL="180136" indent="-180136">
              <a:spcAft>
                <a:spcPts val="400"/>
              </a:spcAft>
              <a:buFont typeface="Arial"/>
              <a:buChar char="•"/>
            </a:pPr>
            <a:r>
              <a:rPr sz="1200" b="0">
                <a:solidFill>
                  <a:schemeClr val="tx1"/>
                </a:solidFill>
                <a:latin typeface="+mn-lt"/>
                <a:ea typeface="+mn-lt"/>
                <a:cs typeface="+mn-lt"/>
              </a:rPr>
              <a:t>Confirm savings</a:t>
            </a:r>
          </a:p>
          <a:p>
            <a:pPr marL="180136" indent="-180136">
              <a:spcAft>
                <a:spcPts val="400"/>
              </a:spcAft>
              <a:buFont typeface="Arial"/>
              <a:buChar char="•"/>
            </a:pPr>
            <a:r>
              <a:rPr sz="1200" b="0">
                <a:solidFill>
                  <a:schemeClr val="tx1"/>
                </a:solidFill>
                <a:latin typeface="+mn-lt"/>
                <a:ea typeface="+mn-lt"/>
                <a:cs typeface="+mn-lt"/>
              </a:rPr>
              <a:t>Sign gate review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Maturity climbs from ad hoc to managed in five steps</a:t>
            </a:r>
          </a:p>
        </p:txBody>
      </p:sp>
      <p:sp>
        <p:nvSpPr>
          <p:cNvPr id="3" name="Rectangle 2"/>
          <p:cNvSpPr/>
          <p:nvPr/>
        </p:nvSpPr>
        <p:spPr>
          <a:xfrm>
            <a:off x="908291" y="4517867"/>
            <a:ext cx="1892142" cy="1334292"/>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t" wrap="square" tIns="137160" bIns="137160" lIns="137160" rIns="137160"/>
          <a:lstStyle/>
          <a:p>
            <a:pPr algn="l"/>
            <a:r>
              <a:rPr b="1" sz="1200">
                <a:solidFill>
                  <a:schemeClr val="tx1"/>
                </a:solidFill>
              </a:rPr>
              <a:t/>
            </a:r>
          </a:p>
        </p:txBody>
      </p:sp>
      <p:sp>
        <p:nvSpPr>
          <p:cNvPr id="4" name="Rectangle 3"/>
          <p:cNvSpPr/>
          <p:nvPr/>
        </p:nvSpPr>
        <p:spPr>
          <a:xfrm>
            <a:off x="3029034" y="3809024"/>
            <a:ext cx="1892142" cy="2043135"/>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t" wrap="square" tIns="137160" bIns="137160" lIns="137160" rIns="137160"/>
          <a:lstStyle/>
          <a:p>
            <a:pPr algn="l"/>
            <a:r>
              <a:rPr b="1" sz="1200">
                <a:solidFill>
                  <a:schemeClr val="tx1"/>
                </a:solidFill>
              </a:rPr>
              <a:t/>
            </a:r>
          </a:p>
        </p:txBody>
      </p:sp>
      <p:sp>
        <p:nvSpPr>
          <p:cNvPr id="5" name="Rectangle 4"/>
          <p:cNvSpPr/>
          <p:nvPr/>
        </p:nvSpPr>
        <p:spPr>
          <a:xfrm>
            <a:off x="5149776" y="3100181"/>
            <a:ext cx="1892142" cy="2751978"/>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t" wrap="square" tIns="137160" bIns="137160" lIns="137160" rIns="137160"/>
          <a:lstStyle/>
          <a:p>
            <a:pPr algn="l"/>
            <a:r>
              <a:rPr b="1" sz="1200">
                <a:solidFill>
                  <a:schemeClr val="tx1"/>
                </a:solidFill>
              </a:rPr>
              <a:t/>
            </a:r>
          </a:p>
        </p:txBody>
      </p:sp>
      <p:sp>
        <p:nvSpPr>
          <p:cNvPr id="6" name="Rectangle 5"/>
          <p:cNvSpPr/>
          <p:nvPr/>
        </p:nvSpPr>
        <p:spPr>
          <a:xfrm>
            <a:off x="7270518" y="2391338"/>
            <a:ext cx="1892142" cy="3460821"/>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t" wrap="square" tIns="137160" bIns="137160" lIns="137160" rIns="137160"/>
          <a:lstStyle/>
          <a:p>
            <a:pPr algn="l"/>
            <a:r>
              <a:rPr b="1" sz="1200">
                <a:solidFill>
                  <a:schemeClr val="tx1"/>
                </a:solidFill>
              </a:rPr>
              <a:t/>
            </a:r>
          </a:p>
        </p:txBody>
      </p:sp>
      <p:sp>
        <p:nvSpPr>
          <p:cNvPr id="7" name="Rectangle 6"/>
          <p:cNvSpPr/>
          <p:nvPr/>
        </p:nvSpPr>
        <p:spPr>
          <a:xfrm>
            <a:off x="9391261" y="1682496"/>
            <a:ext cx="1892142" cy="4169663"/>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t" wrap="square" tIns="137160" bIns="137160" lIns="137160" rIns="137160"/>
          <a:lstStyle/>
          <a:p>
            <a:pPr algn="l"/>
            <a:r>
              <a:rPr b="1" sz="1200">
                <a:solidFill>
                  <a:schemeClr val="tx1"/>
                </a:solidFill>
              </a:rPr>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Three layers carry the target operating model</a:t>
            </a:r>
          </a:p>
        </p:txBody>
      </p:sp>
      <p:sp>
        <p:nvSpPr>
          <p:cNvPr id="3" name="Freeform 2"/>
          <p:cNvSpPr/>
          <p:nvPr/>
        </p:nvSpPr>
        <p:spPr>
          <a:xfrm>
            <a:off x="4517026" y="1591056"/>
            <a:ext cx="3157643" cy="1420368"/>
          </a:xfrm>
          <a:custGeom>
            <a:avLst/>
            <a:gdLst/>
            <a:ahLst/>
            <a:cxnLst/>
            <a:rect l="l" t="t" r="r" b="b"/>
            <a:pathLst>
              <a:path w="3157643" h="1420368">
                <a:moveTo>
                  <a:pt x="1578822" y="0"/>
                </a:moveTo>
                <a:lnTo>
                  <a:pt x="3157643" y="1420368"/>
                </a:lnTo>
                <a:lnTo>
                  <a:pt x="0" y="1420368"/>
                </a:lnTo>
                <a:close/>
              </a:path>
            </a:pathLst>
          </a:custGeom>
          <a:solidFill>
            <a:srgbClr val="F7F3EE"/>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Steer: </a:t>
            </a:r>
            <a:r>
              <a:rPr b="0" sz="1200">
                <a:solidFill>
                  <a:schemeClr val="tx1"/>
                </a:solidFill>
              </a:rPr>
              <a:t>one monthly decision forum</a:t>
            </a:r>
          </a:p>
        </p:txBody>
      </p:sp>
      <p:sp>
        <p:nvSpPr>
          <p:cNvPr id="4" name="Freeform 3"/>
          <p:cNvSpPr/>
          <p:nvPr/>
        </p:nvSpPr>
        <p:spPr>
          <a:xfrm>
            <a:off x="2938205" y="3011424"/>
            <a:ext cx="6315285" cy="1420368"/>
          </a:xfrm>
          <a:custGeom>
            <a:avLst/>
            <a:gdLst/>
            <a:ahLst/>
            <a:cxnLst/>
            <a:rect l="l" t="t" r="r" b="b"/>
            <a:pathLst>
              <a:path w="6315285" h="1420368">
                <a:moveTo>
                  <a:pt x="1578821" y="0"/>
                </a:moveTo>
                <a:lnTo>
                  <a:pt x="4736464" y="0"/>
                </a:lnTo>
                <a:lnTo>
                  <a:pt x="6315285" y="1420368"/>
                </a:lnTo>
                <a:lnTo>
                  <a:pt x="0" y="1420368"/>
                </a:lnTo>
                <a:close/>
              </a:path>
            </a:pathLst>
          </a:custGeom>
          <a:solidFill>
            <a:srgbClr val="F7F3EE"/>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Manage: </a:t>
            </a:r>
            <a:r>
              <a:rPr b="0" sz="1200">
                <a:solidFill>
                  <a:schemeClr val="tx1"/>
                </a:solidFill>
              </a:rPr>
              <a:t>category leads own supplier P&amp;L</a:t>
            </a:r>
          </a:p>
        </p:txBody>
      </p:sp>
      <p:sp>
        <p:nvSpPr>
          <p:cNvPr id="5" name="Freeform 4"/>
          <p:cNvSpPr/>
          <p:nvPr/>
        </p:nvSpPr>
        <p:spPr>
          <a:xfrm>
            <a:off x="1359384" y="4431792"/>
            <a:ext cx="9472928" cy="1420368"/>
          </a:xfrm>
          <a:custGeom>
            <a:avLst/>
            <a:gdLst/>
            <a:ahLst/>
            <a:cxnLst/>
            <a:rect l="l" t="t" r="r" b="b"/>
            <a:pathLst>
              <a:path w="9472928" h="1420368">
                <a:moveTo>
                  <a:pt x="1578821" y="0"/>
                </a:moveTo>
                <a:lnTo>
                  <a:pt x="7894106" y="0"/>
                </a:lnTo>
                <a:lnTo>
                  <a:pt x="9472928" y="1420368"/>
                </a:lnTo>
                <a:lnTo>
                  <a:pt x="0" y="1420368"/>
                </a:lnTo>
                <a:close/>
              </a:path>
            </a:pathLst>
          </a:custGeom>
          <a:solidFill>
            <a:srgbClr val="F7F3EE"/>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Operate: </a:t>
            </a:r>
            <a:r>
              <a:rPr b="0" sz="1200">
                <a:solidFill>
                  <a:schemeClr val="tx1"/>
                </a:solidFill>
              </a:rPr>
              <a:t>shared service handles transactions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The review loop repeats every quarter without exception</a:t>
            </a:r>
          </a:p>
        </p:txBody>
      </p:sp>
      <p:cxnSp>
        <p:nvCxnSpPr>
          <p:cNvPr id="3" name="Connector 2"/>
          <p:cNvCxnSpPr/>
          <p:nvPr/>
        </p:nvCxnSpPr>
        <p:spPr>
          <a:xfrm>
            <a:off x="6710097" y="2891105"/>
            <a:ext cx="216253" cy="216253"/>
          </a:xfrm>
          <a:prstGeom prst="line">
            <a:avLst/>
          </a:prstGeom>
          <a:ln w="9525">
            <a:solidFill>
              <a:srgbClr val="000F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6710097" y="4335857"/>
            <a:ext cx="216253" cy="216253"/>
          </a:xfrm>
          <a:prstGeom prst="line">
            <a:avLst/>
          </a:prstGeom>
          <a:ln w="9525">
            <a:solidFill>
              <a:srgbClr val="000F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5265345" y="4335857"/>
            <a:ext cx="216253" cy="216253"/>
          </a:xfrm>
          <a:prstGeom prst="line">
            <a:avLst/>
          </a:prstGeom>
          <a:ln w="9525">
            <a:solidFill>
              <a:srgbClr val="000F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5265345" y="2891105"/>
            <a:ext cx="216253" cy="216253"/>
          </a:xfrm>
          <a:prstGeom prst="line">
            <a:avLst/>
          </a:prstGeom>
          <a:ln w="9525">
            <a:solidFill>
              <a:srgbClr val="000F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227167" y="1408176"/>
            <a:ext cx="1737360" cy="1737360"/>
          </a:xfrm>
          <a:prstGeom prst="ellipse">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0" sz="1200">
                <a:solidFill>
                  <a:schemeClr val="tx1"/>
                </a:solidFill>
              </a:rPr>
              <a:t>Measure</a:t>
            </a:r>
          </a:p>
        </p:txBody>
      </p:sp>
      <p:sp>
        <p:nvSpPr>
          <p:cNvPr id="8" name="Oval 7"/>
          <p:cNvSpPr/>
          <p:nvPr/>
        </p:nvSpPr>
        <p:spPr>
          <a:xfrm>
            <a:off x="6671919" y="2852927"/>
            <a:ext cx="1737360" cy="1737360"/>
          </a:xfrm>
          <a:prstGeom prst="ellipse">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0" sz="1200">
                <a:solidFill>
                  <a:schemeClr val="tx1"/>
                </a:solidFill>
              </a:rPr>
              <a:t>Analyze</a:t>
            </a:r>
          </a:p>
        </p:txBody>
      </p:sp>
      <p:sp>
        <p:nvSpPr>
          <p:cNvPr id="9" name="Oval 8"/>
          <p:cNvSpPr/>
          <p:nvPr/>
        </p:nvSpPr>
        <p:spPr>
          <a:xfrm>
            <a:off x="5227167" y="4297679"/>
            <a:ext cx="1737360" cy="1737360"/>
          </a:xfrm>
          <a:prstGeom prst="ellipse">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0" sz="1200">
                <a:solidFill>
                  <a:schemeClr val="tx1"/>
                </a:solidFill>
              </a:rPr>
              <a:t>Decide</a:t>
            </a:r>
          </a:p>
        </p:txBody>
      </p:sp>
      <p:sp>
        <p:nvSpPr>
          <p:cNvPr id="10" name="Oval 9"/>
          <p:cNvSpPr/>
          <p:nvPr/>
        </p:nvSpPr>
        <p:spPr>
          <a:xfrm>
            <a:off x="3782415" y="2852927"/>
            <a:ext cx="1737360" cy="1737360"/>
          </a:xfrm>
          <a:prstGeom prst="ellipse">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0" sz="1200">
                <a:solidFill>
                  <a:schemeClr val="tx1"/>
                </a:solidFill>
              </a:rPr>
              <a:t>Execute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A lean program team reports to the COO</a:t>
            </a:r>
          </a:p>
        </p:txBody>
      </p:sp>
      <p:sp>
        <p:nvSpPr>
          <p:cNvPr id="3" name="Rectangle 2"/>
          <p:cNvSpPr/>
          <p:nvPr/>
        </p:nvSpPr>
        <p:spPr>
          <a:xfrm>
            <a:off x="4907127" y="1453896"/>
            <a:ext cx="2377440" cy="960120"/>
          </a:xfrm>
          <a:prstGeom prst="rect">
            <a:avLst/>
          </a:prstGeom>
          <a:solidFill>
            <a:srgbClr val="000F47"/>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rgbClr val="FFFFFF"/>
                </a:solidFill>
              </a:rPr>
              <a:t>COO</a:t>
            </a:r>
          </a:p>
        </p:txBody>
      </p:sp>
      <p:sp>
        <p:nvSpPr>
          <p:cNvPr id="4" name="Rectangle 3"/>
          <p:cNvSpPr/>
          <p:nvPr/>
        </p:nvSpPr>
        <p:spPr>
          <a:xfrm>
            <a:off x="678141" y="3767328"/>
            <a:ext cx="2377440" cy="96012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Program lead</a:t>
            </a:r>
          </a:p>
        </p:txBody>
      </p:sp>
      <p:sp>
        <p:nvSpPr>
          <p:cNvPr id="5" name="Rectangle 4"/>
          <p:cNvSpPr/>
          <p:nvPr/>
        </p:nvSpPr>
        <p:spPr>
          <a:xfrm>
            <a:off x="3497465" y="3767328"/>
            <a:ext cx="2377440" cy="96012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Category lead A</a:t>
            </a:r>
          </a:p>
        </p:txBody>
      </p:sp>
      <p:sp>
        <p:nvSpPr>
          <p:cNvPr id="6" name="Rectangle 5"/>
          <p:cNvSpPr/>
          <p:nvPr/>
        </p:nvSpPr>
        <p:spPr>
          <a:xfrm>
            <a:off x="6316789" y="3767328"/>
            <a:ext cx="2377440" cy="96012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Category lead B</a:t>
            </a:r>
          </a:p>
        </p:txBody>
      </p:sp>
      <p:sp>
        <p:nvSpPr>
          <p:cNvPr id="7" name="Rectangle 6"/>
          <p:cNvSpPr/>
          <p:nvPr/>
        </p:nvSpPr>
        <p:spPr>
          <a:xfrm>
            <a:off x="9136113" y="3767328"/>
            <a:ext cx="2377440" cy="96012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PMO</a:t>
            </a:r>
          </a:p>
        </p:txBody>
      </p:sp>
      <p:cxnSp>
        <p:nvCxnSpPr>
          <p:cNvPr id="8" name="Connector 7"/>
          <p:cNvCxnSpPr/>
          <p:nvPr/>
        </p:nvCxnSpPr>
        <p:spPr>
          <a:xfrm>
            <a:off x="6095847" y="2414016"/>
            <a:ext cx="1" cy="676656"/>
          </a:xfrm>
          <a:prstGeom prst="line">
            <a:avLst/>
          </a:prstGeom>
          <a:ln w="9525">
            <a:solidFill>
              <a:srgbClr val="7B797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866861" y="3090672"/>
            <a:ext cx="8457972" cy="1"/>
          </a:xfrm>
          <a:prstGeom prst="line">
            <a:avLst/>
          </a:prstGeom>
          <a:ln w="9525">
            <a:solidFill>
              <a:srgbClr val="7B797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866861" y="3090672"/>
            <a:ext cx="1" cy="676656"/>
          </a:xfrm>
          <a:prstGeom prst="line">
            <a:avLst/>
          </a:prstGeom>
          <a:ln w="9525">
            <a:solidFill>
              <a:srgbClr val="7B797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686185" y="3090672"/>
            <a:ext cx="1" cy="676656"/>
          </a:xfrm>
          <a:prstGeom prst="line">
            <a:avLst/>
          </a:prstGeom>
          <a:ln w="9525">
            <a:solidFill>
              <a:srgbClr val="7B797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505509" y="3090672"/>
            <a:ext cx="1" cy="676656"/>
          </a:xfrm>
          <a:prstGeom prst="line">
            <a:avLst/>
          </a:prstGeom>
          <a:ln w="9525">
            <a:solidFill>
              <a:srgbClr val="7B797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324833" y="3090672"/>
            <a:ext cx="1" cy="676656"/>
          </a:xfrm>
          <a:prstGeom prst="line">
            <a:avLst/>
          </a:prstGeom>
          <a:ln w="9525">
            <a:solidFill>
              <a:srgbClr val="7B7974"/>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Two moves sit in the high-impact low-effort corner</a:t>
            </a:r>
          </a:p>
        </p:txBody>
      </p:sp>
      <p:sp>
        <p:nvSpPr>
          <p:cNvPr id="3" name="Rectangle 2"/>
          <p:cNvSpPr/>
          <p:nvPr/>
        </p:nvSpPr>
        <p:spPr>
          <a:xfrm>
            <a:off x="1591037" y="1545336"/>
            <a:ext cx="4733409" cy="1970531"/>
          </a:xfrm>
          <a:prstGeom prst="rect">
            <a:avLst/>
          </a:prstGeom>
          <a:solidFill>
            <a:srgbClr val="CEE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591037" y="1545336"/>
            <a:ext cx="9466819" cy="3941063"/>
          </a:xfrm>
          <a:prstGeom prst="rect">
            <a:avLst/>
          </a:prstGeom>
          <a:noFill/>
          <a:ln w="9525">
            <a:solidFill>
              <a:srgbClr val="7B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324447" y="1545336"/>
            <a:ext cx="1" cy="3941063"/>
          </a:xfrm>
          <a:prstGeom prst="line">
            <a:avLst/>
          </a:prstGeom>
          <a:ln w="9525">
            <a:solidFill>
              <a:srgbClr val="7B797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591037" y="3515867"/>
            <a:ext cx="9466820" cy="1"/>
          </a:xfrm>
          <a:prstGeom prst="line">
            <a:avLst/>
          </a:prstGeom>
          <a:ln w="9525">
            <a:solidFill>
              <a:srgbClr val="7B797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591037" y="5541263"/>
            <a:ext cx="9466819" cy="292608"/>
          </a:xfrm>
          <a:prstGeom prst="rect">
            <a:avLst/>
          </a:prstGeom>
          <a:noFill/>
        </p:spPr>
        <p:txBody>
          <a:bodyPr wrap="square">
            <a:spAutoFit/>
          </a:bodyPr>
          <a:lstStyle/>
          <a:p>
            <a:pPr algn="l"/>
            <a:r>
              <a:rPr sz="1000" b="1">
                <a:solidFill>
                  <a:schemeClr val="tx1"/>
                </a:solidFill>
                <a:latin typeface="+mn-lt"/>
                <a:ea typeface="+mn-lt"/>
                <a:cs typeface="+mn-lt"/>
              </a:rPr>
              <a:t>Effort  →</a:t>
            </a:r>
          </a:p>
        </p:txBody>
      </p:sp>
      <p:sp>
        <p:nvSpPr>
          <p:cNvPr id="8" name="TextBox 7"/>
          <p:cNvSpPr txBox="1"/>
          <p:nvPr/>
        </p:nvSpPr>
        <p:spPr>
          <a:xfrm rot="16200000">
            <a:off x="-644670" y="3369563"/>
            <a:ext cx="3941063" cy="292608"/>
          </a:xfrm>
          <a:prstGeom prst="rect">
            <a:avLst/>
          </a:prstGeom>
          <a:noFill/>
        </p:spPr>
        <p:txBody>
          <a:bodyPr wrap="none">
            <a:spAutoFit/>
          </a:bodyPr>
          <a:lstStyle/>
          <a:p>
            <a:pPr algn="l"/>
            <a:r>
              <a:rPr sz="1000" b="1">
                <a:solidFill>
                  <a:schemeClr val="tx1"/>
                </a:solidFill>
                <a:latin typeface="+mn-lt"/>
                <a:ea typeface="+mn-lt"/>
                <a:cs typeface="+mn-lt"/>
              </a:rPr>
              <a:t>Impact  →</a:t>
            </a:r>
          </a:p>
        </p:txBody>
      </p:sp>
      <p:sp>
        <p:nvSpPr>
          <p:cNvPr id="9" name="Oval 8"/>
          <p:cNvSpPr/>
          <p:nvPr/>
        </p:nvSpPr>
        <p:spPr>
          <a:xfrm>
            <a:off x="3893734" y="2072487"/>
            <a:ext cx="128016" cy="128016"/>
          </a:xfrm>
          <a:prstGeom prst="ellipse">
            <a:avLst/>
          </a:prstGeom>
          <a:solidFill>
            <a:srgbClr val="000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47353" y="1990191"/>
            <a:ext cx="1554480" cy="457200"/>
          </a:xfrm>
          <a:prstGeom prst="rect">
            <a:avLst/>
          </a:prstGeom>
          <a:noFill/>
        </p:spPr>
        <p:txBody>
          <a:bodyPr wrap="square" tIns="0" bIns="0">
            <a:spAutoFit/>
          </a:bodyPr>
          <a:lstStyle/>
          <a:p>
            <a:r>
              <a:rPr sz="1000" b="1">
                <a:solidFill>
                  <a:schemeClr val="tx1"/>
                </a:solidFill>
                <a:latin typeface="+mn-lt"/>
                <a:ea typeface="+mn-lt"/>
                <a:cs typeface="+mn-lt"/>
              </a:rPr>
              <a:t>Consolidate suppliers</a:t>
            </a:r>
          </a:p>
          <a:p>
            <a:r>
              <a:rPr sz="800" b="0">
                <a:solidFill>
                  <a:schemeClr val="tx1"/>
                </a:solidFill>
                <a:latin typeface="+mn-lt"/>
                <a:ea typeface="+mn-lt"/>
                <a:cs typeface="+mn-lt"/>
              </a:rPr>
              <a:t>do first</a:t>
            </a:r>
          </a:p>
        </p:txBody>
      </p:sp>
      <p:sp>
        <p:nvSpPr>
          <p:cNvPr id="11" name="Oval 10"/>
          <p:cNvSpPr/>
          <p:nvPr/>
        </p:nvSpPr>
        <p:spPr>
          <a:xfrm>
            <a:off x="4367075" y="2663647"/>
            <a:ext cx="128016" cy="128016"/>
          </a:xfrm>
          <a:prstGeom prst="ellipse">
            <a:avLst/>
          </a:prstGeom>
          <a:solidFill>
            <a:srgbClr val="000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0694" y="2581351"/>
            <a:ext cx="1554480" cy="457200"/>
          </a:xfrm>
          <a:prstGeom prst="rect">
            <a:avLst/>
          </a:prstGeom>
          <a:noFill/>
        </p:spPr>
        <p:txBody>
          <a:bodyPr wrap="square" tIns="0" bIns="0">
            <a:spAutoFit/>
          </a:bodyPr>
          <a:lstStyle/>
          <a:p>
            <a:r>
              <a:rPr sz="1000" b="1">
                <a:solidFill>
                  <a:schemeClr val="tx1"/>
                </a:solidFill>
                <a:latin typeface="+mn-lt"/>
                <a:ea typeface="+mn-lt"/>
                <a:cs typeface="+mn-lt"/>
              </a:rPr>
              <a:t>Renegotiate freight</a:t>
            </a:r>
          </a:p>
        </p:txBody>
      </p:sp>
      <p:sp>
        <p:nvSpPr>
          <p:cNvPr id="13" name="Oval 12"/>
          <p:cNvSpPr/>
          <p:nvPr/>
        </p:nvSpPr>
        <p:spPr>
          <a:xfrm>
            <a:off x="9573826" y="2466594"/>
            <a:ext cx="128016" cy="128016"/>
          </a:xfrm>
          <a:prstGeom prst="ellipse">
            <a:avLst/>
          </a:prstGeom>
          <a:solidFill>
            <a:srgbClr val="000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27445" y="2384297"/>
            <a:ext cx="1554480" cy="457200"/>
          </a:xfrm>
          <a:prstGeom prst="rect">
            <a:avLst/>
          </a:prstGeom>
          <a:noFill/>
        </p:spPr>
        <p:txBody>
          <a:bodyPr wrap="square" tIns="0" bIns="0">
            <a:spAutoFit/>
          </a:bodyPr>
          <a:lstStyle/>
          <a:p>
            <a:r>
              <a:rPr sz="1000" b="1">
                <a:solidFill>
                  <a:schemeClr val="tx1"/>
                </a:solidFill>
                <a:latin typeface="+mn-lt"/>
                <a:ea typeface="+mn-lt"/>
                <a:cs typeface="+mn-lt"/>
              </a:rPr>
              <a:t>New ERP module</a:t>
            </a:r>
          </a:p>
        </p:txBody>
      </p:sp>
      <p:sp>
        <p:nvSpPr>
          <p:cNvPr id="15" name="Oval 14"/>
          <p:cNvSpPr/>
          <p:nvPr/>
        </p:nvSpPr>
        <p:spPr>
          <a:xfrm>
            <a:off x="3420393" y="4240072"/>
            <a:ext cx="128016" cy="128016"/>
          </a:xfrm>
          <a:prstGeom prst="ellipse">
            <a:avLst/>
          </a:prstGeom>
          <a:solidFill>
            <a:srgbClr val="000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4012" y="4157776"/>
            <a:ext cx="1554480" cy="457200"/>
          </a:xfrm>
          <a:prstGeom prst="rect">
            <a:avLst/>
          </a:prstGeom>
          <a:noFill/>
        </p:spPr>
        <p:txBody>
          <a:bodyPr wrap="square" tIns="0" bIns="0">
            <a:spAutoFit/>
          </a:bodyPr>
          <a:lstStyle/>
          <a:p>
            <a:r>
              <a:rPr sz="1000" b="1">
                <a:solidFill>
                  <a:schemeClr val="tx1"/>
                </a:solidFill>
                <a:latin typeface="+mn-lt"/>
                <a:ea typeface="+mn-lt"/>
                <a:cs typeface="+mn-lt"/>
              </a:rPr>
              <a:t>Reorder points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wrap="square"/>
          <a:lstStyle/>
          <a:p>
            <a:pPr marL="0" indent="0">
              <a:buNone/>
            </a:pPr>
            <a:r>
              <a:t>Composites and extras</a:t>
            </a:r>
          </a:p>
        </p:txBody>
      </p:sp>
      <p:sp>
        <p:nvSpPr>
          <p:cNvPr id="3" name="Text Placeholder 2"/>
          <p:cNvSpPr>
            <a:spLocks noGrp="1"/>
          </p:cNvSpPr>
          <p:nvPr>
            <p:ph type="body" idx="12" sz="quarter"/>
          </p:nvPr>
        </p:nvSpPr>
        <p:spPr/>
        <p:txBody>
          <a:bodyPr wrap="square"/>
          <a:lstStyle/>
          <a:p>
            <a:pPr marL="0" indent="0">
              <a:buNone/>
            </a:pPr>
            <a:r>
              <a:t>05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The wave plan pairs a process with its rationale</a:t>
            </a:r>
          </a:p>
        </p:txBody>
      </p:sp>
      <p:sp>
        <p:nvSpPr>
          <p:cNvPr id="3" name="Pentagon 2"/>
          <p:cNvSpPr/>
          <p:nvPr/>
        </p:nvSpPr>
        <p:spPr>
          <a:xfrm>
            <a:off x="457200" y="3264408"/>
            <a:ext cx="1455381" cy="914400"/>
          </a:xfrm>
          <a:prstGeom prst="homePlate">
            <a:avLst>
              <a:gd name="adj" fmla="val 40000"/>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Prepare</a:t>
            </a:r>
          </a:p>
        </p:txBody>
      </p:sp>
      <p:sp>
        <p:nvSpPr>
          <p:cNvPr id="4" name="Chevron 3"/>
          <p:cNvSpPr/>
          <p:nvPr/>
        </p:nvSpPr>
        <p:spPr>
          <a:xfrm>
            <a:off x="1775421" y="3264408"/>
            <a:ext cx="1455381" cy="914400"/>
          </a:xfrm>
          <a:prstGeom prst="chevron">
            <a:avLst>
              <a:gd name="adj" fmla="val 40000"/>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Pilot</a:t>
            </a:r>
          </a:p>
        </p:txBody>
      </p:sp>
      <p:sp>
        <p:nvSpPr>
          <p:cNvPr id="5" name="Chevron 4"/>
          <p:cNvSpPr/>
          <p:nvPr/>
        </p:nvSpPr>
        <p:spPr>
          <a:xfrm>
            <a:off x="3093643" y="3264408"/>
            <a:ext cx="1455381" cy="914400"/>
          </a:xfrm>
          <a:prstGeom prst="chevron">
            <a:avLst>
              <a:gd name="adj" fmla="val 40000"/>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Switch</a:t>
            </a:r>
          </a:p>
        </p:txBody>
      </p:sp>
      <p:sp>
        <p:nvSpPr>
          <p:cNvPr id="6" name="Chevron 5"/>
          <p:cNvSpPr/>
          <p:nvPr/>
        </p:nvSpPr>
        <p:spPr>
          <a:xfrm>
            <a:off x="4411865" y="3264408"/>
            <a:ext cx="1455381" cy="914400"/>
          </a:xfrm>
          <a:prstGeom prst="chevron">
            <a:avLst>
              <a:gd name="adj" fmla="val 40000"/>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wrap="square" tIns="137160" bIns="137160" lIns="137160" rIns="137160"/>
          <a:lstStyle/>
          <a:p>
            <a:pPr algn="ctr"/>
            <a:r>
              <a:rPr b="1" sz="1200">
                <a:solidFill>
                  <a:schemeClr val="tx1"/>
                </a:solidFill>
              </a:rPr>
              <a:t>Close</a:t>
            </a:r>
          </a:p>
        </p:txBody>
      </p:sp>
      <p:sp>
        <p:nvSpPr>
          <p:cNvPr id="7" name="TextBox 6"/>
          <p:cNvSpPr txBox="1"/>
          <p:nvPr/>
        </p:nvSpPr>
        <p:spPr>
          <a:xfrm>
            <a:off x="6324447" y="1408176"/>
            <a:ext cx="5410047" cy="4626864"/>
          </a:xfrm>
          <a:prstGeom prst="rect">
            <a:avLst/>
          </a:prstGeom>
          <a:noFill/>
        </p:spPr>
        <p:txBody>
          <a:bodyPr wrap="square" anchor="t" lIns="25400" rIns="63500" tIns="0" bIns="0">
            <a:spAutoFit/>
          </a:bodyPr>
          <a:lstStyle/>
          <a:p>
            <a:pPr>
              <a:spcAft>
                <a:spcPts val="800"/>
              </a:spcAft>
              <a:buNone/>
            </a:pPr>
            <a:r>
              <a:rPr sz="1200" b="1">
                <a:solidFill>
                  <a:schemeClr val="tx1"/>
                </a:solidFill>
                <a:latin typeface="+mn-lt"/>
                <a:ea typeface="+mn-lt"/>
                <a:cs typeface="+mn-lt"/>
              </a:rPr>
              <a:t>Why waves</a:t>
            </a:r>
          </a:p>
          <a:p>
            <a:pPr marL="180136" indent="-180136">
              <a:spcAft>
                <a:spcPts val="400"/>
              </a:spcAft>
              <a:buFont typeface="Arial"/>
              <a:buChar char="•"/>
            </a:pPr>
            <a:r>
              <a:rPr sz="1200" b="0">
                <a:solidFill>
                  <a:schemeClr val="tx1"/>
                </a:solidFill>
                <a:latin typeface="+mn-lt"/>
                <a:ea typeface="+mn-lt"/>
                <a:cs typeface="+mn-lt"/>
              </a:rPr>
              <a:t>Limits supply risk to one plant at a time</a:t>
            </a:r>
          </a:p>
          <a:p>
            <a:pPr marL="180136" indent="-180136">
              <a:spcAft>
                <a:spcPts val="400"/>
              </a:spcAft>
              <a:buFont typeface="Arial"/>
              <a:buChar char="•"/>
            </a:pPr>
            <a:r>
              <a:rPr sz="1200" b="0">
                <a:solidFill>
                  <a:schemeClr val="tx1"/>
                </a:solidFill>
                <a:latin typeface="+mn-lt"/>
                <a:ea typeface="+mn-lt"/>
                <a:cs typeface="+mn-lt"/>
              </a:rPr>
              <a:t>Each gate review feeds fixes into the next wave</a:t>
            </a:r>
          </a:p>
          <a:p>
            <a:pPr marL="180136" indent="-180136">
              <a:spcAft>
                <a:spcPts val="400"/>
              </a:spcAft>
              <a:buFont typeface="Arial"/>
              <a:buChar char="•"/>
            </a:pPr>
            <a:r>
              <a:rPr sz="1200" b="0">
                <a:solidFill>
                  <a:schemeClr val="tx1"/>
                </a:solidFill>
                <a:latin typeface="+mn-lt"/>
                <a:ea typeface="+mn-lt"/>
                <a:cs typeface="+mn-lt"/>
              </a:rPr>
              <a:t>Savings start before the program ends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One slide combines a chart, a KPI, and a table</a:t>
            </a:r>
          </a:p>
        </p:txBody>
      </p:sp>
      <p:sp>
        <p:nvSpPr>
          <p:cNvPr id="3" name="TextBox 2"/>
          <p:cNvSpPr txBox="1"/>
          <p:nvPr/>
        </p:nvSpPr>
        <p:spPr>
          <a:xfrm>
            <a:off x="457200" y="1408176"/>
            <a:ext cx="3454298" cy="368046"/>
          </a:xfrm>
          <a:prstGeom prst="rect">
            <a:avLst/>
          </a:prstGeom>
          <a:noFill/>
        </p:spPr>
        <p:txBody>
          <a:bodyPr wrap="square" anchor="t" lIns="25400" rIns="63500" tIns="0" bIns="0">
            <a:spAutoFit/>
          </a:bodyPr>
          <a:lstStyle/>
          <a:p>
            <a:pPr>
              <a:spcAft>
                <a:spcPts val="800"/>
              </a:spcAft>
              <a:buNone/>
            </a:pPr>
            <a:r>
              <a:rPr sz="1200" b="1">
                <a:solidFill>
                  <a:schemeClr val="tx1"/>
                </a:solidFill>
                <a:latin typeface="+mn-lt"/>
                <a:ea typeface="+mn-lt"/>
                <a:cs typeface="+mn-lt"/>
              </a:rPr>
              <a:t>Trend</a:t>
            </a:r>
          </a:p>
        </p:txBody>
      </p:sp>
      <p:sp>
        <p:nvSpPr>
          <p:cNvPr id="4" name="TextBox 3"/>
          <p:cNvSpPr txBox="1"/>
          <p:nvPr/>
        </p:nvSpPr>
        <p:spPr>
          <a:xfrm>
            <a:off x="4368698" y="1408176"/>
            <a:ext cx="3454298" cy="368046"/>
          </a:xfrm>
          <a:prstGeom prst="rect">
            <a:avLst/>
          </a:prstGeom>
          <a:noFill/>
        </p:spPr>
        <p:txBody>
          <a:bodyPr wrap="square" anchor="t" lIns="25400" rIns="63500" tIns="0" bIns="0">
            <a:spAutoFit/>
          </a:bodyPr>
          <a:lstStyle/>
          <a:p>
            <a:pPr>
              <a:spcAft>
                <a:spcPts val="800"/>
              </a:spcAft>
              <a:buNone/>
            </a:pPr>
            <a:r>
              <a:rPr sz="1200" b="1">
                <a:solidFill>
                  <a:schemeClr val="tx1"/>
                </a:solidFill>
                <a:latin typeface="+mn-lt"/>
                <a:ea typeface="+mn-lt"/>
                <a:cs typeface="+mn-lt"/>
              </a:rPr>
              <a:t>Headline</a:t>
            </a:r>
          </a:p>
        </p:txBody>
      </p:sp>
      <p:sp>
        <p:nvSpPr>
          <p:cNvPr id="5" name="TextBox 4"/>
          <p:cNvSpPr txBox="1"/>
          <p:nvPr/>
        </p:nvSpPr>
        <p:spPr>
          <a:xfrm>
            <a:off x="8280196" y="1408176"/>
            <a:ext cx="3454298" cy="368046"/>
          </a:xfrm>
          <a:prstGeom prst="rect">
            <a:avLst/>
          </a:prstGeom>
          <a:noFill/>
        </p:spPr>
        <p:txBody>
          <a:bodyPr wrap="square" anchor="t" lIns="25400" rIns="63500" tIns="0" bIns="0">
            <a:spAutoFit/>
          </a:bodyPr>
          <a:lstStyle/>
          <a:p>
            <a:pPr>
              <a:spcAft>
                <a:spcPts val="800"/>
              </a:spcAft>
              <a:buNone/>
            </a:pPr>
            <a:r>
              <a:rPr sz="1200" b="1">
                <a:solidFill>
                  <a:schemeClr val="tx1"/>
                </a:solidFill>
                <a:latin typeface="+mn-lt"/>
                <a:ea typeface="+mn-lt"/>
                <a:cs typeface="+mn-lt"/>
              </a:rPr>
              <a:t>Detail</a:t>
            </a:r>
          </a:p>
        </p:txBody>
      </p:sp>
      <p:graphicFrame>
        <p:nvGraphicFramePr>
          <p:cNvPr id="6" name="Chart 5"/>
          <p:cNvGraphicFramePr>
            <a:graphicFrameLocks noGrp="1"/>
          </p:cNvGraphicFramePr>
          <p:nvPr/>
        </p:nvGraphicFramePr>
        <p:xfrm>
          <a:off x="457200" y="2233422"/>
          <a:ext cx="3454298" cy="2281885"/>
        </p:xfrm>
        <a:graphic>
          <a:graphicData uri="http://schemas.openxmlformats.org/drawingml/2006/chart">
            <c:chart xmlns:c="http://schemas.openxmlformats.org/drawingml/2006/chart" r:id="rId2"/>
          </a:graphicData>
        </a:graphic>
      </p:graphicFrame>
      <p:sp>
        <p:nvSpPr>
          <p:cNvPr id="7" name="TextBox 6"/>
          <p:cNvSpPr txBox="1"/>
          <p:nvPr/>
        </p:nvSpPr>
        <p:spPr>
          <a:xfrm>
            <a:off x="4368698" y="2233422"/>
            <a:ext cx="3454298" cy="2281885"/>
          </a:xfrm>
          <a:prstGeom prst="rect">
            <a:avLst/>
          </a:prstGeom>
          <a:noFill/>
        </p:spPr>
        <p:txBody>
          <a:bodyPr wrap="square" anchor="t">
            <a:spAutoFit/>
          </a:bodyPr>
          <a:lstStyle/>
          <a:p>
            <a:pPr marL="0" indent="0">
              <a:spcBef>
                <a:spcPts val="600"/>
              </a:spcBef>
              <a:buNone/>
            </a:pPr>
            <a:r>
              <a:rPr sz="2600" b="0">
                <a:solidFill>
                  <a:schemeClr val="tx1"/>
                </a:solidFill>
                <a:latin typeface="+mn-lt"/>
                <a:ea typeface="+mn-lt"/>
                <a:cs typeface="+mn-lt"/>
              </a:rPr>
              <a:t>+17%</a:t>
            </a:r>
          </a:p>
          <a:p>
            <a:pPr marL="0" indent="0">
              <a:buNone/>
            </a:pPr>
            <a:r>
              <a:rPr sz="1200" b="0">
                <a:solidFill>
                  <a:schemeClr val="tx1"/>
                </a:solidFill>
                <a:latin typeface="+mn-lt"/>
                <a:ea typeface="+mn-lt"/>
                <a:cs typeface="+mn-lt"/>
              </a:rPr>
              <a:t>vs. prior year</a:t>
            </a:r>
          </a:p>
        </p:txBody>
      </p:sp>
      <p:graphicFrame>
        <p:nvGraphicFramePr>
          <p:cNvPr id="8" name="Table 7"/>
          <p:cNvGraphicFramePr>
            <a:graphicFrameLocks noGrp="1"/>
          </p:cNvGraphicFramePr>
          <p:nvPr/>
        </p:nvGraphicFramePr>
        <p:xfrm>
          <a:off x="8280196" y="2233422"/>
          <a:ext cx="3454298" cy="859536"/>
        </p:xfrm>
        <a:graphic>
          <a:graphicData uri="http://schemas.openxmlformats.org/drawingml/2006/table">
            <a:tbl>
              <a:tblPr firstRow="1" bandRow="0" lastRow="0" firstCol="0" lastCol="0" bandCol="0">
                <a:tableStyleId>{839DD9DD-9E6C-4910-8AC0-68ADFF6A6AFC}</a:tableStyleId>
              </a:tblPr>
              <a:tblGrid>
                <a:gridCol w="1727149"/>
                <a:gridCol w="1727149"/>
              </a:tblGrid>
              <a:tr h="310896">
                <a:tc>
                  <a:txBody>
                    <a:bodyPr wrap="square" anchor="b"/>
                    <a:lstStyle/>
                    <a:p>
                      <a:pPr algn="l"/>
                      <a:r>
                        <a:rPr b="1" sz="1200">
                          <a:solidFill>
                            <a:schemeClr val="tx1"/>
                          </a:solidFill>
                        </a:rPr>
                        <a:t>Region</a:t>
                      </a:r>
                    </a:p>
                  </a:txBody>
                  <a:tcPr/>
                </a:tc>
                <a:tc>
                  <a:txBody>
                    <a:bodyPr wrap="square" anchor="b"/>
                    <a:lstStyle/>
                    <a:p>
                      <a:pPr algn="l"/>
                      <a:r>
                        <a:rPr b="1" sz="1200">
                          <a:solidFill>
                            <a:schemeClr val="tx1"/>
                          </a:solidFill>
                        </a:rPr>
                        <a:t>Growth</a:t>
                      </a:r>
                    </a:p>
                  </a:txBody>
                  <a:tcPr/>
                </a:tc>
              </a:tr>
              <a:tr h="274320">
                <a:tc>
                  <a:txBody>
                    <a:bodyPr wrap="square" anchor="t"/>
                    <a:lstStyle/>
                    <a:p>
                      <a:pPr algn="l"/>
                      <a:r>
                        <a:rPr b="0" sz="1200">
                          <a:solidFill>
                            <a:schemeClr val="tx1"/>
                          </a:solidFill>
                        </a:rPr>
                        <a:t>North</a:t>
                      </a:r>
                    </a:p>
                  </a:txBody>
                  <a:tcPr/>
                </a:tc>
                <a:tc>
                  <a:txBody>
                    <a:bodyPr wrap="square" anchor="t"/>
                    <a:lstStyle/>
                    <a:p>
                      <a:pPr algn="l"/>
                      <a:r>
                        <a:rPr b="0" sz="1200">
                          <a:solidFill>
                            <a:schemeClr val="tx1"/>
                          </a:solidFill>
                        </a:rPr>
                        <a:t>+21%</a:t>
                      </a:r>
                    </a:p>
                  </a:txBody>
                  <a:tcPr/>
                </a:tc>
              </a:tr>
              <a:tr h="274320">
                <a:tc>
                  <a:txBody>
                    <a:bodyPr wrap="square" anchor="t"/>
                    <a:lstStyle/>
                    <a:p>
                      <a:pPr algn="l"/>
                      <a:r>
                        <a:rPr b="0" sz="1200">
                          <a:solidFill>
                            <a:schemeClr val="tx1"/>
                          </a:solidFill>
                        </a:rPr>
                        <a:t>South</a:t>
                      </a:r>
                    </a:p>
                  </a:txBody>
                  <a:tcPr/>
                </a:tc>
                <a:tc>
                  <a:txBody>
                    <a:bodyPr wrap="square" anchor="t"/>
                    <a:lstStyle/>
                    <a:p>
                      <a:pPr algn="l"/>
                      <a:r>
                        <a:rPr b="0" sz="1200">
                          <a:solidFill>
                            <a:schemeClr val="tx1"/>
                          </a:solidFill>
                        </a:rPr>
                        <a:t>+9%</a:t>
                      </a:r>
                    </a:p>
                  </a:txBody>
                  <a:tcPr/>
                </a:tc>
              </a:tr>
            </a:tbl>
          </a:graphicData>
        </a:graphic>
      </p:graphicFrame>
      <p:sp>
        <p:nvSpPr>
          <p:cNvPr id="9" name="TextBox 8"/>
          <p:cNvSpPr txBox="1"/>
          <p:nvPr/>
        </p:nvSpPr>
        <p:spPr>
          <a:xfrm>
            <a:off x="457200" y="4972507"/>
            <a:ext cx="3454298" cy="1030528"/>
          </a:xfrm>
          <a:prstGeom prst="rect">
            <a:avLst/>
          </a:prstGeom>
          <a:noFill/>
        </p:spPr>
        <p:txBody>
          <a:bodyPr wrap="square" anchor="t" lIns="25400" rIns="63500" tIns="0" bIns="0">
            <a:spAutoFit/>
          </a:bodyPr>
          <a:lstStyle/>
          <a:p>
            <a:pPr>
              <a:spcAft>
                <a:spcPts val="600"/>
              </a:spcAft>
              <a:buNone/>
            </a:pPr>
            <a:r>
              <a:rPr sz="1200" b="0">
                <a:solidFill>
                  <a:schemeClr val="tx1"/>
                </a:solidFill>
                <a:latin typeface="+mn-lt"/>
                <a:ea typeface="+mn-lt"/>
                <a:cs typeface="+mn-lt"/>
              </a:rPr>
              <a:t>Steady climb through the year.</a:t>
            </a:r>
          </a:p>
        </p:txBody>
      </p:sp>
      <p:sp>
        <p:nvSpPr>
          <p:cNvPr id="10" name="TextBox 9"/>
          <p:cNvSpPr txBox="1"/>
          <p:nvPr/>
        </p:nvSpPr>
        <p:spPr>
          <a:xfrm>
            <a:off x="4368698" y="4972507"/>
            <a:ext cx="3454298" cy="1030528"/>
          </a:xfrm>
          <a:prstGeom prst="rect">
            <a:avLst/>
          </a:prstGeom>
          <a:noFill/>
        </p:spPr>
        <p:txBody>
          <a:bodyPr wrap="square" anchor="t" lIns="25400" rIns="63500" tIns="0" bIns="0">
            <a:spAutoFit/>
          </a:bodyPr>
          <a:lstStyle/>
          <a:p>
            <a:pPr>
              <a:spcAft>
                <a:spcPts val="600"/>
              </a:spcAft>
              <a:buNone/>
            </a:pPr>
            <a:r>
              <a:rPr sz="1200" b="0">
                <a:solidFill>
                  <a:schemeClr val="tx1"/>
                </a:solidFill>
                <a:latin typeface="+mn-lt"/>
                <a:ea typeface="+mn-lt"/>
                <a:cs typeface="+mn-lt"/>
              </a:rPr>
              <a:t>Growth beat the plan.</a:t>
            </a:r>
          </a:p>
        </p:txBody>
      </p:sp>
      <p:sp>
        <p:nvSpPr>
          <p:cNvPr id="11" name="TextBox 10"/>
          <p:cNvSpPr txBox="1"/>
          <p:nvPr/>
        </p:nvSpPr>
        <p:spPr>
          <a:xfrm>
            <a:off x="8280196" y="4972507"/>
            <a:ext cx="3454298" cy="1030528"/>
          </a:xfrm>
          <a:prstGeom prst="rect">
            <a:avLst/>
          </a:prstGeom>
          <a:noFill/>
        </p:spPr>
        <p:txBody>
          <a:bodyPr wrap="square" anchor="t" lIns="25400" rIns="63500" tIns="0" bIns="0">
            <a:spAutoFit/>
          </a:bodyPr>
          <a:lstStyle/>
          <a:p>
            <a:pPr>
              <a:spcAft>
                <a:spcPts val="600"/>
              </a:spcAft>
              <a:buNone/>
            </a:pPr>
            <a:r>
              <a:rPr sz="1200" b="0">
                <a:solidFill>
                  <a:schemeClr val="tx1"/>
                </a:solidFill>
                <a:latin typeface="+mn-lt"/>
                <a:ea typeface="+mn-lt"/>
                <a:cs typeface="+mn-lt"/>
              </a:rPr>
              <a:t>North drives the gain.</a:t>
            </a:r>
          </a:p>
        </p:txBody>
      </p:sp>
      <p:sp>
        <p:nvSpPr>
          <p:cNvPr id="12" name="Footnote"/>
          <p:cNvSpPr txBox="1"/>
          <p:nvPr/>
        </p:nvSpPr>
        <p:spPr>
          <a:xfrm>
            <a:off x="457200" y="6185916"/>
            <a:ext cx="11277295" cy="123444"/>
          </a:xfrm>
          <a:prstGeom prst="rect">
            <a:avLst/>
          </a:prstGeom>
          <a:noFill/>
        </p:spPr>
        <p:txBody>
          <a:bodyPr lIns="0" tIns="0" rIns="0" bIns="0" rtlCol="0" anchor="b">
            <a:spAutoFit/>
          </a:bodyPr>
          <a:lstStyle/>
          <a:p>
            <a:pPr algn="l"/>
            <a:r>
              <a:rPr sz="800">
                <a:solidFill>
                  <a:schemeClr val="tx1"/>
                </a:solidFill>
                <a:ea typeface="+mn-lt"/>
                <a:cs typeface="+mn-lt"/>
              </a:rPr>
              <a:t>Source: illustrative test data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Open composition places any block on a grid</a:t>
            </a:r>
          </a:p>
        </p:txBody>
      </p:sp>
      <p:sp>
        <p:nvSpPr>
          <p:cNvPr id="3" name="TextBox 2"/>
          <p:cNvSpPr txBox="1"/>
          <p:nvPr/>
        </p:nvSpPr>
        <p:spPr>
          <a:xfrm>
            <a:off x="457200" y="1408176"/>
            <a:ext cx="3523384" cy="4594860"/>
          </a:xfrm>
          <a:prstGeom prst="rect">
            <a:avLst/>
          </a:prstGeom>
          <a:noFill/>
        </p:spPr>
        <p:txBody>
          <a:bodyPr wrap="square" anchor="t" lIns="25400" rIns="63500" tIns="0" bIns="0">
            <a:spAutoFit/>
          </a:bodyPr>
          <a:lstStyle/>
          <a:p>
            <a:pPr>
              <a:spcAft>
                <a:spcPts val="800"/>
              </a:spcAft>
              <a:buNone/>
            </a:pPr>
            <a:r>
              <a:rPr sz="1200" b="1">
                <a:solidFill>
                  <a:schemeClr val="tx1"/>
                </a:solidFill>
                <a:latin typeface="+mn-lt"/>
                <a:ea typeface="+mn-lt"/>
                <a:cs typeface="+mn-lt"/>
              </a:rPr>
              <a:t>Reading guide</a:t>
            </a:r>
          </a:p>
          <a:p>
            <a:pPr marL="180136" indent="-180136">
              <a:spcAft>
                <a:spcPts val="400"/>
              </a:spcAft>
              <a:buFont typeface="Arial"/>
              <a:buChar char="•"/>
            </a:pPr>
            <a:r>
              <a:rPr sz="1200" b="0">
                <a:solidFill>
                  <a:schemeClr val="tx1"/>
                </a:solidFill>
                <a:latin typeface="+mn-lt"/>
                <a:ea typeface="+mn-lt"/>
                <a:cs typeface="+mn-lt"/>
              </a:rPr>
              <a:t>Left: gauge shows capacity use</a:t>
            </a:r>
          </a:p>
          <a:p>
            <a:pPr marL="180136" indent="-180136">
              <a:spcAft>
                <a:spcPts val="400"/>
              </a:spcAft>
              <a:buFont typeface="Arial"/>
              <a:buChar char="•"/>
            </a:pPr>
            <a:r>
              <a:rPr sz="1200" b="0">
                <a:solidFill>
                  <a:schemeClr val="tx1"/>
                </a:solidFill>
                <a:latin typeface="+mn-lt"/>
                <a:ea typeface="+mn-lt"/>
                <a:cs typeface="+mn-lt"/>
              </a:rPr>
              <a:t>Right: heatmap shows load by site and shift</a:t>
            </a:r>
          </a:p>
        </p:txBody>
      </p:sp>
      <p:sp>
        <p:nvSpPr>
          <p:cNvPr id="4" name="Donut 3"/>
          <p:cNvSpPr/>
          <p:nvPr/>
        </p:nvSpPr>
        <p:spPr>
          <a:xfrm>
            <a:off x="4593227" y="2306615"/>
            <a:ext cx="2797981" cy="2797981"/>
          </a:xfrm>
          <a:prstGeom prst="donut">
            <a:avLst>
              <a:gd name="adj" fmla="val 38000"/>
            </a:avLst>
          </a:prstGeom>
          <a:solidFill>
            <a:srgbClr val="EBE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5" name="infographic-7005"/>
          <p:cNvSpPr/>
          <p:nvPr/>
        </p:nvSpPr>
        <p:spPr>
          <a:xfrm>
            <a:off x="4593400" y="2306615"/>
            <a:ext cx="2796730" cy="2797593"/>
          </a:xfrm>
          <a:custGeom>
            <a:avLst/>
            <a:gdLst/>
            <a:ahLst/>
            <a:rect l="0" t="0" r="2796730" b="2797593"/>
            <a:pathLst>
              <a:path w="2796730" h="2797593">
                <a:moveTo>
                  <a:pt x="1398818" y="0"/>
                </a:moveTo>
                <a:lnTo>
                  <a:pt x="1541409" y="7285"/>
                </a:lnTo>
                <a:lnTo>
                  <a:pt x="1682515" y="29067"/>
                </a:lnTo>
                <a:lnTo>
                  <a:pt x="1820667" y="65117"/>
                </a:lnTo>
                <a:lnTo>
                  <a:pt x="1954424" y="115060"/>
                </a:lnTo>
                <a:lnTo>
                  <a:pt x="2082394" y="178376"/>
                </a:lnTo>
                <a:lnTo>
                  <a:pt x="2203245" y="254406"/>
                </a:lnTo>
                <a:lnTo>
                  <a:pt x="2315717" y="342358"/>
                </a:lnTo>
                <a:lnTo>
                  <a:pt x="2418638" y="441315"/>
                </a:lnTo>
                <a:lnTo>
                  <a:pt x="2510938" y="550247"/>
                </a:lnTo>
                <a:lnTo>
                  <a:pt x="2591654" y="668020"/>
                </a:lnTo>
                <a:lnTo>
                  <a:pt x="2659945" y="793406"/>
                </a:lnTo>
                <a:lnTo>
                  <a:pt x="2715101" y="925099"/>
                </a:lnTo>
                <a:lnTo>
                  <a:pt x="2756547" y="1061729"/>
                </a:lnTo>
                <a:lnTo>
                  <a:pt x="2783852" y="1201871"/>
                </a:lnTo>
                <a:lnTo>
                  <a:pt x="2796730" y="1344066"/>
                </a:lnTo>
                <a:lnTo>
                  <a:pt x="2795048" y="1486834"/>
                </a:lnTo>
                <a:lnTo>
                  <a:pt x="2778823" y="1628686"/>
                </a:lnTo>
                <a:lnTo>
                  <a:pt x="2748225" y="1768146"/>
                </a:lnTo>
                <a:lnTo>
                  <a:pt x="2703571" y="1903761"/>
                </a:lnTo>
                <a:lnTo>
                  <a:pt x="2645328" y="2034119"/>
                </a:lnTo>
                <a:lnTo>
                  <a:pt x="2574101" y="2157861"/>
                </a:lnTo>
                <a:lnTo>
                  <a:pt x="2490633" y="2273699"/>
                </a:lnTo>
                <a:lnTo>
                  <a:pt x="2395793" y="2380426"/>
                </a:lnTo>
                <a:lnTo>
                  <a:pt x="2290568" y="2476931"/>
                </a:lnTo>
                <a:lnTo>
                  <a:pt x="2176055" y="2562209"/>
                </a:lnTo>
                <a:lnTo>
                  <a:pt x="2053447" y="2635370"/>
                </a:lnTo>
                <a:lnTo>
                  <a:pt x="1924021" y="2695654"/>
                </a:lnTo>
                <a:lnTo>
                  <a:pt x="1789124" y="2742432"/>
                </a:lnTo>
                <a:lnTo>
                  <a:pt x="1650162" y="2775218"/>
                </a:lnTo>
                <a:lnTo>
                  <a:pt x="1508581" y="2793669"/>
                </a:lnTo>
                <a:lnTo>
                  <a:pt x="1365858" y="2797593"/>
                </a:lnTo>
                <a:lnTo>
                  <a:pt x="1223478" y="2786950"/>
                </a:lnTo>
                <a:lnTo>
                  <a:pt x="1082924" y="2761850"/>
                </a:lnTo>
                <a:lnTo>
                  <a:pt x="945660" y="2722555"/>
                </a:lnTo>
                <a:lnTo>
                  <a:pt x="813117" y="2669474"/>
                </a:lnTo>
                <a:lnTo>
                  <a:pt x="686673" y="2603161"/>
                </a:lnTo>
                <a:lnTo>
                  <a:pt x="567648" y="2524305"/>
                </a:lnTo>
                <a:lnTo>
                  <a:pt x="457279" y="2433727"/>
                </a:lnTo>
                <a:lnTo>
                  <a:pt x="356718" y="2332373"/>
                </a:lnTo>
                <a:lnTo>
                  <a:pt x="267010" y="2221297"/>
                </a:lnTo>
                <a:lnTo>
                  <a:pt x="189092" y="2101655"/>
                </a:lnTo>
                <a:lnTo>
                  <a:pt x="123773" y="1974695"/>
                </a:lnTo>
                <a:lnTo>
                  <a:pt x="71735" y="1841739"/>
                </a:lnTo>
                <a:lnTo>
                  <a:pt x="33519" y="1704171"/>
                </a:lnTo>
                <a:lnTo>
                  <a:pt x="9524" y="1563424"/>
                </a:lnTo>
                <a:lnTo>
                  <a:pt x="0" y="1420965"/>
                </a:lnTo>
                <a:lnTo>
                  <a:pt x="5045" y="1278277"/>
                </a:lnTo>
                <a:lnTo>
                  <a:pt x="24607" y="1136846"/>
                </a:lnTo>
                <a:lnTo>
                  <a:pt x="546807" y="1236461"/>
                </a:lnTo>
                <a:lnTo>
                  <a:pt x="534678" y="1324148"/>
                </a:lnTo>
                <a:lnTo>
                  <a:pt x="531550" y="1412614"/>
                </a:lnTo>
                <a:lnTo>
                  <a:pt x="537456" y="1500939"/>
                </a:lnTo>
                <a:lnTo>
                  <a:pt x="552333" y="1588202"/>
                </a:lnTo>
                <a:lnTo>
                  <a:pt x="576026" y="1673494"/>
                </a:lnTo>
                <a:lnTo>
                  <a:pt x="608290" y="1755927"/>
                </a:lnTo>
                <a:lnTo>
                  <a:pt x="648788" y="1834643"/>
                </a:lnTo>
                <a:lnTo>
                  <a:pt x="697097" y="1908820"/>
                </a:lnTo>
                <a:lnTo>
                  <a:pt x="752716" y="1977688"/>
                </a:lnTo>
                <a:lnTo>
                  <a:pt x="815064" y="2040527"/>
                </a:lnTo>
                <a:lnTo>
                  <a:pt x="883492" y="2096685"/>
                </a:lnTo>
                <a:lnTo>
                  <a:pt x="957288" y="2145576"/>
                </a:lnTo>
                <a:lnTo>
                  <a:pt x="1035683" y="2186690"/>
                </a:lnTo>
                <a:lnTo>
                  <a:pt x="1117860" y="2219601"/>
                </a:lnTo>
                <a:lnTo>
                  <a:pt x="1202964" y="2243963"/>
                </a:lnTo>
                <a:lnTo>
                  <a:pt x="1290107" y="2259525"/>
                </a:lnTo>
                <a:lnTo>
                  <a:pt x="1378383" y="2266124"/>
                </a:lnTo>
                <a:lnTo>
                  <a:pt x="1466871" y="2263691"/>
                </a:lnTo>
                <a:lnTo>
                  <a:pt x="1554651" y="2252251"/>
                </a:lnTo>
                <a:lnTo>
                  <a:pt x="1640807" y="2231924"/>
                </a:lnTo>
                <a:lnTo>
                  <a:pt x="1724444" y="2202922"/>
                </a:lnTo>
                <a:lnTo>
                  <a:pt x="1804688" y="2165546"/>
                </a:lnTo>
                <a:lnTo>
                  <a:pt x="1880705" y="2120186"/>
                </a:lnTo>
                <a:lnTo>
                  <a:pt x="1951703" y="2067314"/>
                </a:lnTo>
                <a:lnTo>
                  <a:pt x="2016942" y="2007481"/>
                </a:lnTo>
                <a:lnTo>
                  <a:pt x="2075743" y="1941310"/>
                </a:lnTo>
                <a:lnTo>
                  <a:pt x="2127493" y="1869490"/>
                </a:lnTo>
                <a:lnTo>
                  <a:pt x="2171654" y="1792770"/>
                </a:lnTo>
                <a:lnTo>
                  <a:pt x="2207765" y="1711948"/>
                </a:lnTo>
                <a:lnTo>
                  <a:pt x="2235450" y="1627867"/>
                </a:lnTo>
                <a:lnTo>
                  <a:pt x="2254421" y="1541402"/>
                </a:lnTo>
                <a:lnTo>
                  <a:pt x="2264481" y="1453453"/>
                </a:lnTo>
                <a:lnTo>
                  <a:pt x="2265523" y="1364937"/>
                </a:lnTo>
                <a:lnTo>
                  <a:pt x="2257539" y="1276776"/>
                </a:lnTo>
                <a:lnTo>
                  <a:pt x="2240610" y="1189888"/>
                </a:lnTo>
                <a:lnTo>
                  <a:pt x="2214914" y="1105178"/>
                </a:lnTo>
                <a:lnTo>
                  <a:pt x="2180717" y="1023528"/>
                </a:lnTo>
                <a:lnTo>
                  <a:pt x="2138376" y="945789"/>
                </a:lnTo>
                <a:lnTo>
                  <a:pt x="2088332" y="872770"/>
                </a:lnTo>
                <a:lnTo>
                  <a:pt x="2031106" y="805232"/>
                </a:lnTo>
                <a:lnTo>
                  <a:pt x="1967295" y="743878"/>
                </a:lnTo>
                <a:lnTo>
                  <a:pt x="1897563" y="689348"/>
                </a:lnTo>
                <a:lnTo>
                  <a:pt x="1822635" y="642210"/>
                </a:lnTo>
                <a:lnTo>
                  <a:pt x="1743294" y="602954"/>
                </a:lnTo>
                <a:lnTo>
                  <a:pt x="1660364" y="571989"/>
                </a:lnTo>
                <a:lnTo>
                  <a:pt x="1574710" y="549638"/>
                </a:lnTo>
                <a:lnTo>
                  <a:pt x="1487224" y="536133"/>
                </a:lnTo>
                <a:lnTo>
                  <a:pt x="1398818" y="531616"/>
                </a:lnTo>
                <a:close/>
              </a:path>
            </a:pathLst>
          </a:custGeom>
          <a:solidFill>
            <a:srgbClr val="000F47"/>
          </a:solidFill>
          <a:ln>
            <a:noFill/>
          </a:ln>
        </p:spPr>
        <p:txBody>
          <a:bodyPr/>
          <a:lstStyle/>
          <a:p/>
        </p:txBody>
      </p:sp>
      <p:sp>
        <p:nvSpPr>
          <p:cNvPr id="7006" name="TextBox 7005"/>
          <p:cNvSpPr txBox="1"/>
          <p:nvPr/>
        </p:nvSpPr>
        <p:spPr>
          <a:xfrm>
            <a:off x="5124844" y="2838231"/>
            <a:ext cx="1734748" cy="1734748"/>
          </a:xfrm>
          <a:prstGeom prst="rect">
            <a:avLst/>
          </a:prstGeom>
          <a:noFill/>
        </p:spPr>
        <p:txBody>
          <a:bodyPr wrap="square" anchor="ctr" lIns="0" rIns="0" tIns="0" bIns="0">
            <a:spAutoFit/>
          </a:bodyPr>
          <a:lstStyle/>
          <a:p>
            <a:pPr algn="ctr"/>
            <a:r>
              <a:rPr sz="2600" b="0">
                <a:solidFill>
                  <a:srgbClr val="000F47"/>
                </a:solidFill>
                <a:latin typeface="Marsh Serif"/>
              </a:rPr>
              <a:t>78%</a:t>
            </a:r>
          </a:p>
          <a:p>
            <a:pPr algn="ctr"/>
            <a:r>
              <a:rPr sz="1200" b="0">
                <a:solidFill>
                  <a:srgbClr val="7B7974"/>
                </a:solidFill>
                <a:latin typeface="Noto Sans"/>
              </a:rPr>
              <a:t>Capacity use</a:t>
            </a:r>
          </a:p>
        </p:txBody>
      </p:sp>
      <p:sp>
        <p:nvSpPr>
          <p:cNvPr id="7007" name="Rectangle 7006"/>
          <p:cNvSpPr/>
          <p:nvPr/>
        </p:nvSpPr>
        <p:spPr>
          <a:xfrm>
            <a:off x="8872532" y="1700784"/>
            <a:ext cx="953987" cy="1229868"/>
          </a:xfrm>
          <a:prstGeom prst="rect">
            <a:avLst/>
          </a:prstGeom>
          <a:solidFill>
            <a:srgbClr val="000F4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8" name="Rectangle 7007"/>
          <p:cNvSpPr/>
          <p:nvPr/>
        </p:nvSpPr>
        <p:spPr>
          <a:xfrm>
            <a:off x="9826520" y="1700784"/>
            <a:ext cx="953987" cy="1229868"/>
          </a:xfrm>
          <a:prstGeom prst="rect">
            <a:avLst/>
          </a:prstGeom>
          <a:solidFill>
            <a:srgbClr val="F7F3E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9" name="Rectangle 7008"/>
          <p:cNvSpPr/>
          <p:nvPr/>
        </p:nvSpPr>
        <p:spPr>
          <a:xfrm>
            <a:off x="10780507" y="1700784"/>
            <a:ext cx="953987" cy="1229868"/>
          </a:xfrm>
          <a:prstGeom prst="rect">
            <a:avLst/>
          </a:prstGeom>
          <a:solidFill>
            <a:srgbClr val="82BA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0" name="Rectangle 7009"/>
          <p:cNvSpPr/>
          <p:nvPr/>
        </p:nvSpPr>
        <p:spPr>
          <a:xfrm>
            <a:off x="8872532" y="2930652"/>
            <a:ext cx="953987" cy="1229868"/>
          </a:xfrm>
          <a:prstGeom prst="rect">
            <a:avLst/>
          </a:prstGeom>
          <a:solidFill>
            <a:srgbClr val="82BA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1" name="Rectangle 7010"/>
          <p:cNvSpPr/>
          <p:nvPr/>
        </p:nvSpPr>
        <p:spPr>
          <a:xfrm>
            <a:off x="9826520" y="2930652"/>
            <a:ext cx="953987" cy="1229868"/>
          </a:xfrm>
          <a:prstGeom prst="rect">
            <a:avLst/>
          </a:prstGeom>
          <a:solidFill>
            <a:srgbClr val="000F4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2" name="Rectangle 7011"/>
          <p:cNvSpPr/>
          <p:nvPr/>
        </p:nvSpPr>
        <p:spPr>
          <a:xfrm>
            <a:off x="10780507" y="2930652"/>
            <a:ext cx="953987" cy="1229868"/>
          </a:xfrm>
          <a:prstGeom prst="rect">
            <a:avLst/>
          </a:prstGeom>
          <a:solidFill>
            <a:srgbClr val="F7F3E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3" name="Rectangle 7012"/>
          <p:cNvSpPr/>
          <p:nvPr/>
        </p:nvSpPr>
        <p:spPr>
          <a:xfrm>
            <a:off x="8872532" y="4160520"/>
            <a:ext cx="953987" cy="1229868"/>
          </a:xfrm>
          <a:prstGeom prst="rect">
            <a:avLst/>
          </a:prstGeom>
          <a:solidFill>
            <a:srgbClr val="F7F3E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4" name="Rectangle 7013"/>
          <p:cNvSpPr/>
          <p:nvPr/>
        </p:nvSpPr>
        <p:spPr>
          <a:xfrm>
            <a:off x="9826520" y="4160520"/>
            <a:ext cx="953987" cy="1229868"/>
          </a:xfrm>
          <a:prstGeom prst="rect">
            <a:avLst/>
          </a:prstGeom>
          <a:solidFill>
            <a:srgbClr val="82BA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5" name="Rectangle 7014"/>
          <p:cNvSpPr/>
          <p:nvPr/>
        </p:nvSpPr>
        <p:spPr>
          <a:xfrm>
            <a:off x="10780507" y="4160520"/>
            <a:ext cx="953987" cy="1229868"/>
          </a:xfrm>
          <a:prstGeom prst="rect">
            <a:avLst/>
          </a:prstGeom>
          <a:solidFill>
            <a:srgbClr val="000F4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6" name="TextBox 7015"/>
          <p:cNvSpPr txBox="1"/>
          <p:nvPr/>
        </p:nvSpPr>
        <p:spPr>
          <a:xfrm>
            <a:off x="8872532" y="1408176"/>
            <a:ext cx="953987" cy="292608"/>
          </a:xfrm>
          <a:prstGeom prst="rect">
            <a:avLst/>
          </a:prstGeom>
          <a:noFill/>
        </p:spPr>
        <p:txBody>
          <a:bodyPr wrap="square" anchor="b" lIns="0" rIns="0" tIns="0" bIns="0">
            <a:spAutoFit/>
          </a:bodyPr>
          <a:lstStyle/>
          <a:p>
            <a:pPr algn="ctr"/>
            <a:r>
              <a:rPr sz="1200" b="0">
                <a:solidFill>
                  <a:srgbClr val="000F47"/>
                </a:solidFill>
                <a:latin typeface="Noto Sans"/>
              </a:rPr>
              <a:t>Early</a:t>
            </a:r>
          </a:p>
        </p:txBody>
      </p:sp>
      <p:sp>
        <p:nvSpPr>
          <p:cNvPr id="7017" name="TextBox 7016"/>
          <p:cNvSpPr txBox="1"/>
          <p:nvPr/>
        </p:nvSpPr>
        <p:spPr>
          <a:xfrm>
            <a:off x="9826520" y="1408176"/>
            <a:ext cx="953987" cy="292608"/>
          </a:xfrm>
          <a:prstGeom prst="rect">
            <a:avLst/>
          </a:prstGeom>
          <a:noFill/>
        </p:spPr>
        <p:txBody>
          <a:bodyPr wrap="square" anchor="b" lIns="0" rIns="0" tIns="0" bIns="0">
            <a:spAutoFit/>
          </a:bodyPr>
          <a:lstStyle/>
          <a:p>
            <a:pPr algn="ctr"/>
            <a:r>
              <a:rPr sz="1200" b="0">
                <a:solidFill>
                  <a:srgbClr val="000F47"/>
                </a:solidFill>
                <a:latin typeface="Noto Sans"/>
              </a:rPr>
              <a:t>Late</a:t>
            </a:r>
          </a:p>
        </p:txBody>
      </p:sp>
      <p:sp>
        <p:nvSpPr>
          <p:cNvPr id="7018" name="TextBox 7017"/>
          <p:cNvSpPr txBox="1"/>
          <p:nvPr/>
        </p:nvSpPr>
        <p:spPr>
          <a:xfrm>
            <a:off x="10780507" y="1408176"/>
            <a:ext cx="953987" cy="292608"/>
          </a:xfrm>
          <a:prstGeom prst="rect">
            <a:avLst/>
          </a:prstGeom>
          <a:noFill/>
        </p:spPr>
        <p:txBody>
          <a:bodyPr wrap="square" anchor="b" lIns="0" rIns="0" tIns="0" bIns="0">
            <a:spAutoFit/>
          </a:bodyPr>
          <a:lstStyle/>
          <a:p>
            <a:pPr algn="ctr"/>
            <a:r>
              <a:rPr sz="1200" b="0">
                <a:solidFill>
                  <a:srgbClr val="000F47"/>
                </a:solidFill>
                <a:latin typeface="Noto Sans"/>
              </a:rPr>
              <a:t>Night</a:t>
            </a:r>
          </a:p>
        </p:txBody>
      </p:sp>
      <p:sp>
        <p:nvSpPr>
          <p:cNvPr id="7019" name="TextBox 7018"/>
          <p:cNvSpPr txBox="1"/>
          <p:nvPr/>
        </p:nvSpPr>
        <p:spPr>
          <a:xfrm>
            <a:off x="8003852" y="1700784"/>
            <a:ext cx="777240" cy="1229868"/>
          </a:xfrm>
          <a:prstGeom prst="rect">
            <a:avLst/>
          </a:prstGeom>
          <a:noFill/>
        </p:spPr>
        <p:txBody>
          <a:bodyPr wrap="square" anchor="ctr" lIns="0" rIns="0" tIns="0" bIns="0">
            <a:spAutoFit/>
          </a:bodyPr>
          <a:lstStyle/>
          <a:p>
            <a:pPr algn="r"/>
            <a:r>
              <a:rPr sz="1200" b="0">
                <a:solidFill>
                  <a:srgbClr val="000F47"/>
                </a:solidFill>
                <a:latin typeface="Noto Sans"/>
              </a:rPr>
              <a:t>Site A</a:t>
            </a:r>
          </a:p>
        </p:txBody>
      </p:sp>
      <p:sp>
        <p:nvSpPr>
          <p:cNvPr id="7020" name="TextBox 7019"/>
          <p:cNvSpPr txBox="1"/>
          <p:nvPr/>
        </p:nvSpPr>
        <p:spPr>
          <a:xfrm>
            <a:off x="8003852" y="2930652"/>
            <a:ext cx="777240" cy="1229868"/>
          </a:xfrm>
          <a:prstGeom prst="rect">
            <a:avLst/>
          </a:prstGeom>
          <a:noFill/>
        </p:spPr>
        <p:txBody>
          <a:bodyPr wrap="square" anchor="ctr" lIns="0" rIns="0" tIns="0" bIns="0">
            <a:spAutoFit/>
          </a:bodyPr>
          <a:lstStyle/>
          <a:p>
            <a:pPr algn="r"/>
            <a:r>
              <a:rPr sz="1200" b="0">
                <a:solidFill>
                  <a:srgbClr val="000F47"/>
                </a:solidFill>
                <a:latin typeface="Noto Sans"/>
              </a:rPr>
              <a:t>Site B</a:t>
            </a:r>
          </a:p>
        </p:txBody>
      </p:sp>
      <p:sp>
        <p:nvSpPr>
          <p:cNvPr id="7021" name="TextBox 7020"/>
          <p:cNvSpPr txBox="1"/>
          <p:nvPr/>
        </p:nvSpPr>
        <p:spPr>
          <a:xfrm>
            <a:off x="8003852" y="4160520"/>
            <a:ext cx="777240" cy="1229868"/>
          </a:xfrm>
          <a:prstGeom prst="rect">
            <a:avLst/>
          </a:prstGeom>
          <a:noFill/>
        </p:spPr>
        <p:txBody>
          <a:bodyPr wrap="square" anchor="ctr" lIns="0" rIns="0" tIns="0" bIns="0">
            <a:spAutoFit/>
          </a:bodyPr>
          <a:lstStyle/>
          <a:p>
            <a:pPr algn="r"/>
            <a:r>
              <a:rPr sz="1200" b="0">
                <a:solidFill>
                  <a:srgbClr val="000F47"/>
                </a:solidFill>
                <a:latin typeface="Noto Sans"/>
              </a:rPr>
              <a:t>Site C</a:t>
            </a:r>
          </a:p>
        </p:txBody>
      </p:sp>
      <p:sp>
        <p:nvSpPr>
          <p:cNvPr id="7022" name="Rectangle 7021"/>
          <p:cNvSpPr/>
          <p:nvPr/>
        </p:nvSpPr>
        <p:spPr>
          <a:xfrm>
            <a:off x="8872532" y="5637276"/>
            <a:ext cx="146304" cy="146304"/>
          </a:xfrm>
          <a:prstGeom prst="rect">
            <a:avLst/>
          </a:prstGeom>
          <a:solidFill>
            <a:srgbClr val="F7F3E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3" name="TextBox 7022"/>
          <p:cNvSpPr txBox="1"/>
          <p:nvPr/>
        </p:nvSpPr>
        <p:spPr>
          <a:xfrm>
            <a:off x="9091988" y="5582412"/>
            <a:ext cx="649224" cy="274320"/>
          </a:xfrm>
          <a:prstGeom prst="rect">
            <a:avLst/>
          </a:prstGeom>
          <a:noFill/>
        </p:spPr>
        <p:txBody>
          <a:bodyPr wrap="square" anchor="ctr" lIns="0" rIns="0" tIns="0" bIns="0">
            <a:spAutoFit/>
          </a:bodyPr>
          <a:lstStyle/>
          <a:p>
            <a:pPr algn="l"/>
            <a:r>
              <a:rPr sz="1200" b="0">
                <a:solidFill>
                  <a:srgbClr val="000F47"/>
                </a:solidFill>
                <a:latin typeface="Noto Sans"/>
              </a:rPr>
              <a:t>1–1</a:t>
            </a:r>
          </a:p>
        </p:txBody>
      </p:sp>
      <p:sp>
        <p:nvSpPr>
          <p:cNvPr id="7024" name="Rectangle 7023"/>
          <p:cNvSpPr/>
          <p:nvPr/>
        </p:nvSpPr>
        <p:spPr>
          <a:xfrm>
            <a:off x="9796076" y="5637276"/>
            <a:ext cx="146304" cy="146304"/>
          </a:xfrm>
          <a:prstGeom prst="rect">
            <a:avLst/>
          </a:prstGeom>
          <a:solidFill>
            <a:srgbClr val="CEEC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5" name="TextBox 7024"/>
          <p:cNvSpPr txBox="1"/>
          <p:nvPr/>
        </p:nvSpPr>
        <p:spPr>
          <a:xfrm>
            <a:off x="10015532" y="5582412"/>
            <a:ext cx="649224" cy="274320"/>
          </a:xfrm>
          <a:prstGeom prst="rect">
            <a:avLst/>
          </a:prstGeom>
          <a:noFill/>
        </p:spPr>
        <p:txBody>
          <a:bodyPr wrap="square" anchor="ctr" lIns="0" rIns="0" tIns="0" bIns="0">
            <a:spAutoFit/>
          </a:bodyPr>
          <a:lstStyle/>
          <a:p>
            <a:pPr algn="l"/>
            <a:r>
              <a:rPr sz="1200" b="0">
                <a:solidFill>
                  <a:srgbClr val="000F47"/>
                </a:solidFill>
                <a:latin typeface="Noto Sans"/>
              </a:rPr>
              <a:t>1–2</a:t>
            </a:r>
          </a:p>
        </p:txBody>
      </p:sp>
      <p:sp>
        <p:nvSpPr>
          <p:cNvPr id="7026" name="Rectangle 7025"/>
          <p:cNvSpPr/>
          <p:nvPr/>
        </p:nvSpPr>
        <p:spPr>
          <a:xfrm>
            <a:off x="10719620" y="5637276"/>
            <a:ext cx="146304" cy="146304"/>
          </a:xfrm>
          <a:prstGeom prst="rect">
            <a:avLst/>
          </a:prstGeom>
          <a:solidFill>
            <a:srgbClr val="82BA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7" name="TextBox 7026"/>
          <p:cNvSpPr txBox="1"/>
          <p:nvPr/>
        </p:nvSpPr>
        <p:spPr>
          <a:xfrm>
            <a:off x="10939076" y="5582412"/>
            <a:ext cx="649224" cy="274320"/>
          </a:xfrm>
          <a:prstGeom prst="rect">
            <a:avLst/>
          </a:prstGeom>
          <a:noFill/>
        </p:spPr>
        <p:txBody>
          <a:bodyPr wrap="square" anchor="ctr" lIns="0" rIns="0" tIns="0" bIns="0">
            <a:spAutoFit/>
          </a:bodyPr>
          <a:lstStyle/>
          <a:p>
            <a:pPr algn="l"/>
            <a:r>
              <a:rPr sz="1200" b="0">
                <a:solidFill>
                  <a:srgbClr val="000F47"/>
                </a:solidFill>
                <a:latin typeface="Noto Sans"/>
              </a:rPr>
              <a:t>2–2</a:t>
            </a:r>
          </a:p>
        </p:txBody>
      </p:sp>
      <p:sp>
        <p:nvSpPr>
          <p:cNvPr id="7028" name="Rectangle 7027"/>
          <p:cNvSpPr/>
          <p:nvPr/>
        </p:nvSpPr>
        <p:spPr>
          <a:xfrm>
            <a:off x="11643164" y="5637276"/>
            <a:ext cx="146304" cy="146304"/>
          </a:xfrm>
          <a:prstGeom prst="rect">
            <a:avLst/>
          </a:prstGeom>
          <a:solidFill>
            <a:srgbClr val="1B3A7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9" name="TextBox 7028"/>
          <p:cNvSpPr txBox="1"/>
          <p:nvPr/>
        </p:nvSpPr>
        <p:spPr>
          <a:xfrm>
            <a:off x="11862620" y="5582412"/>
            <a:ext cx="649224" cy="274320"/>
          </a:xfrm>
          <a:prstGeom prst="rect">
            <a:avLst/>
          </a:prstGeom>
          <a:noFill/>
        </p:spPr>
        <p:txBody>
          <a:bodyPr wrap="square" anchor="ctr" lIns="0" rIns="0" tIns="0" bIns="0">
            <a:spAutoFit/>
          </a:bodyPr>
          <a:lstStyle/>
          <a:p>
            <a:pPr algn="l"/>
            <a:r>
              <a:rPr sz="1200" b="0">
                <a:solidFill>
                  <a:srgbClr val="000F47"/>
                </a:solidFill>
                <a:latin typeface="Noto Sans"/>
              </a:rPr>
              <a:t>2–3</a:t>
            </a:r>
          </a:p>
        </p:txBody>
      </p:sp>
      <p:sp>
        <p:nvSpPr>
          <p:cNvPr id="7030" name="Rectangle 7029"/>
          <p:cNvSpPr/>
          <p:nvPr/>
        </p:nvSpPr>
        <p:spPr>
          <a:xfrm>
            <a:off x="12566708" y="5637276"/>
            <a:ext cx="146304" cy="146304"/>
          </a:xfrm>
          <a:prstGeom prst="rect">
            <a:avLst/>
          </a:prstGeom>
          <a:solidFill>
            <a:srgbClr val="000F4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1" name="TextBox 7030"/>
          <p:cNvSpPr txBox="1"/>
          <p:nvPr/>
        </p:nvSpPr>
        <p:spPr>
          <a:xfrm>
            <a:off x="12786164" y="5582412"/>
            <a:ext cx="649224" cy="274320"/>
          </a:xfrm>
          <a:prstGeom prst="rect">
            <a:avLst/>
          </a:prstGeom>
          <a:noFill/>
        </p:spPr>
        <p:txBody>
          <a:bodyPr wrap="square" anchor="ctr" lIns="0" rIns="0" tIns="0" bIns="0">
            <a:spAutoFit/>
          </a:bodyPr>
          <a:lstStyle/>
          <a:p>
            <a:pPr algn="l"/>
            <a:r>
              <a:rPr sz="1200" b="0">
                <a:solidFill>
                  <a:srgbClr val="000F47"/>
                </a:solidFill>
                <a:latin typeface="Noto Sans"/>
              </a:rPr>
              <a:t>3–3</a:t>
            </a:r>
          </a:p>
        </p:txBody>
      </p:sp>
      <p:sp>
        <p:nvSpPr>
          <p:cNvPr id="7032" name="Footnote"/>
          <p:cNvSpPr txBox="1"/>
          <p:nvPr/>
        </p:nvSpPr>
        <p:spPr>
          <a:xfrm>
            <a:off x="457200" y="6185916"/>
            <a:ext cx="11277295" cy="123444"/>
          </a:xfrm>
          <a:prstGeom prst="rect">
            <a:avLst/>
          </a:prstGeom>
          <a:noFill/>
        </p:spPr>
        <p:txBody>
          <a:bodyPr lIns="0" tIns="0" rIns="0" bIns="0" rtlCol="0" anchor="b">
            <a:spAutoFit/>
          </a:bodyPr>
          <a:lstStyle/>
          <a:p>
            <a:pPr algn="l"/>
            <a:r>
              <a:rPr sz="800">
                <a:solidFill>
                  <a:schemeClr val="tx1"/>
                </a:solidFill>
                <a:ea typeface="+mn-lt"/>
                <a:cs typeface="+mn-lt"/>
              </a:rPr>
              <a:t>Source: illustrative test data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9144000" cy="4626864"/>
          </a:xfrm>
          <a:prstGeom prst="rect">
            <a:avLst/>
          </a:prstGeom>
          <a:noFill/>
        </p:spPr>
        <p:txBody>
          <a:bodyPr wrap="square" anchor="ctr" lIns="0" rIns="0" tIns="0" bIns="0">
            <a:spAutoFit/>
          </a:bodyPr>
          <a:lstStyle/>
          <a:p>
            <a:pPr algn="l" marL="228600" indent="-228600">
              <a:spcAft>
                <a:spcPts val="1200"/>
              </a:spcAft>
            </a:pPr>
            <a:r>
              <a:rPr sz="5400" b="0">
                <a:solidFill>
                  <a:schemeClr val="tx1"/>
                </a:solidFill>
                <a:latin typeface="+mj-lt"/>
                <a:ea typeface="+mj-lt"/>
                <a:cs typeface="+mj-lt"/>
              </a:rPr>
              <a:t>“The consolidation paid for itself before the second wave even started.”</a:t>
            </a:r>
          </a:p>
          <a:p>
            <a:pPr algn="l" marL="228600" indent="0">
              <a:spcBef>
                <a:spcPts val="1200"/>
              </a:spcBef>
            </a:pPr>
            <a:r>
              <a:rPr sz="1200" b="0">
                <a:solidFill>
                  <a:schemeClr val="tx1"/>
                </a:solidFill>
                <a:latin typeface="+mn-lt"/>
                <a:ea typeface="+mn-lt"/>
                <a:cs typeface="+mn-lt"/>
              </a:rPr>
              <a:t>J. Example</a:t>
            </a:r>
          </a:p>
          <a:p>
            <a:pPr algn="l" marL="228600" indent="0"/>
            <a:r>
              <a:rPr sz="1200" b="0">
                <a:solidFill>
                  <a:schemeClr val="tx1"/>
                </a:solidFill>
                <a:latin typeface="+mn-lt"/>
                <a:ea typeface="+mn-lt"/>
                <a:cs typeface="+mn-lt"/>
              </a:rPr>
              <a:t>COO</a:t>
            </a:r>
          </a:p>
          <a:p>
            <a:pPr algn="l" marL="228600" indent="0"/>
            <a:r>
              <a:rPr sz="1200" b="0">
                <a:solidFill>
                  <a:schemeClr val="tx1"/>
                </a:solidFill>
                <a:latin typeface="+mn-lt"/>
                <a:ea typeface="+mn-lt"/>
                <a:cs typeface="+mn-lt"/>
              </a:rPr>
              <a:t>Frankfurt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Jane example</a:t>
            </a:r>
          </a:p>
        </p:txBody>
      </p:sp>
      <p:sp>
        <p:nvSpPr>
          <p:cNvPr id="3" name="Text Placeholder 2"/>
          <p:cNvSpPr>
            <a:spLocks noGrp="1"/>
          </p:cNvSpPr>
          <p:nvPr>
            <p:ph type="body" idx="10" sz="quarter"/>
          </p:nvPr>
        </p:nvSpPr>
        <p:spPr/>
        <p:txBody>
          <a:bodyPr wrap="square"/>
          <a:lstStyle/>
          <a:p>
            <a:pPr marL="0" indent="0">
              <a:buNone/>
            </a:pPr>
            <a:r>
              <a:t>Program lead</a:t>
            </a:r>
          </a:p>
        </p:txBody>
      </p:sp>
      <p:pic>
        <p:nvPicPr>
          <p:cNvPr id="4" name="IMAGE:image" descr="Swappable image 'image'. Right-click &gt; Change Picture to replace; crop/position preserved."/>
          <p:cNvPicPr>
            <a:picLocks noGrp="1" noChangeAspect="1"/>
          </p:cNvPicPr>
          <p:nvPr>
            <p:ph type="pic" idx="20" sz="quarter"/>
          </p:nvPr>
        </p:nvPicPr>
        <p:blipFill>
          <a:blip r:embed="rId2"/>
          <a:srcRect/>
          <a:stretch>
            <a:fillRect/>
          </a:stretch>
        </p:blipFill>
        <p:spPr/>
      </p:pic>
      <p:sp>
        <p:nvSpPr>
          <p:cNvPr id="5" name="Content Placeholder 4"/>
          <p:cNvSpPr>
            <a:spLocks noGrp="1"/>
          </p:cNvSpPr>
          <p:nvPr>
            <p:ph idx="11"/>
          </p:nvPr>
        </p:nvSpPr>
        <p:spPr/>
        <p:txBody>
          <a:bodyPr wrap="square"/>
          <a:lstStyle/>
          <a:p>
            <a:pPr lvl="4"/>
            <a:r>
              <a:t>Background</a:t>
            </a:r>
          </a:p>
          <a:p>
            <a:pPr lvl="1"/>
            <a:r>
              <a:t>Led three plant migrations since 2022</a:t>
            </a:r>
          </a:p>
          <a:p>
            <a:pPr lvl="1"/>
            <a:r>
              <a:t>Ten years in procurement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Approve the two framework contracts to lock in $2.4m</a:t>
            </a:r>
          </a:p>
        </p:txBody>
      </p:sp>
      <p:sp>
        <p:nvSpPr>
          <p:cNvPr id="3" name="Content Placeholder 2"/>
          <p:cNvSpPr>
            <a:spLocks noGrp="1"/>
          </p:cNvSpPr>
          <p:nvPr>
            <p:ph idx="11"/>
          </p:nvPr>
        </p:nvSpPr>
        <p:spPr>
          <a:xfrm>
            <a:off x="457200" y="1409700"/>
            <a:ext cx="11277600" cy="4213860"/>
          </a:xfrm>
        </p:spPr>
        <p:txBody>
          <a:bodyPr wrap="square"/>
          <a:lstStyle/>
          <a:p>
            <a:pPr lvl="1"/>
            <a:r>
              <a:t>Award suppliers A and B in Q3 as recommended</a:t>
            </a:r>
          </a:p>
          <a:p>
            <a:pPr lvl="1"/>
            <a:r>
              <a:t>Start wave 1 in Q4 with the defined gate reviews</a:t>
            </a:r>
          </a:p>
          <a:p>
            <a:pPr lvl="1"/>
            <a:r>
              <a:t>Report savings against the bridge every quarter</a:t>
            </a:r>
          </a:p>
        </p:txBody>
      </p:sp>
      <p:graphicFrame>
        <p:nvGraphicFramePr>
          <p:cNvPr id="4" name="Conclusion"/>
          <p:cNvGraphicFramePr>
            <a:graphicFrameLocks noGrp="1"/>
          </p:cNvGraphicFramePr>
          <p:nvPr/>
        </p:nvGraphicFramePr>
        <p:xfrm>
          <a:off x="457200" y="5806440"/>
          <a:ext cx="11277295" cy="502920"/>
        </p:xfrm>
        <a:graphic>
          <a:graphicData uri="http://schemas.openxmlformats.org/drawingml/2006/table">
            <a:tbl>
              <a:tblPr firstRow="1" bandRow="1">
                <a:tableStyleId>{5C22544A-7EE6-4342-B048-85BDC9FD1C3A}</a:tableStyleId>
              </a:tblPr>
              <a:tblGrid>
                <a:gridCol w="11277295"/>
              </a:tblGrid>
              <a:tr h="502920">
                <a:tc>
                  <a:txBody>
                    <a:bodyPr/>
                    <a:lstStyle/>
                    <a:p>
                      <a:pPr algn="l"/>
                      <a:r>
                        <a:rPr b="0" i="0" sz="1800">
                          <a:solidFill>
                            <a:schemeClr val="tx1"/>
                          </a:solidFill>
                          <a:latin typeface="+mj-lt"/>
                          <a:ea typeface="+mj-lt"/>
                          <a:cs typeface="+mj-lt"/>
                        </a:rPr>
                        <a:t>Decision requested: sign-off on both contracts today.</a:t>
                      </a:r>
                    </a:p>
                  </a:txBody>
                  <a:tcPr anchor="b" marT="0" marB="0" marL="137160" marR="137160">
                    <a:lnL w="9525" cap="flat" cmpd="sng" algn="ctr">
                      <a:solidFill>
                        <a:srgbClr val="FFBF00"/>
                      </a:solidFill>
                      <a:prstDash val="solid"/>
                      <a:round/>
                    </a:lnL>
                    <a:lnT w="9525" cap="flat" cmpd="sng" algn="ctr">
                      <a:solidFill>
                        <a:schemeClr val="tx1">
                          <a:alpha val="0"/>
                        </a:schemeClr>
                      </a:solidFill>
                      <a:prstDash val="solid"/>
                      <a:round/>
                    </a:lnT>
                    <a:lnB w="9525" cap="flat" cmpd="sng" algn="ctr">
                      <a:noFill/>
                    </a:lnB>
                    <a:noFill/>
                  </a:tcPr>
                </a:tc>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TP_TOOLSPOWERPOINTCONFIGV2" val="{&quot;ConfigName&quot;:&quot;OW 2026&quot;,&quot;BracketAndBrace&quot;:{&quot;Brace&quot;:{&quot;Line&quot;:{&quot;Visible&quot;:true,&quot;Color&quot;:[{&quot;Source&quot;:2,&quot;Data&quot;:&quot;msoThemeColorText1&quot;}],&quot;Width&quot;:0.75},&quot;Width&quot;:14.4,&quot;Height&quot;:144.0,&quot;Adjustments&quot;:[0.5],&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false,&quot;Color&quot;:[{&quot;Source&quot;:0,&quot;Data&quot;:&quot;Neutral 250&quot;},{&quot;Source&quot;:1,&quot;Data&quot;:&quot;0xEEF3F7&quot;}],&quot;Width&quot;:0.75},&quot;FillColor&quot;:[{&quot;Source&quot;:0,&quot;Data&quot;:&quot;Neutral 250&quot;},{&quot;Source&quot;:1,&quot;Data&quot;:&quot;0xEEF3F7&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6&quot;,&quot;Font&quot;:{&quot;Color&quot;:[{&quot;Source&quot;:2,&quot;Data&quot;:&quot;msoThemeColorBackground1&quot;}],&quot;Name&quot;:&quot;+mn-lt&quot;,&quot;Style&quot;:0,&quot;Size&quot;:10},&quot;FillColor&quot;:[{&quot;Source&quot;:2,&quot;Data&quot;:&quot;msoThemeColorText1&quot;}],&quot;Line&quot;:{&quot;Visible&quot;:true,&quot;Color&quot;:[{&quot;Source&quot;:2,&quot;Data&quot;:&quot;msoThemeColorText1&quot;}],&quot;Width&quot;:0.75}},&quot;CrossTick&quot;:{&quot;Cross&quot;:{&quot;Visible&quot;:true,&quot;Color&quot;:[{&quot;Source&quot;:0,&quot;Data&quot;:&quot;Warning Red&quot;},{&quot;Source&quot;:2,&quot;Data&quot;:&quot;msoThemeColorText1&quot;}],&quot;Width&quot;:1.5},&quot;Tick&quot;:{&quot;Visible&quot;:true,&quot;Color&quot;:[{&quot;Source&quot;:0,&quot;Data&quot;:&quot;Green 750&quot;},{&quot;Source&quot;:2,&quot;Data&quot;:&quot;msoThemeColorText1&quot;}],&quot;Width&quot;:1.5}},&quot;Highlight&quot;:{&quot;Line&quot;:{&quot;Visible&quot;:true,&quot;Color&quot;:[{&quot;Source&quot;:0,&quot;Data&quot;:&quot;Gold 750&quot;},{&quot;Source&quot;:1,&quot;Data&quot;:&quot;0xFFBF00&quot;}],&quot;Width&quot;:1.5},&quot;Font&quot;:{&quot;Color&quot;:[{&quot;Source&quot;:0,&quot;Data&quot;:&quot;Gold 750&quot;},{&quot;Source&quot;:1,&quot;Data&quot;:&quot;0xFFBF00&quot;}],&quot;Name&quot;:&quot;+mn-lt&quot;,&quot;Style&quot;:1,&quot;Size&quot;:10},&quot;Alignment&quot;:1,&quot;VerticalAnchor&quot;:1},&quot;Title&quot;:{&quot;SubTitle&quot;:{&quot;Font&quot;:{&quot;Color&quot;:[{&quot;Source&quot;:2,&quot;Data&quot;:&quot;msoThemeColorText1&quot;}],&quot;Name&quot;:&quot;+mn-lt&quot;,&quot;Style&quot;:0,&quot;Size&quot;:14},&quot;AllCaps&quot;:false}},&quot;Headings&quot;:{&quot;Heading&quot;:{&quot;Font&quot;:{&quot;Color&quot;:[{&quot;Source&quot;:2,&quot;Data&quot;:&quot;msoThemeColorText1&quot;}],&quot;Name&quot;:&quot;+mn-lt&quot;,&quot;Style&quot;:2,&quot;Size&quot;:12}},&quot;Subheading&quot;:{&quot;Font&quot;:{&quot;Color&quot;:[{&quot;Source&quot;:2,&quot;Data&quot;:&quot;msoThemeColorText1&quot;}],&quot;Name&quot;:&quot;+mn-lt&quot;,&quot;Style&quot;:0,&quot;Size&quot;:12}}},&quot;Conclusion&quot;:{&quot;Fill&quot;:{&quot;FillType&quot;:0,&quot;Color&quot;:[]},&quot;VisibleBorders&quot;:[2],&quot;Line&quot;:{&quot;Visible&quot;:true,&quot;Color&quot;:[{&quot;Source&quot;:0,&quot;Data&quot;:&quot;Gold 750&quot;},{&quot;Source&quot;:1,&quot;Data&quot;:&quot;0xFFBF00&quot;}],&quot;Width&quot;:1.5},&quot;Font&quot;:{&quot;Color&quot;:[{&quot;Source&quot;:2,&quot;Data&quot;:&quot;msoThemeColorText1&quot;}],&quot;Name&quot;:&quot;+mj-lt&quot;,&quot;Style&quot;:0,&quot;Size&quot;:18}},&quot;FootNote&quot;:{&quot;Font&quot;:{&quot;Color&quot;:[{&quot;Source&quot;:2,&quot;Data&quot;:&quot;msoThemeColorText1&quot;}],&quot;Name&quot;:&quot;+mn-lt&quot;,&quot;Style&quot;:0,&quot;Size&quot;:8},&quot;VerticalAnchor&quot;:4},&quot;Bullet&quot;:{&quot;List1Level&quot;:2,&quot;List2Level&quot;:3,&quot;List3Level&quot;:4,&quot;List4Level&quot;:5},&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Text1&quot;}],&quot;Width&quot;:0.75},&quot;ArcFill&quot;:[{&quot;Source&quot;:2,&quot;Data&quot;:&quot;msoThemeColorText1&quot;}],&quot;BallFill&quot;:[{&quot;Source&quot;:2,&quot;Data&quot;:&quot;msoThemeColorBackground1&quot;}]},&quot;Label&quot;:{&quot;Font&quot;:{&quot;Color&quot;:[{&quot;Source&quot;:2,&quot;Data&quot;:&quot;msoThemeColorAccent1&quot;}],&quot;Name&quot;:&quot;+mn-lt&quot;,&quot;Style&quot;:0,&quot;Size&quot;:8},&quot;Line&quot;:{&quot;Visible&quot;:true,&quot;Color&quot;:[{&quot;Source&quot;:2,&quot;Data&quot;:&quot;msoThemeColorAccent1&quot;}],&quot;Width&quot;:0.75},&quot;Fill&quot;:{&quot;FillType&quot;:0,&quot;Color&quot;:[]}},&quot;Ghost&quot;:{&quot;Font&quot;:{&quot;Color&quot;:[{&quot;Source&quot;:0,&quot;Data&quot;:&quot;Neutral 500&quot;},{&quot;Source&quot;:1,&quot;Data&quot;:&quot;0xB1B6B9&quot;}],&quot;Name&quot;:&quot;+mn-lt&quot;,&quot;Style&quot;:0,&quot;Size&quot;:10}}}"/>
  <p:tag name="DTP_TOOLSPOWERPOINTCONFIG" val="{&quot;ConfigName&quot;:&quot;OW 2026&quot;,&quot;BracketAndBrace&quot;:{&quot;Brace&quot;:{&quot;Line&quot;:{&quot;Visible&quot;:true,&quot;Color&quot;:[{&quot;Source&quot;:2,&quot;Data&quot;:&quot;msoThemeColorText1&quot;}],&quot;Width&quot;:0.75},&quot;Width&quot;:14.4,&quot;Height&quot;:144.0,&quot;Adjustments&quot;:[1.0],&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false,&quot;Color&quot;:[{&quot;Source&quot;:0,&quot;Data&quot;:&quot;Neutral 250&quot;},{&quot;Source&quot;:1,&quot;Data&quot;:&quot;0xEEF3F7&quot;}],&quot;Width&quot;:0.75},&quot;FillColor&quot;:[{&quot;Source&quot;:0,&quot;Data&quot;:&quot;Neutral 250&quot;},{&quot;Source&quot;:1,&quot;Data&quot;:&quot;0xEEF3F7&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6&quot;,&quot;Font&quot;:{&quot;Color&quot;:[{&quot;Source&quot;:2,&quot;Data&quot;:&quot;msoThemeColorBackground1&quot;}],&quot;Name&quot;:&quot;+mn-lt&quot;,&quot;Style&quot;:0,&quot;Size&quot;:10},&quot;FillColor&quot;:[{&quot;Source&quot;:2,&quot;Data&quot;:&quot;msoThemeColorText1&quot;}],&quot;Line&quot;:{&quot;Visible&quot;:true,&quot;Color&quot;:[{&quot;Source&quot;:2,&quot;Data&quot;:&quot;msoThemeColorText1&quot;}],&quot;Width&quot;:0.75}},&quot;CrossTick&quot;:{&quot;Cross&quot;:{&quot;Visible&quot;:true,&quot;Color&quot;:[{&quot;Source&quot;:0,&quot;Data&quot;:&quot;Warning Red&quot;},{&quot;Source&quot;:2,&quot;Data&quot;:&quot;msoThemeColorText1&quot;}],&quot;Width&quot;:1.5},&quot;Tick&quot;:{&quot;Visible&quot;:true,&quot;Color&quot;:[{&quot;Source&quot;:0,&quot;Data&quot;:&quot;Green 750&quot;},{&quot;Source&quot;:2,&quot;Data&quot;:&quot;msoThemeColorText1&quot;}],&quot;Width&quot;:1.5}},&quot;Highlight&quot;:{&quot;Line&quot;:{&quot;Visible&quot;:true,&quot;Color&quot;:[{&quot;Source&quot;:0,&quot;Data&quot;:&quot;Gold 750&quot;},{&quot;Source&quot;:1,&quot;Data&quot;:&quot;0xFFBF00&quot;}],&quot;Width&quot;:1.5},&quot;Font&quot;:{&quot;Color&quot;:[{&quot;Source&quot;:0,&quot;Data&quot;:&quot;Gold 750&quot;},{&quot;Source&quot;:1,&quot;Data&quot;:&quot;0xFFBF00&quot;}],&quot;Name&quot;:&quot;+mn-lt&quot;,&quot;Style&quot;:1,&quot;Size&quot;:10},&quot;Alignment&quot;:1,&quot;VerticalAnchor&quot;:1},&quot;Title&quot;:{&quot;SubTitle&quot;:{&quot;Font&quot;:{&quot;Color&quot;:[{&quot;Source&quot;:2,&quot;Data&quot;:&quot;msoThemeColorText1&quot;}],&quot;Name&quot;:&quot;+mn-lt&quot;,&quot;Style&quot;:0,&quot;Size&quot;:14},&quot;AllCaps&quot;:false}},&quot;Headings&quot;:{&quot;Heading&quot;:{&quot;Font&quot;:{&quot;Color&quot;:[{&quot;Source&quot;:2,&quot;Data&quot;:&quot;msoThemeColorText1&quot;}],&quot;Name&quot;:&quot;+mn-lt&quot;,&quot;Style&quot;:2,&quot;Size&quot;:12}},&quot;Subheading&quot;:{&quot;Font&quot;:{&quot;Color&quot;:[{&quot;Source&quot;:2,&quot;Data&quot;:&quot;msoThemeColorText1&quot;}],&quot;Name&quot;:&quot;+mn-lt&quot;,&quot;Style&quot;:0,&quot;Size&quot;:12}}},&quot;Conclusion&quot;:{&quot;Fill&quot;:{&quot;FillType&quot;:0,&quot;Color&quot;:[]},&quot;VisibleBorders&quot;:[2],&quot;Line&quot;:{&quot;Visible&quot;:true,&quot;Color&quot;:[{&quot;Source&quot;:0,&quot;Data&quot;:&quot;Gold 750&quot;},{&quot;Source&quot;:1,&quot;Data&quot;:&quot;0xFFBF00&quot;}],&quot;Width&quot;:1.5},&quot;Font&quot;:{&quot;Color&quot;:[{&quot;Source&quot;:2,&quot;Data&quot;:&quot;msoThemeColorText1&quot;}],&quot;Name&quot;:&quot;+mj-lt&quot;,&quot;Style&quot;:0,&quot;Size&quot;:18}},&quot;FootNote&quot;:{&quot;Font&quot;:{&quot;Color&quot;:[{&quot;Source&quot;:2,&quot;Data&quot;:&quot;msoThemeColorText1&quot;}],&quot;Name&quot;:&quot;+mn-lt&quot;,&quot;Style&quot;:0,&quot;Size&quot;:8},&quot;VerticalAnchor&quot;:4},&quot;Bullet&quot;:{&quot;List1Level&quot;:2,&quot;List2Level&quot;:3,&quot;List3Level&quot;:4,&quot;List4Level&quot;:5},&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Text1&quot;}],&quot;Width&quot;:0.75},&quot;ArcFill&quot;:[{&quot;Source&quot;:2,&quot;Data&quot;:&quot;msoThemeColorText1&quot;}],&quot;BallFill&quot;:[{&quot;Source&quot;:2,&quot;Data&quot;:&quot;msoThemeColorBackground1&quot;}]},&quot;Label&quot;:{&quot;Font&quot;:{&quot;Color&quot;:[{&quot;Source&quot;:2,&quot;Data&quot;:&quot;msoThemeColorAccent1&quot;}],&quot;Name&quot;:&quot;+mn-lt&quot;,&quot;Style&quot;:0,&quot;Size&quot;:8},&quot;Line&quot;:{&quot;Visible&quot;:true,&quot;Color&quot;:[{&quot;Source&quot;:2,&quot;Data&quot;:&quot;msoThemeColorAccent1&quot;}],&quot;Width&quot;:0.75}},&quot;Ghost&quot;:{&quot;Font&quot;:{&quot;Color&quot;:[{&quot;Source&quot;:0,&quot;Data&quot;:&quot;Neutral 500&quot;},{&quot;Source&quot;:1,&quot;Data&quot;:&quot;0xB1B6B9&quot;}],&quot;Name&quot;:&quot;+mn-lt&quot;,&quot;Style&quot;:0,&quot;Size&quot;:1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liver Wyman">
  <a:themeElements>
    <a:clrScheme name="Oliver Wyman">
      <a:dk1>
        <a:srgbClr val="000F47"/>
      </a:dk1>
      <a:lt1>
        <a:srgbClr val="FFFFFF"/>
      </a:lt1>
      <a:dk2>
        <a:srgbClr val="7B7974"/>
      </a:dk2>
      <a:lt2>
        <a:srgbClr val="CEECFF"/>
      </a:lt2>
      <a:accent1>
        <a:srgbClr val="000F47"/>
      </a:accent1>
      <a:accent2>
        <a:srgbClr val="82BAFF"/>
      </a:accent2>
      <a:accent3>
        <a:srgbClr val="CEECFF"/>
      </a:accent3>
      <a:accent4>
        <a:srgbClr val="7B7974"/>
      </a:accent4>
      <a:accent5>
        <a:srgbClr val="B9B6B1"/>
      </a:accent5>
      <a:accent6>
        <a:srgbClr val="EBE7E2"/>
      </a:accent6>
      <a:hlink>
        <a:srgbClr val="0B4BFF"/>
      </a:hlink>
      <a:folHlink>
        <a:srgbClr val="B9B6B1"/>
      </a:folHlink>
    </a:clrScheme>
    <a:fontScheme name="Oliver Wyman">
      <a:majorFont>
        <a:latin typeface="Marsh Serif"/>
        <a:ea typeface=""/>
        <a:cs typeface=""/>
        <a:font script="Jpan" typeface="Noto Serif JP"/>
        <a:font script="Hang" typeface="Noto Serif KR"/>
        <a:font script="Hans" typeface="Noto Serif SC"/>
        <a:font script="Hant" typeface="Noto Serif TC"/>
        <a:font script="Arab" typeface="Noto Naskh Arabic"/>
        <a:font script="Hebr" typeface="Times New Roman"/>
        <a:font script="Thai" typeface="Noto Serif Thai"/>
        <a:font script="Viet" typeface="Noto Serif"/>
      </a:majorFont>
      <a:minorFont>
        <a:latin typeface="Noto Sans"/>
        <a:ea typeface=""/>
        <a:cs typeface=""/>
        <a:font script="Jpan" typeface="Noto Sans JP"/>
        <a:font script="Hang" typeface="Noto Sans KR"/>
        <a:font script="Hans" typeface="Noto Sans SC"/>
        <a:font script="Hant" typeface="Noto Sans TC"/>
        <a:font script="Arab" typeface="Noto Sans Arabic"/>
        <a:font script="Hebr" typeface="Arial"/>
        <a:font script="Thai" typeface="Noto Sans Thai"/>
        <a:font script="Viet" typeface="Noto Sans"/>
      </a:minorFont>
    </a:fontScheme>
    <a:fmtScheme name="Oliver Wyman">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outerShdw blurRad="76200" dist="25400" dir="4200000" sx="101000" sy="101000" rotWithShape="0">
              <a:srgbClr val="000000">
                <a:alpha val="1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dk1"/>
              </a:solidFill>
              <a:prstDash val="solid"/>
              <a:miter lim="800000"/>
            </a14:hiddenLine>
          </a:ext>
        </a:extLst>
      </a:spPr>
      <a:bodyPr lIns="137160" tIns="137160" rIns="137160" bIns="137160" rtlCol="0" anchor="ctr"/>
      <a:lstStyle>
        <a:defPPr algn="ctr">
          <a:defRPr sz="1200" dirty="0">
            <a:solidFill>
              <a:schemeClr val="tx1"/>
            </a:solidFill>
          </a:defRPr>
        </a:defPPr>
      </a:lstStyle>
      <a:style>
        <a:lnRef idx="2">
          <a:schemeClr val="dk1"/>
        </a:lnRef>
        <a:fillRef idx="1">
          <a:schemeClr val="lt1"/>
        </a:fillRef>
        <a:effectRef idx="0">
          <a:schemeClr val="dk1"/>
        </a:effectRef>
        <a:fontRef idx="minor">
          <a:schemeClr val="dk1"/>
        </a:fontRef>
      </a:style>
    </a:spDef>
    <a:lnDef>
      <a:spPr>
        <a:ln>
          <a:solidFill>
            <a:schemeClr val="tx1"/>
          </a:solidFill>
        </a:ln>
      </a:spPr>
      <a:bodyPr/>
      <a:lstStyle/>
      <a:style>
        <a:lnRef idx="1">
          <a:schemeClr val="dk1"/>
        </a:lnRef>
        <a:fillRef idx="0">
          <a:schemeClr val="dk1"/>
        </a:fillRef>
        <a:effectRef idx="0">
          <a:schemeClr val="dk1"/>
        </a:effectRef>
        <a:fontRef idx="minor">
          <a:schemeClr val="tx1"/>
        </a:fontRef>
      </a:style>
    </a:lnDef>
    <a:txDef>
      <a:spPr>
        <a:noFill/>
      </a:spPr>
      <a:bodyPr wrap="none" lIns="0" tIns="0" rIns="0" bIns="0" rtlCol="0">
        <a:spAutoFit/>
      </a:bodyPr>
      <a:lstStyle>
        <a:defPPr algn="l">
          <a:defRPr sz="1200" kern="0" smtClean="0"/>
        </a:defPPr>
      </a:lstStyle>
    </a:txDef>
  </a:objectDefaults>
  <a:extraClrSchemeLst/>
  <a:custClrLst>
    <a:custClr name="Midnight Blue">
      <a:srgbClr val="000F47"/>
    </a:custClr>
    <a:custClr name="Blue 750">
      <a:srgbClr val="0B4BFF"/>
    </a:custClr>
    <a:custClr name="Blue 500">
      <a:srgbClr val="82BAFF"/>
    </a:custClr>
    <a:custClr name="Sky Blue">
      <a:srgbClr val="CEECFF"/>
    </a:custClr>
    <a:custClr name="Gold 1000">
      <a:srgbClr val="CB7E03"/>
    </a:custClr>
    <a:custClr name="Gold 750">
      <a:srgbClr val="FFBF00"/>
    </a:custClr>
    <a:custClr name="Gold 500">
      <a:srgbClr val="FFD98A"/>
    </a:custClr>
    <a:custClr name="Gold 250">
      <a:srgbClr val="FFF3DA"/>
    </a:custClr>
    <a:custClr>
      <a:srgbClr val="FFFFFF"/>
    </a:custClr>
    <a:custClr name="Warning Red">
      <a:srgbClr val="C53532"/>
    </a:custClr>
    <a:custClr name="Purple 1000">
      <a:srgbClr val="5E017F"/>
    </a:custClr>
    <a:custClr name="Purple 750">
      <a:srgbClr val="8F20DE"/>
    </a:custClr>
    <a:custClr name="Purple 500">
      <a:srgbClr val="DEB1FF"/>
    </a:custClr>
    <a:custClr name="Purple 250">
      <a:srgbClr val="F5E8FF"/>
    </a:custClr>
    <a:custClr name="Green 1000">
      <a:srgbClr val="2F7500"/>
    </a:custClr>
    <a:custClr name="Green 750">
      <a:srgbClr val="6ABF30"/>
    </a:custClr>
    <a:custClr name="Green 500">
      <a:srgbClr val="B0DC92"/>
    </a:custClr>
    <a:custClr name="Green 250">
      <a:srgbClr val="DFECD7"/>
    </a:custClr>
    <a:custClr>
      <a:srgbClr val="FFFFFF"/>
    </a:custClr>
    <a:custClr name="Neutral 250">
      <a:srgbClr val="F7F3EE"/>
    </a:custClr>
    <a:custClr name="Neutral 1000">
      <a:srgbClr val="3D3C37"/>
    </a:custClr>
    <a:custClr name="Neutral 750">
      <a:srgbClr val="7B7974"/>
    </a:custClr>
    <a:custClr name="Neutral 500">
      <a:srgbClr val="B9B6B1"/>
    </a:custClr>
    <a:custClr name="Neutral 300">
      <a:srgbClr val="EAE7E2"/>
    </a:custClr>
    <a:custClr>
      <a:srgbClr val="FFFFFF"/>
    </a:custClr>
    <a:custClr>
      <a:srgbClr val="FFFFFF"/>
    </a:custClr>
    <a:custClr>
      <a:srgbClr val="FFFFFF"/>
    </a:custClr>
    <a:custClr>
      <a:srgbClr val="FFFFFF"/>
    </a:custClr>
    <a:custClr>
      <a:srgbClr val="FFFFFF"/>
    </a:custClr>
    <a:custClr name="Neutral 400">
      <a:srgbClr val="D1CEC9"/>
    </a:custClr>
  </a:custClrLst>
  <a:extLst>
    <a:ext uri="{05A4C25C-085E-4340-85A3-A5531E510DB2}">
      <thm15:themeFamily xmlns:thm15="http://schemas.microsoft.com/office/thememl/2012/main" name="Presentation2" id="{E6E251A3-E572-574C-8026-FC54F2B04F71}" vid="{92B7D7B3-7287-4641-B76B-7C14DC895A62}"/>
    </a:ext>
  </a:extLst>
</a:theme>
</file>

<file path=ppt/theme/theme2.xml><?xml version="1.0" encoding="utf-8"?>
<a:theme xmlns:a="http://schemas.openxmlformats.org/drawingml/2006/main" name="Oliver Wyman">
  <a:themeElements>
    <a:clrScheme name="Oliver Wyman">
      <a:dk1>
        <a:srgbClr val="000F47"/>
      </a:dk1>
      <a:lt1>
        <a:srgbClr val="FFFFFF"/>
      </a:lt1>
      <a:dk2>
        <a:srgbClr val="7B7974"/>
      </a:dk2>
      <a:lt2>
        <a:srgbClr val="CEECFF"/>
      </a:lt2>
      <a:accent1>
        <a:srgbClr val="000F47"/>
      </a:accent1>
      <a:accent2>
        <a:srgbClr val="82BAFF"/>
      </a:accent2>
      <a:accent3>
        <a:srgbClr val="CEECFF"/>
      </a:accent3>
      <a:accent4>
        <a:srgbClr val="7B7974"/>
      </a:accent4>
      <a:accent5>
        <a:srgbClr val="B9B6B1"/>
      </a:accent5>
      <a:accent6>
        <a:srgbClr val="EBE7E2"/>
      </a:accent6>
      <a:hlink>
        <a:srgbClr val="0B4BFF"/>
      </a:hlink>
      <a:folHlink>
        <a:srgbClr val="B9B6B1"/>
      </a:folHlink>
    </a:clrScheme>
    <a:fontScheme name="Oliver Wyman">
      <a:majorFont>
        <a:latin typeface="Marsh Serif"/>
        <a:ea typeface=""/>
        <a:cs typeface=""/>
        <a:font script="Jpan" typeface="Noto Serif JP"/>
        <a:font script="Hang" typeface="Noto Serif KR"/>
        <a:font script="Hans" typeface="Noto Serif SC"/>
        <a:font script="Hant" typeface="Noto Serif TC"/>
        <a:font script="Arab" typeface="Noto Naskh Arabic"/>
        <a:font script="Hebr" typeface="Times New Roman"/>
        <a:font script="Thai" typeface="Noto Serif Thai"/>
        <a:font script="Viet" typeface="Noto Serif"/>
      </a:majorFont>
      <a:minorFont>
        <a:latin typeface="Noto Sans"/>
        <a:ea typeface=""/>
        <a:cs typeface=""/>
        <a:font script="Jpan" typeface="Noto Sans JP"/>
        <a:font script="Hang" typeface="Noto Sans KR"/>
        <a:font script="Hans" typeface="Noto Sans SC"/>
        <a:font script="Hant" typeface="Noto Sans TC"/>
        <a:font script="Arab" typeface="Noto Sans Arabic"/>
        <a:font script="Hebr" typeface="Arial"/>
        <a:font script="Thai" typeface="Noto Sans Thai"/>
        <a:font script="Viet" typeface="Noto Sans"/>
      </a:minorFont>
    </a:fontScheme>
    <a:fmtScheme name="Oliver Wyman">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outerShdw blurRad="76200" dist="25400" dir="4200000" sx="101000" sy="101000" rotWithShape="0">
              <a:srgbClr val="000000">
                <a:alpha val="1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dk1"/>
              </a:solidFill>
              <a:prstDash val="solid"/>
              <a:miter lim="800000"/>
            </a14:hiddenLine>
          </a:ext>
        </a:extLst>
      </a:spPr>
      <a:bodyPr lIns="137160" tIns="137160" rIns="137160" bIns="137160" rtlCol="0" anchor="ctr"/>
      <a:lstStyle>
        <a:defPPr algn="ctr">
          <a:defRPr sz="1200" dirty="0">
            <a:solidFill>
              <a:schemeClr val="tx1"/>
            </a:solidFill>
          </a:defRPr>
        </a:defPPr>
      </a:lstStyle>
      <a:style>
        <a:lnRef idx="2">
          <a:schemeClr val="dk1"/>
        </a:lnRef>
        <a:fillRef idx="1">
          <a:schemeClr val="lt1"/>
        </a:fillRef>
        <a:effectRef idx="0">
          <a:schemeClr val="dk1"/>
        </a:effectRef>
        <a:fontRef idx="minor">
          <a:schemeClr val="dk1"/>
        </a:fontRef>
      </a:style>
    </a:spDef>
    <a:lnDef>
      <a:spPr>
        <a:ln>
          <a:solidFill>
            <a:schemeClr val="tx1"/>
          </a:solidFill>
        </a:ln>
      </a:spPr>
      <a:bodyPr/>
      <a:lstStyle/>
      <a:style>
        <a:lnRef idx="1">
          <a:schemeClr val="dk1"/>
        </a:lnRef>
        <a:fillRef idx="0">
          <a:schemeClr val="dk1"/>
        </a:fillRef>
        <a:effectRef idx="0">
          <a:schemeClr val="dk1"/>
        </a:effectRef>
        <a:fontRef idx="minor">
          <a:schemeClr val="tx1"/>
        </a:fontRef>
      </a:style>
    </a:lnDef>
    <a:txDef>
      <a:spPr>
        <a:noFill/>
      </a:spPr>
      <a:bodyPr wrap="none" lIns="0" tIns="0" rIns="0" bIns="0" rtlCol="0">
        <a:spAutoFit/>
      </a:bodyPr>
      <a:lstStyle>
        <a:defPPr algn="l">
          <a:defRPr sz="1200" kern="0" smtClean="0"/>
        </a:defPPr>
      </a:lstStyle>
    </a:txDef>
  </a:objectDefaults>
  <a:extraClrSchemeLst/>
  <a:custClrLst>
    <a:custClr name="Midnight Blue">
      <a:srgbClr val="000F47"/>
    </a:custClr>
    <a:custClr name="Blue 750">
      <a:srgbClr val="0B4BFF"/>
    </a:custClr>
    <a:custClr name="Blue 500">
      <a:srgbClr val="82BAFF"/>
    </a:custClr>
    <a:custClr name="Sky Blue">
      <a:srgbClr val="CEECFF"/>
    </a:custClr>
    <a:custClr name="Gold 1000">
      <a:srgbClr val="CB7E03"/>
    </a:custClr>
    <a:custClr name="Gold 750">
      <a:srgbClr val="FFBF00"/>
    </a:custClr>
    <a:custClr name="Gold 500">
      <a:srgbClr val="FFD98A"/>
    </a:custClr>
    <a:custClr name="Gold 250">
      <a:srgbClr val="FFF3DA"/>
    </a:custClr>
    <a:custClr>
      <a:srgbClr val="FFFFFF"/>
    </a:custClr>
    <a:custClr name="Warning Red">
      <a:srgbClr val="C53532"/>
    </a:custClr>
    <a:custClr name="Purple 1000">
      <a:srgbClr val="5E017F"/>
    </a:custClr>
    <a:custClr name="Purple 750">
      <a:srgbClr val="8F20DE"/>
    </a:custClr>
    <a:custClr name="Purple 500">
      <a:srgbClr val="DEB1FF"/>
    </a:custClr>
    <a:custClr name="Purple 250">
      <a:srgbClr val="F5E8FF"/>
    </a:custClr>
    <a:custClr name="Green 1000">
      <a:srgbClr val="2F7500"/>
    </a:custClr>
    <a:custClr name="Green 750">
      <a:srgbClr val="6ABF30"/>
    </a:custClr>
    <a:custClr name="Green 500">
      <a:srgbClr val="B0DC92"/>
    </a:custClr>
    <a:custClr name="Green 250">
      <a:srgbClr val="DFECD7"/>
    </a:custClr>
    <a:custClr>
      <a:srgbClr val="FFFFFF"/>
    </a:custClr>
    <a:custClr name="Neutral 250">
      <a:srgbClr val="F7F3EE"/>
    </a:custClr>
    <a:custClr name="Neutral 1000">
      <a:srgbClr val="3D3C37"/>
    </a:custClr>
    <a:custClr name="Neutral 750">
      <a:srgbClr val="7B7974"/>
    </a:custClr>
    <a:custClr name="Neutral 500">
      <a:srgbClr val="B9B6B1"/>
    </a:custClr>
    <a:custClr name="Neutral 300">
      <a:srgbClr val="EAE7E2"/>
    </a:custClr>
    <a:custClr>
      <a:srgbClr val="FFFFFF"/>
    </a:custClr>
    <a:custClr>
      <a:srgbClr val="FFFFFF"/>
    </a:custClr>
    <a:custClr>
      <a:srgbClr val="FFFFFF"/>
    </a:custClr>
    <a:custClr>
      <a:srgbClr val="FFFFFF"/>
    </a:custClr>
    <a:custClr>
      <a:srgbClr val="FFFFFF"/>
    </a:custClr>
    <a:custClr name="Neutral 400">
      <a:srgbClr val="D1CEC9"/>
    </a:custClr>
  </a:custClrLst>
  <a:extLst>
    <a:ext uri="{05A4C25C-085E-4340-85A3-A5531E510DB2}">
      <thm15:themeFamily xmlns:thm15="http://schemas.microsoft.com/office/thememl/2012/main" name="Oliver Wyman" id="{FAEB5AE3-80BD-4306-BA23-31AF59B546B5}" vid="{105C08B7-7731-413D-A33F-DB90493376DE}"/>
    </a:ext>
  </a:extLst>
</a:theme>
</file>

<file path=ppt/theme/theme3.xml><?xml version="1.0" encoding="utf-8"?>
<a:theme xmlns:a="http://schemas.openxmlformats.org/drawingml/2006/main" name="Oliver Wyman">
  <a:themeElements>
    <a:clrScheme name="Oliver Wyman">
      <a:dk1>
        <a:srgbClr val="000F47"/>
      </a:dk1>
      <a:lt1>
        <a:srgbClr val="FFFFFF"/>
      </a:lt1>
      <a:dk2>
        <a:srgbClr val="7B7974"/>
      </a:dk2>
      <a:lt2>
        <a:srgbClr val="CEECFF"/>
      </a:lt2>
      <a:accent1>
        <a:srgbClr val="000F47"/>
      </a:accent1>
      <a:accent2>
        <a:srgbClr val="82BAFF"/>
      </a:accent2>
      <a:accent3>
        <a:srgbClr val="CEECFF"/>
      </a:accent3>
      <a:accent4>
        <a:srgbClr val="7B7974"/>
      </a:accent4>
      <a:accent5>
        <a:srgbClr val="B9B6B1"/>
      </a:accent5>
      <a:accent6>
        <a:srgbClr val="EBE7E2"/>
      </a:accent6>
      <a:hlink>
        <a:srgbClr val="0B4BFF"/>
      </a:hlink>
      <a:folHlink>
        <a:srgbClr val="B9B6B1"/>
      </a:folHlink>
    </a:clrScheme>
    <a:fontScheme name="Oliver Wyman">
      <a:majorFont>
        <a:latin typeface="Marsh Serif"/>
        <a:ea typeface=""/>
        <a:cs typeface=""/>
        <a:font script="Jpan" typeface="Noto Serif JP"/>
        <a:font script="Hang" typeface="Noto Serif KR"/>
        <a:font script="Hans" typeface="Noto Serif SC"/>
        <a:font script="Hant" typeface="Noto Serif TC"/>
        <a:font script="Arab" typeface="Noto Naskh Arabic"/>
        <a:font script="Hebr" typeface="Times New Roman"/>
        <a:font script="Thai" typeface="Noto Serif Thai"/>
        <a:font script="Viet" typeface="Noto Serif"/>
      </a:majorFont>
      <a:minorFont>
        <a:latin typeface="Noto Sans"/>
        <a:ea typeface=""/>
        <a:cs typeface=""/>
        <a:font script="Jpan" typeface="Noto Sans JP"/>
        <a:font script="Hang" typeface="Noto Sans KR"/>
        <a:font script="Hans" typeface="Noto Sans SC"/>
        <a:font script="Hant" typeface="Noto Sans TC"/>
        <a:font script="Arab" typeface="Noto Sans Arabic"/>
        <a:font script="Hebr" typeface="Arial"/>
        <a:font script="Thai" typeface="Noto Sans Thai"/>
        <a:font script="Viet" typeface="Noto Sans"/>
      </a:minorFont>
    </a:fontScheme>
    <a:fmtScheme name="Oliver Wyman">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outerShdw blurRad="76200" dist="25400" dir="4200000" sx="101000" sy="101000" rotWithShape="0">
              <a:srgbClr val="000000">
                <a:alpha val="1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dk1"/>
              </a:solidFill>
              <a:prstDash val="solid"/>
              <a:miter lim="800000"/>
            </a14:hiddenLine>
          </a:ext>
        </a:extLst>
      </a:spPr>
      <a:bodyPr lIns="137160" tIns="137160" rIns="137160" bIns="137160" rtlCol="0" anchor="ctr"/>
      <a:lstStyle>
        <a:defPPr algn="ctr">
          <a:defRPr sz="1200" dirty="0">
            <a:solidFill>
              <a:schemeClr val="tx1"/>
            </a:solidFill>
          </a:defRPr>
        </a:defPPr>
      </a:lstStyle>
      <a:style>
        <a:lnRef idx="2">
          <a:schemeClr val="dk1"/>
        </a:lnRef>
        <a:fillRef idx="1">
          <a:schemeClr val="lt1"/>
        </a:fillRef>
        <a:effectRef idx="0">
          <a:schemeClr val="dk1"/>
        </a:effectRef>
        <a:fontRef idx="minor">
          <a:schemeClr val="dk1"/>
        </a:fontRef>
      </a:style>
    </a:spDef>
    <a:lnDef>
      <a:spPr>
        <a:ln>
          <a:solidFill>
            <a:schemeClr val="tx1"/>
          </a:solidFill>
        </a:ln>
      </a:spPr>
      <a:bodyPr/>
      <a:lstStyle/>
      <a:style>
        <a:lnRef idx="1">
          <a:schemeClr val="dk1"/>
        </a:lnRef>
        <a:fillRef idx="0">
          <a:schemeClr val="dk1"/>
        </a:fillRef>
        <a:effectRef idx="0">
          <a:schemeClr val="dk1"/>
        </a:effectRef>
        <a:fontRef idx="minor">
          <a:schemeClr val="tx1"/>
        </a:fontRef>
      </a:style>
    </a:lnDef>
    <a:txDef>
      <a:spPr>
        <a:noFill/>
      </a:spPr>
      <a:bodyPr wrap="none" lIns="0" tIns="0" rIns="0" bIns="0" rtlCol="0">
        <a:spAutoFit/>
      </a:bodyPr>
      <a:lstStyle>
        <a:defPPr algn="l">
          <a:defRPr sz="1200" kern="0" smtClean="0"/>
        </a:defPPr>
      </a:lstStyle>
    </a:txDef>
  </a:objectDefaults>
  <a:extraClrSchemeLst/>
  <a:custClrLst>
    <a:custClr name="Midnight Blue">
      <a:srgbClr val="000F47"/>
    </a:custClr>
    <a:custClr name="Blue 750">
      <a:srgbClr val="0B4BFF"/>
    </a:custClr>
    <a:custClr name="Blue 500">
      <a:srgbClr val="82BAFF"/>
    </a:custClr>
    <a:custClr name="Sky Blue">
      <a:srgbClr val="CEECFF"/>
    </a:custClr>
    <a:custClr name="Gold 1000">
      <a:srgbClr val="CB7E03"/>
    </a:custClr>
    <a:custClr name="Gold 750">
      <a:srgbClr val="FFBF00"/>
    </a:custClr>
    <a:custClr name="Gold 500">
      <a:srgbClr val="FFD98A"/>
    </a:custClr>
    <a:custClr name="Gold 250">
      <a:srgbClr val="FFF3DA"/>
    </a:custClr>
    <a:custClr>
      <a:srgbClr val="FFFFFF"/>
    </a:custClr>
    <a:custClr name="Warning Red">
      <a:srgbClr val="C53532"/>
    </a:custClr>
    <a:custClr name="Purple 1000">
      <a:srgbClr val="5E017F"/>
    </a:custClr>
    <a:custClr name="Purple 750">
      <a:srgbClr val="8F20DE"/>
    </a:custClr>
    <a:custClr name="Purple 500">
      <a:srgbClr val="DEB1FF"/>
    </a:custClr>
    <a:custClr name="Purple 250">
      <a:srgbClr val="F5E8FF"/>
    </a:custClr>
    <a:custClr name="Green 1000">
      <a:srgbClr val="2F7500"/>
    </a:custClr>
    <a:custClr name="Green 750">
      <a:srgbClr val="6ABF30"/>
    </a:custClr>
    <a:custClr name="Green 500">
      <a:srgbClr val="B0DC92"/>
    </a:custClr>
    <a:custClr name="Green 250">
      <a:srgbClr val="DFECD7"/>
    </a:custClr>
    <a:custClr>
      <a:srgbClr val="FFFFFF"/>
    </a:custClr>
    <a:custClr name="Neutral 250">
      <a:srgbClr val="F7F3EE"/>
    </a:custClr>
    <a:custClr name="Neutral 1000">
      <a:srgbClr val="3D3C37"/>
    </a:custClr>
    <a:custClr name="Neutral 750">
      <a:srgbClr val="7B7974"/>
    </a:custClr>
    <a:custClr name="Neutral 500">
      <a:srgbClr val="B9B6B1"/>
    </a:custClr>
    <a:custClr name="Neutral 300">
      <a:srgbClr val="EAE7E2"/>
    </a:custClr>
    <a:custClr>
      <a:srgbClr val="FFFFFF"/>
    </a:custClr>
    <a:custClr>
      <a:srgbClr val="FFFFFF"/>
    </a:custClr>
    <a:custClr>
      <a:srgbClr val="FFFFFF"/>
    </a:custClr>
    <a:custClr>
      <a:srgbClr val="FFFFFF"/>
    </a:custClr>
    <a:custClr>
      <a:srgbClr val="FFFFFF"/>
    </a:custClr>
    <a:custClr name="Neutral 400">
      <a:srgbClr val="D1CEC9"/>
    </a:custClr>
  </a:custClrLst>
  <a:extLst>
    <a:ext uri="{05A4C25C-085E-4340-85A3-A5531E510DB2}">
      <thm15:themeFamily xmlns:thm15="http://schemas.microsoft.com/office/thememl/2012/main" name="Oliver Wyman" id="{FAEB5AE3-80BD-4306-BA23-31AF59B546B5}" vid="{105C08B7-7731-413D-A33F-DB90493376DE}"/>
    </a:ext>
  </a:extLst>
</a:theme>
</file>

<file path=docProps/app.xml><?xml version="1.0" encoding="utf-8"?>
<Properties xmlns="http://schemas.openxmlformats.org/officeDocument/2006/extended-properties" xmlns:vt="http://schemas.openxmlformats.org/officeDocument/2006/docPropsVTypes">
  <Template>Oliver Wyman</Template>
  <TotalTime>195</TotalTime>
  <Words>0</Words>
  <Application>Microsoft Macintosh PowerPoint</Application>
  <PresentationFormat>Widescreen</PresentationFormat>
  <Paragraphs>0</Paragraphs>
  <Slides>7</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2" baseType="lpstr">
      <vt:lpstr>Arial</vt:lpstr>
      <vt:lpstr>Noto Sans</vt:lpstr>
      <vt:lpstr>Marsh Serif</vt:lpstr>
      <vt:lpstr>Oliver Wyman</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CS PresentationGPT</dc:creator>
  <cp:keywords/>
  <cp:lastModifiedBy>CS PresentationGPT</cp:lastModifiedBy>
  <cp:revision>1</cp:revision>
  <dcterms:created xsi:type="dcterms:W3CDTF">2026-05-06T16:17:50Z</dcterms:created>
  <dcterms:modified xsi:type="dcterms:W3CDTF">2026-05-06T19:33:03Z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Version">
    <vt:lpwstr>2026/03/20</vt:lpwstr>
  </property>
  <property fmtid="{D5CDD505-2E9C-101B-9397-08002B2CF9AE}" pid="3" name="PackageID">
    <vt:lpwstr>OfficeOW@017</vt:lpwstr>
  </property>
  <property fmtid="{D5CDD505-2E9C-101B-9397-08002B2CF9AE}" pid="4" name="MSIP_Label_38f1469a-2c2a-4aee-b92b-090d4c5468ff_Enabled">
    <vt:lpwstr>true</vt:lpwstr>
  </property>
  <property fmtid="{D5CDD505-2E9C-101B-9397-08002B2CF9AE}" pid="5" name="MSIP_Label_38f1469a-2c2a-4aee-b92b-090d4c5468ff_SetDate">
    <vt:lpwstr>2026-05-06T16:17:50Z</vt:lpwstr>
  </property>
  <property fmtid="{D5CDD505-2E9C-101B-9397-08002B2CF9AE}" pid="6" name="MSIP_Label_38f1469a-2c2a-4aee-b92b-090d4c5468ff_Method">
    <vt:lpwstr>Standard</vt:lpwstr>
  </property>
  <property fmtid="{D5CDD505-2E9C-101B-9397-08002B2CF9AE}" pid="7" name="MSIP_Label_38f1469a-2c2a-4aee-b92b-090d4c5468ff_Name">
    <vt:lpwstr>Confidential - Unmarked</vt:lpwstr>
  </property>
  <property fmtid="{D5CDD505-2E9C-101B-9397-08002B2CF9AE}" pid="8" name="MSIP_Label_38f1469a-2c2a-4aee-b92b-090d4c5468ff_SiteId">
    <vt:lpwstr>2a6e6092-73e4-4752-b1a5-477a17f5056d</vt:lpwstr>
  </property>
  <property fmtid="{D5CDD505-2E9C-101B-9397-08002B2CF9AE}" pid="9" name="MSIP_Label_38f1469a-2c2a-4aee-b92b-090d4c5468ff_ActionId">
    <vt:lpwstr>3421ca4e-60a1-4065-98da-5ec5f2f53d80</vt:lpwstr>
  </property>
  <property fmtid="{D5CDD505-2E9C-101B-9397-08002B2CF9AE}" pid="10" name="MSIP_Label_38f1469a-2c2a-4aee-b92b-090d4c5468ff_ContentBits">
    <vt:lpwstr>0</vt:lpwstr>
  </property>
  <property fmtid="{D5CDD505-2E9C-101B-9397-08002B2CF9AE}" pid="11" name="MSIP_Label_38f1469a-2c2a-4aee-b92b-090d4c5468ff_Tag">
    <vt:lpwstr>50, 3, 0, 1</vt:lpwstr>
  </property>
</Properties>
</file>